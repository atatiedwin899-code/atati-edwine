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sldIdLst>
    <p:sldId id="257" r:id="rId2"/>
    <p:sldId id="259" r:id="rId3"/>
    <p:sldId id="277" r:id="rId4"/>
    <p:sldId id="263" r:id="rId5"/>
    <p:sldId id="264" r:id="rId6"/>
    <p:sldId id="265" r:id="rId7"/>
    <p:sldId id="261" r:id="rId8"/>
    <p:sldId id="262" r:id="rId9"/>
    <p:sldId id="266" r:id="rId10"/>
    <p:sldId id="267" r:id="rId11"/>
    <p:sldId id="268" r:id="rId12"/>
    <p:sldId id="269" r:id="rId13"/>
    <p:sldId id="270" r:id="rId14"/>
    <p:sldId id="271" r:id="rId15"/>
    <p:sldId id="272" r:id="rId16"/>
    <p:sldId id="273" r:id="rId17"/>
    <p:sldId id="274" r:id="rId18"/>
    <p:sldId id="275" r:id="rId19"/>
    <p:sldId id="27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10773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82915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15594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3325408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81707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69360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01294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096744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10/28/2025</a:t>
            </a:fld>
            <a:endParaRPr lang="en-US" dirty="0"/>
          </a:p>
        </p:txBody>
      </p:sp>
    </p:spTree>
    <p:extLst>
      <p:ext uri="{BB962C8B-B14F-4D97-AF65-F5344CB8AC3E}">
        <p14:creationId xmlns:p14="http://schemas.microsoft.com/office/powerpoint/2010/main" val="1895603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55109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65787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460514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766412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84932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6253932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4710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10/28/2025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93048050"/>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docs.oracle.com/"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B034CA6-9767-28E8-696E-9AC668FDF2F7}"/>
              </a:ext>
            </a:extLst>
          </p:cNvPr>
          <p:cNvGrpSpPr/>
          <p:nvPr/>
        </p:nvGrpSpPr>
        <p:grpSpPr>
          <a:xfrm>
            <a:off x="2709703" y="475201"/>
            <a:ext cx="1976247" cy="1978060"/>
            <a:chOff x="4790102" y="2116535"/>
            <a:chExt cx="2610730" cy="2613124"/>
          </a:xfrm>
        </p:grpSpPr>
        <p:sp>
          <p:nvSpPr>
            <p:cNvPr id="5" name="Freeform: Shape 4">
              <a:extLst>
                <a:ext uri="{FF2B5EF4-FFF2-40B4-BE49-F238E27FC236}">
                  <a16:creationId xmlns:a16="http://schemas.microsoft.com/office/drawing/2014/main" id="{630DB545-9ED9-16D9-A772-DDE09A51903B}"/>
                </a:ext>
              </a:extLst>
            </p:cNvPr>
            <p:cNvSpPr/>
            <p:nvPr/>
          </p:nvSpPr>
          <p:spPr>
            <a:xfrm>
              <a:off x="4790102" y="2116535"/>
              <a:ext cx="2610730" cy="2613124"/>
            </a:xfrm>
            <a:custGeom>
              <a:avLst/>
              <a:gdLst>
                <a:gd name="connsiteX0" fmla="*/ 83174 w 2610730"/>
                <a:gd name="connsiteY0" fmla="*/ 1015475 h 2613124"/>
                <a:gd name="connsiteX1" fmla="*/ 172804 w 2610730"/>
                <a:gd name="connsiteY1" fmla="*/ 1026524 h 2613124"/>
                <a:gd name="connsiteX2" fmla="*/ 230144 w 2610730"/>
                <a:gd name="connsiteY2" fmla="*/ 984329 h 2613124"/>
                <a:gd name="connsiteX3" fmla="*/ 204141 w 2610730"/>
                <a:gd name="connsiteY3" fmla="*/ 922226 h 2613124"/>
                <a:gd name="connsiteX4" fmla="*/ 119083 w 2610730"/>
                <a:gd name="connsiteY4" fmla="*/ 879839 h 2613124"/>
                <a:gd name="connsiteX5" fmla="*/ 96985 w 2610730"/>
                <a:gd name="connsiteY5" fmla="*/ 809735 h 2613124"/>
                <a:gd name="connsiteX6" fmla="*/ 161374 w 2610730"/>
                <a:gd name="connsiteY6" fmla="*/ 782303 h 2613124"/>
                <a:gd name="connsiteX7" fmla="*/ 251766 w 2610730"/>
                <a:gd name="connsiteY7" fmla="*/ 811545 h 2613124"/>
                <a:gd name="connsiteX8" fmla="*/ 309488 w 2610730"/>
                <a:gd name="connsiteY8" fmla="*/ 787447 h 2613124"/>
                <a:gd name="connsiteX9" fmla="*/ 299201 w 2610730"/>
                <a:gd name="connsiteY9" fmla="*/ 721629 h 2613124"/>
                <a:gd name="connsiteX10" fmla="*/ 227477 w 2610730"/>
                <a:gd name="connsiteY10" fmla="*/ 666670 h 2613124"/>
                <a:gd name="connsiteX11" fmla="*/ 212237 w 2610730"/>
                <a:gd name="connsiteY11" fmla="*/ 591041 h 2613124"/>
                <a:gd name="connsiteX12" fmla="*/ 288152 w 2610730"/>
                <a:gd name="connsiteY12" fmla="*/ 578183 h 2613124"/>
                <a:gd name="connsiteX13" fmla="*/ 354541 w 2610730"/>
                <a:gd name="connsiteY13" fmla="*/ 615330 h 2613124"/>
                <a:gd name="connsiteX14" fmla="*/ 435218 w 2610730"/>
                <a:gd name="connsiteY14" fmla="*/ 598757 h 2613124"/>
                <a:gd name="connsiteX15" fmla="*/ 434456 w 2610730"/>
                <a:gd name="connsiteY15" fmla="*/ 520556 h 2613124"/>
                <a:gd name="connsiteX16" fmla="*/ 375496 w 2610730"/>
                <a:gd name="connsiteY16" fmla="*/ 452072 h 2613124"/>
                <a:gd name="connsiteX17" fmla="*/ 382449 w 2610730"/>
                <a:gd name="connsiteY17" fmla="*/ 382063 h 2613124"/>
                <a:gd name="connsiteX18" fmla="*/ 448172 w 2610730"/>
                <a:gd name="connsiteY18" fmla="*/ 376538 h 2613124"/>
                <a:gd name="connsiteX19" fmla="*/ 524181 w 2610730"/>
                <a:gd name="connsiteY19" fmla="*/ 441404 h 2613124"/>
                <a:gd name="connsiteX20" fmla="*/ 591047 w 2610730"/>
                <a:gd name="connsiteY20" fmla="*/ 440832 h 2613124"/>
                <a:gd name="connsiteX21" fmla="*/ 607239 w 2610730"/>
                <a:gd name="connsiteY21" fmla="*/ 371966 h 2613124"/>
                <a:gd name="connsiteX22" fmla="*/ 558662 w 2610730"/>
                <a:gd name="connsiteY22" fmla="*/ 284813 h 2613124"/>
                <a:gd name="connsiteX23" fmla="*/ 578855 w 2610730"/>
                <a:gd name="connsiteY23" fmla="*/ 221471 h 2613124"/>
                <a:gd name="connsiteX24" fmla="*/ 644863 w 2610730"/>
                <a:gd name="connsiteY24" fmla="*/ 227472 h 2613124"/>
                <a:gd name="connsiteX25" fmla="*/ 710014 w 2610730"/>
                <a:gd name="connsiteY25" fmla="*/ 309292 h 2613124"/>
                <a:gd name="connsiteX26" fmla="*/ 772498 w 2610730"/>
                <a:gd name="connsiteY26" fmla="*/ 318341 h 2613124"/>
                <a:gd name="connsiteX27" fmla="*/ 804216 w 2610730"/>
                <a:gd name="connsiteY27" fmla="*/ 259381 h 2613124"/>
                <a:gd name="connsiteX28" fmla="*/ 773831 w 2610730"/>
                <a:gd name="connsiteY28" fmla="*/ 164417 h 2613124"/>
                <a:gd name="connsiteX29" fmla="*/ 808502 w 2610730"/>
                <a:gd name="connsiteY29" fmla="*/ 99170 h 2613124"/>
                <a:gd name="connsiteX30" fmla="*/ 872796 w 2610730"/>
                <a:gd name="connsiteY30" fmla="*/ 127174 h 2613124"/>
                <a:gd name="connsiteX31" fmla="*/ 914039 w 2610730"/>
                <a:gd name="connsiteY31" fmla="*/ 207470 h 2613124"/>
                <a:gd name="connsiteX32" fmla="*/ 971094 w 2610730"/>
                <a:gd name="connsiteY32" fmla="*/ 234902 h 2613124"/>
                <a:gd name="connsiteX33" fmla="*/ 1012337 w 2610730"/>
                <a:gd name="connsiteY33" fmla="*/ 181466 h 2613124"/>
                <a:gd name="connsiteX34" fmla="*/ 1000336 w 2610730"/>
                <a:gd name="connsiteY34" fmla="*/ 77549 h 2613124"/>
                <a:gd name="connsiteX35" fmla="*/ 1043675 w 2610730"/>
                <a:gd name="connsiteY35" fmla="*/ 27638 h 2613124"/>
                <a:gd name="connsiteX36" fmla="*/ 1102444 w 2610730"/>
                <a:gd name="connsiteY36" fmla="*/ 58403 h 2613124"/>
                <a:gd name="connsiteX37" fmla="*/ 1128257 w 2610730"/>
                <a:gd name="connsiteY37" fmla="*/ 149843 h 2613124"/>
                <a:gd name="connsiteX38" fmla="*/ 1191217 w 2610730"/>
                <a:gd name="connsiteY38" fmla="*/ 190420 h 2613124"/>
                <a:gd name="connsiteX39" fmla="*/ 1245700 w 2610730"/>
                <a:gd name="connsiteY39" fmla="*/ 138509 h 2613124"/>
                <a:gd name="connsiteX40" fmla="*/ 1252748 w 2610730"/>
                <a:gd name="connsiteY40" fmla="*/ 43735 h 2613124"/>
                <a:gd name="connsiteX41" fmla="*/ 1307708 w 2610730"/>
                <a:gd name="connsiteY41" fmla="*/ 15 h 2613124"/>
                <a:gd name="connsiteX42" fmla="*/ 1356761 w 2610730"/>
                <a:gd name="connsiteY42" fmla="*/ 44973 h 2613124"/>
                <a:gd name="connsiteX43" fmla="*/ 1364477 w 2610730"/>
                <a:gd name="connsiteY43" fmla="*/ 144509 h 2613124"/>
                <a:gd name="connsiteX44" fmla="*/ 1410101 w 2610730"/>
                <a:gd name="connsiteY44" fmla="*/ 188991 h 2613124"/>
                <a:gd name="connsiteX45" fmla="*/ 1458203 w 2610730"/>
                <a:gd name="connsiteY45" fmla="*/ 153749 h 2613124"/>
                <a:gd name="connsiteX46" fmla="*/ 1483063 w 2610730"/>
                <a:gd name="connsiteY46" fmla="*/ 62023 h 2613124"/>
                <a:gd name="connsiteX47" fmla="*/ 1545166 w 2610730"/>
                <a:gd name="connsiteY47" fmla="*/ 23447 h 2613124"/>
                <a:gd name="connsiteX48" fmla="*/ 1586981 w 2610730"/>
                <a:gd name="connsiteY48" fmla="*/ 83835 h 2613124"/>
                <a:gd name="connsiteX49" fmla="*/ 1577075 w 2610730"/>
                <a:gd name="connsiteY49" fmla="*/ 173561 h 2613124"/>
                <a:gd name="connsiteX50" fmla="*/ 1616603 w 2610730"/>
                <a:gd name="connsiteY50" fmla="*/ 227567 h 2613124"/>
                <a:gd name="connsiteX51" fmla="*/ 1688708 w 2610730"/>
                <a:gd name="connsiteY51" fmla="*/ 208613 h 2613124"/>
                <a:gd name="connsiteX52" fmla="*/ 1726808 w 2610730"/>
                <a:gd name="connsiteY52" fmla="*/ 132032 h 2613124"/>
                <a:gd name="connsiteX53" fmla="*/ 1801103 w 2610730"/>
                <a:gd name="connsiteY53" fmla="*/ 98789 h 2613124"/>
                <a:gd name="connsiteX54" fmla="*/ 1827963 w 2610730"/>
                <a:gd name="connsiteY54" fmla="*/ 171465 h 2613124"/>
                <a:gd name="connsiteX55" fmla="*/ 1801484 w 2610730"/>
                <a:gd name="connsiteY55" fmla="*/ 252809 h 2613124"/>
                <a:gd name="connsiteX56" fmla="*/ 1830059 w 2610730"/>
                <a:gd name="connsiteY56" fmla="*/ 313959 h 2613124"/>
                <a:gd name="connsiteX57" fmla="*/ 1896448 w 2610730"/>
                <a:gd name="connsiteY57" fmla="*/ 302624 h 2613124"/>
                <a:gd name="connsiteX58" fmla="*/ 1952074 w 2610730"/>
                <a:gd name="connsiteY58" fmla="*/ 231377 h 2613124"/>
                <a:gd name="connsiteX59" fmla="*/ 2023607 w 2610730"/>
                <a:gd name="connsiteY59" fmla="*/ 216614 h 2613124"/>
                <a:gd name="connsiteX60" fmla="*/ 2039894 w 2610730"/>
                <a:gd name="connsiteY60" fmla="*/ 291956 h 2613124"/>
                <a:gd name="connsiteX61" fmla="*/ 2005033 w 2610730"/>
                <a:gd name="connsiteY61" fmla="*/ 354155 h 2613124"/>
                <a:gd name="connsiteX62" fmla="*/ 2013605 w 2610730"/>
                <a:gd name="connsiteY62" fmla="*/ 436260 h 2613124"/>
                <a:gd name="connsiteX63" fmla="*/ 2099140 w 2610730"/>
                <a:gd name="connsiteY63" fmla="*/ 429593 h 2613124"/>
                <a:gd name="connsiteX64" fmla="*/ 2149432 w 2610730"/>
                <a:gd name="connsiteY64" fmla="*/ 385968 h 2613124"/>
                <a:gd name="connsiteX65" fmla="*/ 2229823 w 2610730"/>
                <a:gd name="connsiteY65" fmla="*/ 384539 h 2613124"/>
                <a:gd name="connsiteX66" fmla="*/ 2225537 w 2610730"/>
                <a:gd name="connsiteY66" fmla="*/ 461978 h 2613124"/>
                <a:gd name="connsiteX67" fmla="*/ 2172768 w 2610730"/>
                <a:gd name="connsiteY67" fmla="*/ 523223 h 2613124"/>
                <a:gd name="connsiteX68" fmla="*/ 2172292 w 2610730"/>
                <a:gd name="connsiteY68" fmla="*/ 593613 h 2613124"/>
                <a:gd name="connsiteX69" fmla="*/ 2241824 w 2610730"/>
                <a:gd name="connsiteY69" fmla="*/ 604948 h 2613124"/>
                <a:gd name="connsiteX70" fmla="*/ 2311833 w 2610730"/>
                <a:gd name="connsiteY70" fmla="*/ 564657 h 2613124"/>
                <a:gd name="connsiteX71" fmla="*/ 2387938 w 2610730"/>
                <a:gd name="connsiteY71" fmla="*/ 577706 h 2613124"/>
                <a:gd name="connsiteX72" fmla="*/ 2372698 w 2610730"/>
                <a:gd name="connsiteY72" fmla="*/ 653525 h 2613124"/>
                <a:gd name="connsiteX73" fmla="*/ 2312786 w 2610730"/>
                <a:gd name="connsiteY73" fmla="*/ 700388 h 2613124"/>
                <a:gd name="connsiteX74" fmla="*/ 2294974 w 2610730"/>
                <a:gd name="connsiteY74" fmla="*/ 776969 h 2613124"/>
                <a:gd name="connsiteX75" fmla="*/ 2365840 w 2610730"/>
                <a:gd name="connsiteY75" fmla="*/ 799639 h 2613124"/>
                <a:gd name="connsiteX76" fmla="*/ 2437849 w 2610730"/>
                <a:gd name="connsiteY76" fmla="*/ 775350 h 2613124"/>
                <a:gd name="connsiteX77" fmla="*/ 2509858 w 2610730"/>
                <a:gd name="connsiteY77" fmla="*/ 803449 h 2613124"/>
                <a:gd name="connsiteX78" fmla="*/ 2479759 w 2610730"/>
                <a:gd name="connsiteY78" fmla="*/ 874410 h 2613124"/>
                <a:gd name="connsiteX79" fmla="*/ 2407560 w 2610730"/>
                <a:gd name="connsiteY79" fmla="*/ 910605 h 2613124"/>
                <a:gd name="connsiteX80" fmla="*/ 2376127 w 2610730"/>
                <a:gd name="connsiteY80" fmla="*/ 969660 h 2613124"/>
                <a:gd name="connsiteX81" fmla="*/ 2438611 w 2610730"/>
                <a:gd name="connsiteY81" fmla="*/ 1010522 h 2613124"/>
                <a:gd name="connsiteX82" fmla="*/ 2533004 w 2610730"/>
                <a:gd name="connsiteY82" fmla="*/ 998902 h 2613124"/>
                <a:gd name="connsiteX83" fmla="*/ 2582915 w 2610730"/>
                <a:gd name="connsiteY83" fmla="*/ 1042241 h 2613124"/>
                <a:gd name="connsiteX84" fmla="*/ 2553197 w 2610730"/>
                <a:gd name="connsiteY84" fmla="*/ 1101391 h 2613124"/>
                <a:gd name="connsiteX85" fmla="*/ 2452803 w 2610730"/>
                <a:gd name="connsiteY85" fmla="*/ 1130728 h 2613124"/>
                <a:gd name="connsiteX86" fmla="*/ 2421371 w 2610730"/>
                <a:gd name="connsiteY86" fmla="*/ 1189973 h 2613124"/>
                <a:gd name="connsiteX87" fmla="*/ 2465376 w 2610730"/>
                <a:gd name="connsiteY87" fmla="*/ 1246361 h 2613124"/>
                <a:gd name="connsiteX88" fmla="*/ 2569580 w 2610730"/>
                <a:gd name="connsiteY88" fmla="*/ 1255029 h 2613124"/>
                <a:gd name="connsiteX89" fmla="*/ 2610728 w 2610730"/>
                <a:gd name="connsiteY89" fmla="*/ 1306940 h 2613124"/>
                <a:gd name="connsiteX90" fmla="*/ 2569389 w 2610730"/>
                <a:gd name="connsiteY90" fmla="*/ 1358852 h 2613124"/>
                <a:gd name="connsiteX91" fmla="*/ 2465186 w 2610730"/>
                <a:gd name="connsiteY91" fmla="*/ 1367519 h 2613124"/>
                <a:gd name="connsiteX92" fmla="*/ 2422228 w 2610730"/>
                <a:gd name="connsiteY92" fmla="*/ 1414097 h 2613124"/>
                <a:gd name="connsiteX93" fmla="*/ 2455375 w 2610730"/>
                <a:gd name="connsiteY93" fmla="*/ 1468103 h 2613124"/>
                <a:gd name="connsiteX94" fmla="*/ 2556054 w 2610730"/>
                <a:gd name="connsiteY94" fmla="*/ 1496297 h 2613124"/>
                <a:gd name="connsiteX95" fmla="*/ 2587677 w 2610730"/>
                <a:gd name="connsiteY95" fmla="*/ 1550018 h 2613124"/>
                <a:gd name="connsiteX96" fmla="*/ 2537195 w 2610730"/>
                <a:gd name="connsiteY96" fmla="*/ 1598406 h 2613124"/>
                <a:gd name="connsiteX97" fmla="*/ 2433182 w 2610730"/>
                <a:gd name="connsiteY97" fmla="*/ 1587261 h 2613124"/>
                <a:gd name="connsiteX98" fmla="*/ 2379175 w 2610730"/>
                <a:gd name="connsiteY98" fmla="*/ 1633553 h 2613124"/>
                <a:gd name="connsiteX99" fmla="*/ 2404607 w 2610730"/>
                <a:gd name="connsiteY99" fmla="*/ 1690893 h 2613124"/>
                <a:gd name="connsiteX100" fmla="*/ 2485569 w 2610730"/>
                <a:gd name="connsiteY100" fmla="*/ 1731089 h 2613124"/>
                <a:gd name="connsiteX101" fmla="*/ 2512620 w 2610730"/>
                <a:gd name="connsiteY101" fmla="*/ 1803193 h 2613124"/>
                <a:gd name="connsiteX102" fmla="*/ 2444135 w 2610730"/>
                <a:gd name="connsiteY102" fmla="*/ 1829958 h 2613124"/>
                <a:gd name="connsiteX103" fmla="*/ 2362887 w 2610730"/>
                <a:gd name="connsiteY103" fmla="*/ 1803288 h 2613124"/>
                <a:gd name="connsiteX104" fmla="*/ 2297831 w 2610730"/>
                <a:gd name="connsiteY104" fmla="*/ 1830625 h 2613124"/>
                <a:gd name="connsiteX105" fmla="*/ 2314500 w 2610730"/>
                <a:gd name="connsiteY105" fmla="*/ 1895204 h 2613124"/>
                <a:gd name="connsiteX106" fmla="*/ 2393177 w 2610730"/>
                <a:gd name="connsiteY106" fmla="*/ 1956736 h 2613124"/>
                <a:gd name="connsiteX107" fmla="*/ 2396129 w 2610730"/>
                <a:gd name="connsiteY107" fmla="*/ 2023125 h 2613124"/>
                <a:gd name="connsiteX108" fmla="*/ 2336884 w 2610730"/>
                <a:gd name="connsiteY108" fmla="*/ 2043223 h 2613124"/>
                <a:gd name="connsiteX109" fmla="*/ 2245063 w 2610730"/>
                <a:gd name="connsiteY109" fmla="*/ 1993217 h 2613124"/>
                <a:gd name="connsiteX110" fmla="*/ 2173626 w 2610730"/>
                <a:gd name="connsiteY110" fmla="*/ 2017410 h 2613124"/>
                <a:gd name="connsiteX111" fmla="*/ 2170292 w 2610730"/>
                <a:gd name="connsiteY111" fmla="*/ 2087514 h 2613124"/>
                <a:gd name="connsiteX112" fmla="*/ 2229251 w 2610730"/>
                <a:gd name="connsiteY112" fmla="*/ 2155904 h 2613124"/>
                <a:gd name="connsiteX113" fmla="*/ 2229251 w 2610730"/>
                <a:gd name="connsiteY113" fmla="*/ 2229532 h 2613124"/>
                <a:gd name="connsiteX114" fmla="*/ 2152575 w 2610730"/>
                <a:gd name="connsiteY114" fmla="*/ 2230199 h 2613124"/>
                <a:gd name="connsiteX115" fmla="*/ 2091234 w 2610730"/>
                <a:gd name="connsiteY115" fmla="*/ 2177526 h 2613124"/>
                <a:gd name="connsiteX116" fmla="*/ 2016653 w 2610730"/>
                <a:gd name="connsiteY116" fmla="*/ 2173620 h 2613124"/>
                <a:gd name="connsiteX117" fmla="*/ 2005223 w 2610730"/>
                <a:gd name="connsiteY117" fmla="*/ 2247058 h 2613124"/>
                <a:gd name="connsiteX118" fmla="*/ 2042847 w 2610730"/>
                <a:gd name="connsiteY118" fmla="*/ 2313066 h 2613124"/>
                <a:gd name="connsiteX119" fmla="*/ 2029607 w 2610730"/>
                <a:gd name="connsiteY119" fmla="*/ 2392791 h 2613124"/>
                <a:gd name="connsiteX120" fmla="*/ 1954741 w 2610730"/>
                <a:gd name="connsiteY120" fmla="*/ 2374883 h 2613124"/>
                <a:gd name="connsiteX121" fmla="*/ 1907783 w 2610730"/>
                <a:gd name="connsiteY121" fmla="*/ 2314971 h 2613124"/>
                <a:gd name="connsiteX122" fmla="*/ 1836536 w 2610730"/>
                <a:gd name="connsiteY122" fmla="*/ 2293921 h 2613124"/>
                <a:gd name="connsiteX123" fmla="*/ 1808913 w 2610730"/>
                <a:gd name="connsiteY123" fmla="*/ 2366787 h 2613124"/>
                <a:gd name="connsiteX124" fmla="*/ 1832345 w 2610730"/>
                <a:gd name="connsiteY124" fmla="*/ 2439082 h 2613124"/>
                <a:gd name="connsiteX125" fmla="*/ 1802817 w 2610730"/>
                <a:gd name="connsiteY125" fmla="*/ 2513663 h 2613124"/>
                <a:gd name="connsiteX126" fmla="*/ 1733475 w 2610730"/>
                <a:gd name="connsiteY126" fmla="*/ 2479944 h 2613124"/>
                <a:gd name="connsiteX127" fmla="*/ 1694708 w 2610730"/>
                <a:gd name="connsiteY127" fmla="*/ 2403744 h 2613124"/>
                <a:gd name="connsiteX128" fmla="*/ 1631748 w 2610730"/>
                <a:gd name="connsiteY128" fmla="*/ 2379646 h 2613124"/>
                <a:gd name="connsiteX129" fmla="*/ 1597553 w 2610730"/>
                <a:gd name="connsiteY129" fmla="*/ 2433177 h 2613124"/>
                <a:gd name="connsiteX130" fmla="*/ 1609841 w 2610730"/>
                <a:gd name="connsiteY130" fmla="*/ 2532237 h 2613124"/>
                <a:gd name="connsiteX131" fmla="*/ 1564978 w 2610730"/>
                <a:gd name="connsiteY131" fmla="*/ 2585862 h 2613124"/>
                <a:gd name="connsiteX132" fmla="*/ 1506780 w 2610730"/>
                <a:gd name="connsiteY132" fmla="*/ 2554239 h 2613124"/>
                <a:gd name="connsiteX133" fmla="*/ 1477919 w 2610730"/>
                <a:gd name="connsiteY133" fmla="*/ 2453751 h 2613124"/>
                <a:gd name="connsiteX134" fmla="*/ 1418293 w 2610730"/>
                <a:gd name="connsiteY134" fmla="*/ 2422699 h 2613124"/>
                <a:gd name="connsiteX135" fmla="*/ 1364953 w 2610730"/>
                <a:gd name="connsiteY135" fmla="*/ 2464228 h 2613124"/>
                <a:gd name="connsiteX136" fmla="*/ 1355714 w 2610730"/>
                <a:gd name="connsiteY136" fmla="*/ 2573099 h 2613124"/>
                <a:gd name="connsiteX137" fmla="*/ 1307517 w 2610730"/>
                <a:gd name="connsiteY137" fmla="*/ 2613104 h 2613124"/>
                <a:gd name="connsiteX138" fmla="*/ 1253415 w 2610730"/>
                <a:gd name="connsiteY138" fmla="*/ 2573861 h 2613124"/>
                <a:gd name="connsiteX139" fmla="*/ 1243700 w 2610730"/>
                <a:gd name="connsiteY139" fmla="*/ 2465085 h 2613124"/>
                <a:gd name="connsiteX140" fmla="*/ 1201409 w 2610730"/>
                <a:gd name="connsiteY140" fmla="*/ 2423747 h 2613124"/>
                <a:gd name="connsiteX141" fmla="*/ 1152355 w 2610730"/>
                <a:gd name="connsiteY141" fmla="*/ 2456989 h 2613124"/>
                <a:gd name="connsiteX142" fmla="*/ 1125971 w 2610730"/>
                <a:gd name="connsiteY142" fmla="*/ 2553192 h 2613124"/>
                <a:gd name="connsiteX143" fmla="*/ 1062248 w 2610730"/>
                <a:gd name="connsiteY143" fmla="*/ 2589196 h 2613124"/>
                <a:gd name="connsiteX144" fmla="*/ 1022148 w 2610730"/>
                <a:gd name="connsiteY144" fmla="*/ 2532141 h 2613124"/>
                <a:gd name="connsiteX145" fmla="*/ 1031768 w 2610730"/>
                <a:gd name="connsiteY145" fmla="*/ 2447178 h 2613124"/>
                <a:gd name="connsiteX146" fmla="*/ 983953 w 2610730"/>
                <a:gd name="connsiteY146" fmla="*/ 2380122 h 2613124"/>
                <a:gd name="connsiteX147" fmla="*/ 914135 w 2610730"/>
                <a:gd name="connsiteY147" fmla="*/ 2416412 h 2613124"/>
                <a:gd name="connsiteX148" fmla="*/ 876035 w 2610730"/>
                <a:gd name="connsiteY148" fmla="*/ 2492994 h 2613124"/>
                <a:gd name="connsiteX149" fmla="*/ 804883 w 2610730"/>
                <a:gd name="connsiteY149" fmla="*/ 2512520 h 2613124"/>
                <a:gd name="connsiteX150" fmla="*/ 778975 w 2610730"/>
                <a:gd name="connsiteY150" fmla="*/ 2452036 h 2613124"/>
                <a:gd name="connsiteX151" fmla="*/ 806788 w 2610730"/>
                <a:gd name="connsiteY151" fmla="*/ 2366120 h 2613124"/>
                <a:gd name="connsiteX152" fmla="*/ 778880 w 2610730"/>
                <a:gd name="connsiteY152" fmla="*/ 2296398 h 2613124"/>
                <a:gd name="connsiteX153" fmla="*/ 710585 w 2610730"/>
                <a:gd name="connsiteY153" fmla="*/ 2313638 h 2613124"/>
                <a:gd name="connsiteX154" fmla="*/ 648578 w 2610730"/>
                <a:gd name="connsiteY154" fmla="*/ 2391933 h 2613124"/>
                <a:gd name="connsiteX155" fmla="*/ 586760 w 2610730"/>
                <a:gd name="connsiteY155" fmla="*/ 2396982 h 2613124"/>
                <a:gd name="connsiteX156" fmla="*/ 562472 w 2610730"/>
                <a:gd name="connsiteY156" fmla="*/ 2335641 h 2613124"/>
                <a:gd name="connsiteX157" fmla="*/ 612573 w 2610730"/>
                <a:gd name="connsiteY157" fmla="*/ 2243915 h 2613124"/>
                <a:gd name="connsiteX158" fmla="*/ 595619 w 2610730"/>
                <a:gd name="connsiteY158" fmla="*/ 2175049 h 2613124"/>
                <a:gd name="connsiteX159" fmla="*/ 524372 w 2610730"/>
                <a:gd name="connsiteY159" fmla="*/ 2171811 h 2613124"/>
                <a:gd name="connsiteX160" fmla="*/ 448457 w 2610730"/>
                <a:gd name="connsiteY160" fmla="*/ 2236676 h 2613124"/>
                <a:gd name="connsiteX161" fmla="*/ 382735 w 2610730"/>
                <a:gd name="connsiteY161" fmla="*/ 2231818 h 2613124"/>
                <a:gd name="connsiteX162" fmla="*/ 375020 w 2610730"/>
                <a:gd name="connsiteY162" fmla="*/ 2161809 h 2613124"/>
                <a:gd name="connsiteX163" fmla="*/ 442838 w 2610730"/>
                <a:gd name="connsiteY163" fmla="*/ 2082180 h 2613124"/>
                <a:gd name="connsiteX164" fmla="*/ 438932 w 2610730"/>
                <a:gd name="connsiteY164" fmla="*/ 2019125 h 2613124"/>
                <a:gd name="connsiteX165" fmla="*/ 377496 w 2610730"/>
                <a:gd name="connsiteY165" fmla="*/ 2003123 h 2613124"/>
                <a:gd name="connsiteX166" fmla="*/ 286342 w 2610730"/>
                <a:gd name="connsiteY166" fmla="*/ 2054272 h 2613124"/>
                <a:gd name="connsiteX167" fmla="*/ 222334 w 2610730"/>
                <a:gd name="connsiteY167" fmla="*/ 2037222 h 2613124"/>
                <a:gd name="connsiteX168" fmla="*/ 227477 w 2610730"/>
                <a:gd name="connsiteY168" fmla="*/ 1967023 h 2613124"/>
                <a:gd name="connsiteX169" fmla="*/ 298534 w 2610730"/>
                <a:gd name="connsiteY169" fmla="*/ 1911111 h 2613124"/>
                <a:gd name="connsiteX170" fmla="*/ 318155 w 2610730"/>
                <a:gd name="connsiteY170" fmla="*/ 1839007 h 2613124"/>
                <a:gd name="connsiteX171" fmla="*/ 243956 w 2610730"/>
                <a:gd name="connsiteY171" fmla="*/ 1813670 h 2613124"/>
                <a:gd name="connsiteX172" fmla="*/ 158135 w 2610730"/>
                <a:gd name="connsiteY172" fmla="*/ 1841769 h 2613124"/>
                <a:gd name="connsiteX173" fmla="*/ 100128 w 2610730"/>
                <a:gd name="connsiteY173" fmla="*/ 1810337 h 2613124"/>
                <a:gd name="connsiteX174" fmla="*/ 116321 w 2610730"/>
                <a:gd name="connsiteY174" fmla="*/ 1746519 h 2613124"/>
                <a:gd name="connsiteX175" fmla="*/ 196616 w 2610730"/>
                <a:gd name="connsiteY175" fmla="*/ 1705085 h 2613124"/>
                <a:gd name="connsiteX176" fmla="*/ 234716 w 2610730"/>
                <a:gd name="connsiteY176" fmla="*/ 1640887 h 2613124"/>
                <a:gd name="connsiteX177" fmla="*/ 166232 w 2610730"/>
                <a:gd name="connsiteY177" fmla="*/ 1602882 h 2613124"/>
                <a:gd name="connsiteX178" fmla="*/ 86126 w 2610730"/>
                <a:gd name="connsiteY178" fmla="*/ 1613836 h 2613124"/>
                <a:gd name="connsiteX179" fmla="*/ 27452 w 2610730"/>
                <a:gd name="connsiteY179" fmla="*/ 1575926 h 2613124"/>
                <a:gd name="connsiteX180" fmla="*/ 60409 w 2610730"/>
                <a:gd name="connsiteY180" fmla="*/ 1510776 h 2613124"/>
                <a:gd name="connsiteX181" fmla="*/ 147086 w 2610730"/>
                <a:gd name="connsiteY181" fmla="*/ 1485534 h 2613124"/>
                <a:gd name="connsiteX182" fmla="*/ 190425 w 2610730"/>
                <a:gd name="connsiteY182" fmla="*/ 1424669 h 2613124"/>
                <a:gd name="connsiteX183" fmla="*/ 137466 w 2610730"/>
                <a:gd name="connsiteY183" fmla="*/ 1366567 h 2613124"/>
                <a:gd name="connsiteX184" fmla="*/ 56980 w 2610730"/>
                <a:gd name="connsiteY184" fmla="*/ 1360281 h 2613124"/>
                <a:gd name="connsiteX185" fmla="*/ 20 w 2610730"/>
                <a:gd name="connsiteY185" fmla="*/ 1308845 h 2613124"/>
                <a:gd name="connsiteX186" fmla="*/ 57170 w 2610730"/>
                <a:gd name="connsiteY186" fmla="*/ 1253219 h 2613124"/>
                <a:gd name="connsiteX187" fmla="*/ 137657 w 2610730"/>
                <a:gd name="connsiteY187" fmla="*/ 1246743 h 2613124"/>
                <a:gd name="connsiteX188" fmla="*/ 188996 w 2610730"/>
                <a:gd name="connsiteY188" fmla="*/ 1197403 h 2613124"/>
                <a:gd name="connsiteX189" fmla="*/ 148801 w 2610730"/>
                <a:gd name="connsiteY189" fmla="*/ 1143396 h 2613124"/>
                <a:gd name="connsiteX190" fmla="*/ 66219 w 2610730"/>
                <a:gd name="connsiteY190" fmla="*/ 1121108 h 2613124"/>
                <a:gd name="connsiteX191" fmla="*/ 21547 w 2610730"/>
                <a:gd name="connsiteY191" fmla="*/ 1062243 h 2613124"/>
                <a:gd name="connsiteX192" fmla="*/ 82983 w 2610730"/>
                <a:gd name="connsiteY192" fmla="*/ 1015475 h 2613124"/>
                <a:gd name="connsiteX193" fmla="*/ 1314375 w 2610730"/>
                <a:gd name="connsiteY193" fmla="*/ 2266394 h 2613124"/>
                <a:gd name="connsiteX194" fmla="*/ 2272971 w 2610730"/>
                <a:gd name="connsiteY194" fmla="*/ 1309226 h 2613124"/>
                <a:gd name="connsiteX195" fmla="*/ 1313613 w 2610730"/>
                <a:gd name="connsiteY195" fmla="*/ 351202 h 2613124"/>
                <a:gd name="connsiteX196" fmla="*/ 355398 w 2610730"/>
                <a:gd name="connsiteY196" fmla="*/ 1300368 h 2613124"/>
                <a:gd name="connsiteX197" fmla="*/ 1314280 w 2610730"/>
                <a:gd name="connsiteY197" fmla="*/ 2266394 h 2613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2610730" h="2613124">
                  <a:moveTo>
                    <a:pt x="83174" y="1015475"/>
                  </a:moveTo>
                  <a:cubicBezTo>
                    <a:pt x="113082" y="1019095"/>
                    <a:pt x="143086" y="1022048"/>
                    <a:pt x="172804" y="1026524"/>
                  </a:cubicBezTo>
                  <a:cubicBezTo>
                    <a:pt x="206618" y="1031573"/>
                    <a:pt x="221762" y="1014809"/>
                    <a:pt x="230144" y="984329"/>
                  </a:cubicBezTo>
                  <a:cubicBezTo>
                    <a:pt x="238050" y="955468"/>
                    <a:pt x="233002" y="935370"/>
                    <a:pt x="204141" y="922226"/>
                  </a:cubicBezTo>
                  <a:cubicBezTo>
                    <a:pt x="175280" y="909176"/>
                    <a:pt x="147563" y="893746"/>
                    <a:pt x="119083" y="879839"/>
                  </a:cubicBezTo>
                  <a:cubicBezTo>
                    <a:pt x="86698" y="864028"/>
                    <a:pt x="83745" y="842311"/>
                    <a:pt x="96985" y="809735"/>
                  </a:cubicBezTo>
                  <a:cubicBezTo>
                    <a:pt x="110796" y="775541"/>
                    <a:pt x="132799" y="773731"/>
                    <a:pt x="161374" y="782303"/>
                  </a:cubicBezTo>
                  <a:cubicBezTo>
                    <a:pt x="191759" y="791352"/>
                    <a:pt x="222239" y="800115"/>
                    <a:pt x="251766" y="811545"/>
                  </a:cubicBezTo>
                  <a:cubicBezTo>
                    <a:pt x="280246" y="822594"/>
                    <a:pt x="296057" y="811831"/>
                    <a:pt x="309488" y="787447"/>
                  </a:cubicBezTo>
                  <a:cubicBezTo>
                    <a:pt x="323585" y="761825"/>
                    <a:pt x="325775" y="740679"/>
                    <a:pt x="299201" y="721629"/>
                  </a:cubicBezTo>
                  <a:cubicBezTo>
                    <a:pt x="274721" y="704103"/>
                    <a:pt x="251766" y="684482"/>
                    <a:pt x="227477" y="666670"/>
                  </a:cubicBezTo>
                  <a:cubicBezTo>
                    <a:pt x="199093" y="645810"/>
                    <a:pt x="189854" y="625046"/>
                    <a:pt x="212237" y="591041"/>
                  </a:cubicBezTo>
                  <a:cubicBezTo>
                    <a:pt x="235574" y="555608"/>
                    <a:pt x="259100" y="561228"/>
                    <a:pt x="288152" y="578183"/>
                  </a:cubicBezTo>
                  <a:cubicBezTo>
                    <a:pt x="310059" y="590946"/>
                    <a:pt x="333395" y="601424"/>
                    <a:pt x="354541" y="615330"/>
                  </a:cubicBezTo>
                  <a:cubicBezTo>
                    <a:pt x="387878" y="637142"/>
                    <a:pt x="410929" y="629332"/>
                    <a:pt x="435218" y="598757"/>
                  </a:cubicBezTo>
                  <a:cubicBezTo>
                    <a:pt x="458173" y="569896"/>
                    <a:pt x="461411" y="547607"/>
                    <a:pt x="434456" y="520556"/>
                  </a:cubicBezTo>
                  <a:cubicBezTo>
                    <a:pt x="413215" y="499316"/>
                    <a:pt x="394832" y="475217"/>
                    <a:pt x="375496" y="452072"/>
                  </a:cubicBezTo>
                  <a:cubicBezTo>
                    <a:pt x="354160" y="426545"/>
                    <a:pt x="359208" y="405685"/>
                    <a:pt x="382449" y="382063"/>
                  </a:cubicBezTo>
                  <a:cubicBezTo>
                    <a:pt x="405119" y="359108"/>
                    <a:pt x="424740" y="357203"/>
                    <a:pt x="448172" y="376538"/>
                  </a:cubicBezTo>
                  <a:cubicBezTo>
                    <a:pt x="473794" y="397779"/>
                    <a:pt x="499702" y="418829"/>
                    <a:pt x="524181" y="441404"/>
                  </a:cubicBezTo>
                  <a:cubicBezTo>
                    <a:pt x="547517" y="462930"/>
                    <a:pt x="567234" y="459787"/>
                    <a:pt x="591047" y="440832"/>
                  </a:cubicBezTo>
                  <a:cubicBezTo>
                    <a:pt x="616002" y="420925"/>
                    <a:pt x="625241" y="401303"/>
                    <a:pt x="607239" y="371966"/>
                  </a:cubicBezTo>
                  <a:cubicBezTo>
                    <a:pt x="589904" y="343582"/>
                    <a:pt x="574092" y="314245"/>
                    <a:pt x="558662" y="284813"/>
                  </a:cubicBezTo>
                  <a:cubicBezTo>
                    <a:pt x="544374" y="257571"/>
                    <a:pt x="552756" y="238331"/>
                    <a:pt x="578855" y="221471"/>
                  </a:cubicBezTo>
                  <a:cubicBezTo>
                    <a:pt x="604382" y="204993"/>
                    <a:pt x="624860" y="202231"/>
                    <a:pt x="644863" y="227472"/>
                  </a:cubicBezTo>
                  <a:cubicBezTo>
                    <a:pt x="666580" y="254809"/>
                    <a:pt x="688964" y="281574"/>
                    <a:pt x="710014" y="309292"/>
                  </a:cubicBezTo>
                  <a:cubicBezTo>
                    <a:pt x="728302" y="333390"/>
                    <a:pt x="748685" y="331580"/>
                    <a:pt x="772498" y="318341"/>
                  </a:cubicBezTo>
                  <a:cubicBezTo>
                    <a:pt x="796120" y="305196"/>
                    <a:pt x="816218" y="292242"/>
                    <a:pt x="804216" y="259381"/>
                  </a:cubicBezTo>
                  <a:cubicBezTo>
                    <a:pt x="792786" y="228234"/>
                    <a:pt x="783071" y="196325"/>
                    <a:pt x="773831" y="164417"/>
                  </a:cubicBezTo>
                  <a:cubicBezTo>
                    <a:pt x="764497" y="132222"/>
                    <a:pt x="773831" y="112029"/>
                    <a:pt x="808502" y="99170"/>
                  </a:cubicBezTo>
                  <a:cubicBezTo>
                    <a:pt x="842983" y="86312"/>
                    <a:pt x="858985" y="100218"/>
                    <a:pt x="872796" y="127174"/>
                  </a:cubicBezTo>
                  <a:cubicBezTo>
                    <a:pt x="886512" y="153939"/>
                    <a:pt x="901181" y="180323"/>
                    <a:pt x="914039" y="207470"/>
                  </a:cubicBezTo>
                  <a:cubicBezTo>
                    <a:pt x="925946" y="232711"/>
                    <a:pt x="942710" y="243474"/>
                    <a:pt x="971094" y="234902"/>
                  </a:cubicBezTo>
                  <a:cubicBezTo>
                    <a:pt x="998336" y="226615"/>
                    <a:pt x="1016624" y="213756"/>
                    <a:pt x="1012337" y="181466"/>
                  </a:cubicBezTo>
                  <a:cubicBezTo>
                    <a:pt x="1007670" y="146891"/>
                    <a:pt x="1004432" y="112220"/>
                    <a:pt x="1000336" y="77549"/>
                  </a:cubicBezTo>
                  <a:cubicBezTo>
                    <a:pt x="996526" y="44878"/>
                    <a:pt x="1014623" y="33543"/>
                    <a:pt x="1043675" y="27638"/>
                  </a:cubicBezTo>
                  <a:cubicBezTo>
                    <a:pt x="1073583" y="21542"/>
                    <a:pt x="1093490" y="28019"/>
                    <a:pt x="1102444" y="58403"/>
                  </a:cubicBezTo>
                  <a:cubicBezTo>
                    <a:pt x="1111397" y="88788"/>
                    <a:pt x="1121303" y="118982"/>
                    <a:pt x="1128257" y="149843"/>
                  </a:cubicBezTo>
                  <a:cubicBezTo>
                    <a:pt x="1136353" y="185276"/>
                    <a:pt x="1157403" y="192896"/>
                    <a:pt x="1191217" y="190420"/>
                  </a:cubicBezTo>
                  <a:cubicBezTo>
                    <a:pt x="1226269" y="187848"/>
                    <a:pt x="1243604" y="173084"/>
                    <a:pt x="1245700" y="138509"/>
                  </a:cubicBezTo>
                  <a:cubicBezTo>
                    <a:pt x="1247605" y="106886"/>
                    <a:pt x="1249891" y="75263"/>
                    <a:pt x="1252748" y="43735"/>
                  </a:cubicBezTo>
                  <a:cubicBezTo>
                    <a:pt x="1255701" y="10207"/>
                    <a:pt x="1274751" y="-461"/>
                    <a:pt x="1307708" y="15"/>
                  </a:cubicBezTo>
                  <a:cubicBezTo>
                    <a:pt x="1340188" y="587"/>
                    <a:pt x="1354190" y="15160"/>
                    <a:pt x="1356761" y="44973"/>
                  </a:cubicBezTo>
                  <a:cubicBezTo>
                    <a:pt x="1359619" y="78120"/>
                    <a:pt x="1362191" y="111267"/>
                    <a:pt x="1364477" y="144509"/>
                  </a:cubicBezTo>
                  <a:cubicBezTo>
                    <a:pt x="1366477" y="173180"/>
                    <a:pt x="1382098" y="186610"/>
                    <a:pt x="1410101" y="188991"/>
                  </a:cubicBezTo>
                  <a:cubicBezTo>
                    <a:pt x="1437057" y="191372"/>
                    <a:pt x="1451630" y="178799"/>
                    <a:pt x="1458203" y="153749"/>
                  </a:cubicBezTo>
                  <a:cubicBezTo>
                    <a:pt x="1466204" y="123078"/>
                    <a:pt x="1475252" y="92693"/>
                    <a:pt x="1483063" y="62023"/>
                  </a:cubicBezTo>
                  <a:cubicBezTo>
                    <a:pt x="1491540" y="28781"/>
                    <a:pt x="1507923" y="16684"/>
                    <a:pt x="1545166" y="23447"/>
                  </a:cubicBezTo>
                  <a:cubicBezTo>
                    <a:pt x="1584409" y="30590"/>
                    <a:pt x="1590029" y="52307"/>
                    <a:pt x="1586981" y="83835"/>
                  </a:cubicBezTo>
                  <a:cubicBezTo>
                    <a:pt x="1584123" y="113839"/>
                    <a:pt x="1581837" y="143843"/>
                    <a:pt x="1577075" y="173561"/>
                  </a:cubicBezTo>
                  <a:cubicBezTo>
                    <a:pt x="1571836" y="206136"/>
                    <a:pt x="1588790" y="219471"/>
                    <a:pt x="1616603" y="227567"/>
                  </a:cubicBezTo>
                  <a:cubicBezTo>
                    <a:pt x="1644988" y="235759"/>
                    <a:pt x="1672134" y="245760"/>
                    <a:pt x="1688708" y="208613"/>
                  </a:cubicBezTo>
                  <a:cubicBezTo>
                    <a:pt x="1700328" y="182609"/>
                    <a:pt x="1713949" y="157463"/>
                    <a:pt x="1726808" y="132032"/>
                  </a:cubicBezTo>
                  <a:cubicBezTo>
                    <a:pt x="1742524" y="100980"/>
                    <a:pt x="1759574" y="81359"/>
                    <a:pt x="1801103" y="98789"/>
                  </a:cubicBezTo>
                  <a:cubicBezTo>
                    <a:pt x="1841108" y="115553"/>
                    <a:pt x="1837583" y="140699"/>
                    <a:pt x="1827963" y="171465"/>
                  </a:cubicBezTo>
                  <a:cubicBezTo>
                    <a:pt x="1819486" y="198707"/>
                    <a:pt x="1810818" y="225853"/>
                    <a:pt x="1801484" y="252809"/>
                  </a:cubicBezTo>
                  <a:cubicBezTo>
                    <a:pt x="1791101" y="282908"/>
                    <a:pt x="1804055" y="300053"/>
                    <a:pt x="1830059" y="313959"/>
                  </a:cubicBezTo>
                  <a:cubicBezTo>
                    <a:pt x="1856348" y="327961"/>
                    <a:pt x="1877493" y="328247"/>
                    <a:pt x="1896448" y="302624"/>
                  </a:cubicBezTo>
                  <a:cubicBezTo>
                    <a:pt x="1914355" y="278431"/>
                    <a:pt x="1933786" y="255285"/>
                    <a:pt x="1952074" y="231377"/>
                  </a:cubicBezTo>
                  <a:cubicBezTo>
                    <a:pt x="1971791" y="205660"/>
                    <a:pt x="1990745" y="194992"/>
                    <a:pt x="2023607" y="216614"/>
                  </a:cubicBezTo>
                  <a:cubicBezTo>
                    <a:pt x="2057706" y="238997"/>
                    <a:pt x="2057706" y="261572"/>
                    <a:pt x="2039894" y="291956"/>
                  </a:cubicBezTo>
                  <a:cubicBezTo>
                    <a:pt x="2027893" y="312435"/>
                    <a:pt x="2017892" y="334152"/>
                    <a:pt x="2005033" y="354155"/>
                  </a:cubicBezTo>
                  <a:cubicBezTo>
                    <a:pt x="1985602" y="384444"/>
                    <a:pt x="1980935" y="408542"/>
                    <a:pt x="2013605" y="436260"/>
                  </a:cubicBezTo>
                  <a:cubicBezTo>
                    <a:pt x="2047895" y="465407"/>
                    <a:pt x="2071994" y="457025"/>
                    <a:pt x="2099140" y="429593"/>
                  </a:cubicBezTo>
                  <a:cubicBezTo>
                    <a:pt x="2114666" y="413876"/>
                    <a:pt x="2132859" y="400732"/>
                    <a:pt x="2149432" y="385968"/>
                  </a:cubicBezTo>
                  <a:cubicBezTo>
                    <a:pt x="2175911" y="362441"/>
                    <a:pt x="2198581" y="351773"/>
                    <a:pt x="2229823" y="384539"/>
                  </a:cubicBezTo>
                  <a:cubicBezTo>
                    <a:pt x="2259731" y="415972"/>
                    <a:pt x="2246587" y="437308"/>
                    <a:pt x="2225537" y="461978"/>
                  </a:cubicBezTo>
                  <a:cubicBezTo>
                    <a:pt x="2208011" y="482456"/>
                    <a:pt x="2191628" y="503983"/>
                    <a:pt x="2172768" y="523223"/>
                  </a:cubicBezTo>
                  <a:cubicBezTo>
                    <a:pt x="2149051" y="547417"/>
                    <a:pt x="2151527" y="568467"/>
                    <a:pt x="2172292" y="593613"/>
                  </a:cubicBezTo>
                  <a:cubicBezTo>
                    <a:pt x="2193533" y="619331"/>
                    <a:pt x="2214107" y="623426"/>
                    <a:pt x="2241824" y="604948"/>
                  </a:cubicBezTo>
                  <a:cubicBezTo>
                    <a:pt x="2264208" y="590089"/>
                    <a:pt x="2288402" y="577992"/>
                    <a:pt x="2311833" y="564657"/>
                  </a:cubicBezTo>
                  <a:cubicBezTo>
                    <a:pt x="2340789" y="548084"/>
                    <a:pt x="2364792" y="542178"/>
                    <a:pt x="2387938" y="577706"/>
                  </a:cubicBezTo>
                  <a:cubicBezTo>
                    <a:pt x="2410036" y="611615"/>
                    <a:pt x="2401463" y="632570"/>
                    <a:pt x="2372698" y="653525"/>
                  </a:cubicBezTo>
                  <a:cubicBezTo>
                    <a:pt x="2352219" y="668480"/>
                    <a:pt x="2333550" y="686006"/>
                    <a:pt x="2312786" y="700388"/>
                  </a:cubicBezTo>
                  <a:cubicBezTo>
                    <a:pt x="2282782" y="721058"/>
                    <a:pt x="2276495" y="743441"/>
                    <a:pt x="2294974" y="776969"/>
                  </a:cubicBezTo>
                  <a:cubicBezTo>
                    <a:pt x="2312976" y="809640"/>
                    <a:pt x="2334884" y="812498"/>
                    <a:pt x="2365840" y="799639"/>
                  </a:cubicBezTo>
                  <a:cubicBezTo>
                    <a:pt x="2389176" y="790019"/>
                    <a:pt x="2413846" y="783351"/>
                    <a:pt x="2437849" y="775350"/>
                  </a:cubicBezTo>
                  <a:cubicBezTo>
                    <a:pt x="2469662" y="764682"/>
                    <a:pt x="2493570" y="764587"/>
                    <a:pt x="2509858" y="803449"/>
                  </a:cubicBezTo>
                  <a:cubicBezTo>
                    <a:pt x="2526051" y="842120"/>
                    <a:pt x="2510239" y="859361"/>
                    <a:pt x="2479759" y="874410"/>
                  </a:cubicBezTo>
                  <a:cubicBezTo>
                    <a:pt x="2455661" y="886316"/>
                    <a:pt x="2431848" y="898985"/>
                    <a:pt x="2407560" y="910605"/>
                  </a:cubicBezTo>
                  <a:cubicBezTo>
                    <a:pt x="2382318" y="922702"/>
                    <a:pt x="2366602" y="936704"/>
                    <a:pt x="2376127" y="969660"/>
                  </a:cubicBezTo>
                  <a:cubicBezTo>
                    <a:pt x="2385938" y="1003855"/>
                    <a:pt x="2404226" y="1016237"/>
                    <a:pt x="2438611" y="1010522"/>
                  </a:cubicBezTo>
                  <a:cubicBezTo>
                    <a:pt x="2469853" y="1005379"/>
                    <a:pt x="2501476" y="1002426"/>
                    <a:pt x="2533004" y="998902"/>
                  </a:cubicBezTo>
                  <a:cubicBezTo>
                    <a:pt x="2565103" y="995378"/>
                    <a:pt x="2576628" y="1012427"/>
                    <a:pt x="2582915" y="1042241"/>
                  </a:cubicBezTo>
                  <a:cubicBezTo>
                    <a:pt x="2589296" y="1072721"/>
                    <a:pt x="2582915" y="1092056"/>
                    <a:pt x="2553197" y="1101391"/>
                  </a:cubicBezTo>
                  <a:cubicBezTo>
                    <a:pt x="2519954" y="1111773"/>
                    <a:pt x="2486522" y="1121965"/>
                    <a:pt x="2452803" y="1130728"/>
                  </a:cubicBezTo>
                  <a:cubicBezTo>
                    <a:pt x="2419847" y="1139300"/>
                    <a:pt x="2417561" y="1162446"/>
                    <a:pt x="2421371" y="1189973"/>
                  </a:cubicBezTo>
                  <a:cubicBezTo>
                    <a:pt x="2425181" y="1217406"/>
                    <a:pt x="2427848" y="1244456"/>
                    <a:pt x="2465376" y="1246361"/>
                  </a:cubicBezTo>
                  <a:cubicBezTo>
                    <a:pt x="2500143" y="1248171"/>
                    <a:pt x="2534909" y="1251981"/>
                    <a:pt x="2569580" y="1255029"/>
                  </a:cubicBezTo>
                  <a:cubicBezTo>
                    <a:pt x="2601584" y="1257791"/>
                    <a:pt x="2610537" y="1276460"/>
                    <a:pt x="2610728" y="1306940"/>
                  </a:cubicBezTo>
                  <a:cubicBezTo>
                    <a:pt x="2610918" y="1337801"/>
                    <a:pt x="2600631" y="1355804"/>
                    <a:pt x="2569389" y="1358852"/>
                  </a:cubicBezTo>
                  <a:cubicBezTo>
                    <a:pt x="2534718" y="1362281"/>
                    <a:pt x="2499952" y="1366376"/>
                    <a:pt x="2465186" y="1367519"/>
                  </a:cubicBezTo>
                  <a:cubicBezTo>
                    <a:pt x="2433372" y="1368567"/>
                    <a:pt x="2425752" y="1388760"/>
                    <a:pt x="2422228" y="1414097"/>
                  </a:cubicBezTo>
                  <a:cubicBezTo>
                    <a:pt x="2418513" y="1441052"/>
                    <a:pt x="2426133" y="1460579"/>
                    <a:pt x="2455375" y="1468103"/>
                  </a:cubicBezTo>
                  <a:cubicBezTo>
                    <a:pt x="2489093" y="1476771"/>
                    <a:pt x="2522717" y="1486106"/>
                    <a:pt x="2556054" y="1496297"/>
                  </a:cubicBezTo>
                  <a:cubicBezTo>
                    <a:pt x="2582248" y="1504298"/>
                    <a:pt x="2594726" y="1520015"/>
                    <a:pt x="2587677" y="1550018"/>
                  </a:cubicBezTo>
                  <a:cubicBezTo>
                    <a:pt x="2580914" y="1578498"/>
                    <a:pt x="2574342" y="1602882"/>
                    <a:pt x="2537195" y="1598406"/>
                  </a:cubicBezTo>
                  <a:cubicBezTo>
                    <a:pt x="2502619" y="1594310"/>
                    <a:pt x="2467758" y="1591547"/>
                    <a:pt x="2433182" y="1587261"/>
                  </a:cubicBezTo>
                  <a:cubicBezTo>
                    <a:pt x="2397558" y="1582880"/>
                    <a:pt x="2388033" y="1605073"/>
                    <a:pt x="2379175" y="1633553"/>
                  </a:cubicBezTo>
                  <a:cubicBezTo>
                    <a:pt x="2370222" y="1662509"/>
                    <a:pt x="2379747" y="1678797"/>
                    <a:pt x="2404607" y="1690893"/>
                  </a:cubicBezTo>
                  <a:cubicBezTo>
                    <a:pt x="2431753" y="1704038"/>
                    <a:pt x="2458233" y="1718325"/>
                    <a:pt x="2485569" y="1731089"/>
                  </a:cubicBezTo>
                  <a:cubicBezTo>
                    <a:pt x="2518716" y="1746519"/>
                    <a:pt x="2528241" y="1767093"/>
                    <a:pt x="2512620" y="1803193"/>
                  </a:cubicBezTo>
                  <a:cubicBezTo>
                    <a:pt x="2497285" y="1838816"/>
                    <a:pt x="2475187" y="1840912"/>
                    <a:pt x="2444135" y="1829958"/>
                  </a:cubicBezTo>
                  <a:cubicBezTo>
                    <a:pt x="2417275" y="1820433"/>
                    <a:pt x="2389272" y="1813766"/>
                    <a:pt x="2362887" y="1803288"/>
                  </a:cubicBezTo>
                  <a:cubicBezTo>
                    <a:pt x="2330978" y="1790620"/>
                    <a:pt x="2312786" y="1801955"/>
                    <a:pt x="2297831" y="1830625"/>
                  </a:cubicBezTo>
                  <a:cubicBezTo>
                    <a:pt x="2283163" y="1858914"/>
                    <a:pt x="2289640" y="1877583"/>
                    <a:pt x="2314500" y="1895204"/>
                  </a:cubicBezTo>
                  <a:cubicBezTo>
                    <a:pt x="2341647" y="1914350"/>
                    <a:pt x="2367269" y="1935781"/>
                    <a:pt x="2393177" y="1956736"/>
                  </a:cubicBezTo>
                  <a:cubicBezTo>
                    <a:pt x="2419085" y="1977596"/>
                    <a:pt x="2411084" y="1998456"/>
                    <a:pt x="2396129" y="2023125"/>
                  </a:cubicBezTo>
                  <a:cubicBezTo>
                    <a:pt x="2380604" y="2048843"/>
                    <a:pt x="2361744" y="2055415"/>
                    <a:pt x="2336884" y="2043223"/>
                  </a:cubicBezTo>
                  <a:cubicBezTo>
                    <a:pt x="2305642" y="2027888"/>
                    <a:pt x="2275257" y="2010647"/>
                    <a:pt x="2245063" y="1993217"/>
                  </a:cubicBezTo>
                  <a:cubicBezTo>
                    <a:pt x="2211344" y="1973786"/>
                    <a:pt x="2193437" y="1994074"/>
                    <a:pt x="2173626" y="2017410"/>
                  </a:cubicBezTo>
                  <a:cubicBezTo>
                    <a:pt x="2153432" y="2041223"/>
                    <a:pt x="2145431" y="2061797"/>
                    <a:pt x="2170292" y="2087514"/>
                  </a:cubicBezTo>
                  <a:cubicBezTo>
                    <a:pt x="2191247" y="2109136"/>
                    <a:pt x="2209344" y="2133329"/>
                    <a:pt x="2229251" y="2155904"/>
                  </a:cubicBezTo>
                  <a:cubicBezTo>
                    <a:pt x="2251064" y="2180669"/>
                    <a:pt x="2256112" y="2201719"/>
                    <a:pt x="2229251" y="2229532"/>
                  </a:cubicBezTo>
                  <a:cubicBezTo>
                    <a:pt x="2200772" y="2259155"/>
                    <a:pt x="2178674" y="2253535"/>
                    <a:pt x="2152575" y="2230199"/>
                  </a:cubicBezTo>
                  <a:cubicBezTo>
                    <a:pt x="2132477" y="2212197"/>
                    <a:pt x="2110570" y="2196195"/>
                    <a:pt x="2091234" y="2177526"/>
                  </a:cubicBezTo>
                  <a:cubicBezTo>
                    <a:pt x="2066755" y="2153999"/>
                    <a:pt x="2045038" y="2150379"/>
                    <a:pt x="2016653" y="2173620"/>
                  </a:cubicBezTo>
                  <a:cubicBezTo>
                    <a:pt x="1988555" y="2196576"/>
                    <a:pt x="1986364" y="2218293"/>
                    <a:pt x="2005223" y="2247058"/>
                  </a:cubicBezTo>
                  <a:cubicBezTo>
                    <a:pt x="2019035" y="2268203"/>
                    <a:pt x="2029988" y="2291254"/>
                    <a:pt x="2042847" y="2313066"/>
                  </a:cubicBezTo>
                  <a:cubicBezTo>
                    <a:pt x="2060754" y="2343451"/>
                    <a:pt x="2067231" y="2367835"/>
                    <a:pt x="2029607" y="2392791"/>
                  </a:cubicBezTo>
                  <a:cubicBezTo>
                    <a:pt x="1993412" y="2416794"/>
                    <a:pt x="1974934" y="2400696"/>
                    <a:pt x="1954741" y="2374883"/>
                  </a:cubicBezTo>
                  <a:cubicBezTo>
                    <a:pt x="1939120" y="2354881"/>
                    <a:pt x="1922165" y="2335831"/>
                    <a:pt x="1907783" y="2314971"/>
                  </a:cubicBezTo>
                  <a:cubicBezTo>
                    <a:pt x="1889209" y="2288111"/>
                    <a:pt x="1870254" y="2275633"/>
                    <a:pt x="1836536" y="2293921"/>
                  </a:cubicBezTo>
                  <a:cubicBezTo>
                    <a:pt x="1803865" y="2311733"/>
                    <a:pt x="1793483" y="2331926"/>
                    <a:pt x="1808913" y="2366787"/>
                  </a:cubicBezTo>
                  <a:cubicBezTo>
                    <a:pt x="1819010" y="2389838"/>
                    <a:pt x="1823582" y="2415270"/>
                    <a:pt x="1832345" y="2439082"/>
                  </a:cubicBezTo>
                  <a:cubicBezTo>
                    <a:pt x="1845013" y="2473372"/>
                    <a:pt x="1843965" y="2497185"/>
                    <a:pt x="1802817" y="2513663"/>
                  </a:cubicBezTo>
                  <a:cubicBezTo>
                    <a:pt x="1762050" y="2529951"/>
                    <a:pt x="1748048" y="2508995"/>
                    <a:pt x="1733475" y="2479944"/>
                  </a:cubicBezTo>
                  <a:cubicBezTo>
                    <a:pt x="1720712" y="2454417"/>
                    <a:pt x="1706519" y="2429652"/>
                    <a:pt x="1694708" y="2403744"/>
                  </a:cubicBezTo>
                  <a:cubicBezTo>
                    <a:pt x="1681183" y="2374122"/>
                    <a:pt x="1659466" y="2371645"/>
                    <a:pt x="1631748" y="2379646"/>
                  </a:cubicBezTo>
                  <a:cubicBezTo>
                    <a:pt x="1603745" y="2387647"/>
                    <a:pt x="1593839" y="2405459"/>
                    <a:pt x="1597553" y="2433177"/>
                  </a:cubicBezTo>
                  <a:cubicBezTo>
                    <a:pt x="1601935" y="2466133"/>
                    <a:pt x="1605269" y="2499280"/>
                    <a:pt x="1609841" y="2532237"/>
                  </a:cubicBezTo>
                  <a:cubicBezTo>
                    <a:pt x="1614698" y="2567193"/>
                    <a:pt x="1595553" y="2578909"/>
                    <a:pt x="1564978" y="2585862"/>
                  </a:cubicBezTo>
                  <a:cubicBezTo>
                    <a:pt x="1534022" y="2592911"/>
                    <a:pt x="1515638" y="2583671"/>
                    <a:pt x="1506780" y="2554239"/>
                  </a:cubicBezTo>
                  <a:cubicBezTo>
                    <a:pt x="1496779" y="2520806"/>
                    <a:pt x="1486968" y="2487374"/>
                    <a:pt x="1477919" y="2453751"/>
                  </a:cubicBezTo>
                  <a:cubicBezTo>
                    <a:pt x="1469156" y="2421080"/>
                    <a:pt x="1445820" y="2420413"/>
                    <a:pt x="1418293" y="2422699"/>
                  </a:cubicBezTo>
                  <a:cubicBezTo>
                    <a:pt x="1390385" y="2425080"/>
                    <a:pt x="1367810" y="2431271"/>
                    <a:pt x="1364953" y="2464228"/>
                  </a:cubicBezTo>
                  <a:cubicBezTo>
                    <a:pt x="1361714" y="2500518"/>
                    <a:pt x="1358762" y="2536809"/>
                    <a:pt x="1355714" y="2573099"/>
                  </a:cubicBezTo>
                  <a:cubicBezTo>
                    <a:pt x="1353237" y="2602817"/>
                    <a:pt x="1335806" y="2612628"/>
                    <a:pt x="1307517" y="2613104"/>
                  </a:cubicBezTo>
                  <a:cubicBezTo>
                    <a:pt x="1278275" y="2613580"/>
                    <a:pt x="1256939" y="2606246"/>
                    <a:pt x="1253415" y="2573861"/>
                  </a:cubicBezTo>
                  <a:cubicBezTo>
                    <a:pt x="1249510" y="2537666"/>
                    <a:pt x="1246367" y="2501376"/>
                    <a:pt x="1243700" y="2465085"/>
                  </a:cubicBezTo>
                  <a:cubicBezTo>
                    <a:pt x="1241699" y="2438320"/>
                    <a:pt x="1228079" y="2425937"/>
                    <a:pt x="1201409" y="2423747"/>
                  </a:cubicBezTo>
                  <a:cubicBezTo>
                    <a:pt x="1175024" y="2421651"/>
                    <a:pt x="1159022" y="2430700"/>
                    <a:pt x="1152355" y="2456989"/>
                  </a:cubicBezTo>
                  <a:cubicBezTo>
                    <a:pt x="1144163" y="2489184"/>
                    <a:pt x="1133876" y="2520902"/>
                    <a:pt x="1125971" y="2553192"/>
                  </a:cubicBezTo>
                  <a:cubicBezTo>
                    <a:pt x="1117303" y="2588910"/>
                    <a:pt x="1096824" y="2595006"/>
                    <a:pt x="1062248" y="2589196"/>
                  </a:cubicBezTo>
                  <a:cubicBezTo>
                    <a:pt x="1025387" y="2583005"/>
                    <a:pt x="1019481" y="2562050"/>
                    <a:pt x="1022148" y="2532141"/>
                  </a:cubicBezTo>
                  <a:cubicBezTo>
                    <a:pt x="1024720" y="2503757"/>
                    <a:pt x="1026339" y="2475087"/>
                    <a:pt x="1031768" y="2447178"/>
                  </a:cubicBezTo>
                  <a:cubicBezTo>
                    <a:pt x="1039579" y="2406602"/>
                    <a:pt x="1020053" y="2390409"/>
                    <a:pt x="983953" y="2380122"/>
                  </a:cubicBezTo>
                  <a:cubicBezTo>
                    <a:pt x="946710" y="2369549"/>
                    <a:pt x="927660" y="2383361"/>
                    <a:pt x="914135" y="2416412"/>
                  </a:cubicBezTo>
                  <a:cubicBezTo>
                    <a:pt x="903371" y="2442702"/>
                    <a:pt x="888893" y="2467467"/>
                    <a:pt x="876035" y="2492994"/>
                  </a:cubicBezTo>
                  <a:cubicBezTo>
                    <a:pt x="859461" y="2525855"/>
                    <a:pt x="836125" y="2525569"/>
                    <a:pt x="804883" y="2512520"/>
                  </a:cubicBezTo>
                  <a:cubicBezTo>
                    <a:pt x="773641" y="2499375"/>
                    <a:pt x="769831" y="2479944"/>
                    <a:pt x="778975" y="2452036"/>
                  </a:cubicBezTo>
                  <a:cubicBezTo>
                    <a:pt x="788405" y="2423461"/>
                    <a:pt x="796596" y="2394410"/>
                    <a:pt x="806788" y="2366120"/>
                  </a:cubicBezTo>
                  <a:cubicBezTo>
                    <a:pt x="818313" y="2333926"/>
                    <a:pt x="810598" y="2312971"/>
                    <a:pt x="778880" y="2296398"/>
                  </a:cubicBezTo>
                  <a:cubicBezTo>
                    <a:pt x="748209" y="2280395"/>
                    <a:pt x="729159" y="2287635"/>
                    <a:pt x="710585" y="2313638"/>
                  </a:cubicBezTo>
                  <a:cubicBezTo>
                    <a:pt x="691250" y="2340689"/>
                    <a:pt x="669628" y="2366120"/>
                    <a:pt x="648578" y="2391933"/>
                  </a:cubicBezTo>
                  <a:cubicBezTo>
                    <a:pt x="629909" y="2414888"/>
                    <a:pt x="610478" y="2413269"/>
                    <a:pt x="586760" y="2396982"/>
                  </a:cubicBezTo>
                  <a:cubicBezTo>
                    <a:pt x="563519" y="2380979"/>
                    <a:pt x="546089" y="2365835"/>
                    <a:pt x="562472" y="2335641"/>
                  </a:cubicBezTo>
                  <a:cubicBezTo>
                    <a:pt x="579045" y="2304970"/>
                    <a:pt x="594666" y="2273823"/>
                    <a:pt x="612573" y="2243915"/>
                  </a:cubicBezTo>
                  <a:cubicBezTo>
                    <a:pt x="630480" y="2214197"/>
                    <a:pt x="620003" y="2194956"/>
                    <a:pt x="595619" y="2175049"/>
                  </a:cubicBezTo>
                  <a:cubicBezTo>
                    <a:pt x="571235" y="2155142"/>
                    <a:pt x="549803" y="2148855"/>
                    <a:pt x="524372" y="2171811"/>
                  </a:cubicBezTo>
                  <a:cubicBezTo>
                    <a:pt x="499607" y="2194099"/>
                    <a:pt x="473984" y="2215435"/>
                    <a:pt x="448457" y="2236676"/>
                  </a:cubicBezTo>
                  <a:cubicBezTo>
                    <a:pt x="425216" y="2256012"/>
                    <a:pt x="405595" y="2254964"/>
                    <a:pt x="382735" y="2231818"/>
                  </a:cubicBezTo>
                  <a:cubicBezTo>
                    <a:pt x="359589" y="2208387"/>
                    <a:pt x="353588" y="2187527"/>
                    <a:pt x="375020" y="2161809"/>
                  </a:cubicBezTo>
                  <a:cubicBezTo>
                    <a:pt x="397308" y="2134949"/>
                    <a:pt x="419692" y="2108183"/>
                    <a:pt x="442838" y="2082180"/>
                  </a:cubicBezTo>
                  <a:cubicBezTo>
                    <a:pt x="463221" y="2059225"/>
                    <a:pt x="455887" y="2039985"/>
                    <a:pt x="438932" y="2019125"/>
                  </a:cubicBezTo>
                  <a:cubicBezTo>
                    <a:pt x="421692" y="1997979"/>
                    <a:pt x="403404" y="1988264"/>
                    <a:pt x="377496" y="2003123"/>
                  </a:cubicBezTo>
                  <a:cubicBezTo>
                    <a:pt x="347207" y="2020458"/>
                    <a:pt x="316822" y="2037413"/>
                    <a:pt x="286342" y="2054272"/>
                  </a:cubicBezTo>
                  <a:cubicBezTo>
                    <a:pt x="259672" y="2069036"/>
                    <a:pt x="239955" y="2064083"/>
                    <a:pt x="222334" y="2037222"/>
                  </a:cubicBezTo>
                  <a:cubicBezTo>
                    <a:pt x="204998" y="2010743"/>
                    <a:pt x="200045" y="1988645"/>
                    <a:pt x="227477" y="1967023"/>
                  </a:cubicBezTo>
                  <a:cubicBezTo>
                    <a:pt x="251099" y="1948354"/>
                    <a:pt x="274055" y="1928637"/>
                    <a:pt x="298534" y="1911111"/>
                  </a:cubicBezTo>
                  <a:cubicBezTo>
                    <a:pt x="325394" y="1891871"/>
                    <a:pt x="335300" y="1872344"/>
                    <a:pt x="318155" y="1839007"/>
                  </a:cubicBezTo>
                  <a:cubicBezTo>
                    <a:pt x="299867" y="1803479"/>
                    <a:pt x="276817" y="1800907"/>
                    <a:pt x="243956" y="1813670"/>
                  </a:cubicBezTo>
                  <a:cubicBezTo>
                    <a:pt x="215952" y="1824529"/>
                    <a:pt x="186710" y="1832435"/>
                    <a:pt x="158135" y="1841769"/>
                  </a:cubicBezTo>
                  <a:cubicBezTo>
                    <a:pt x="127560" y="1851770"/>
                    <a:pt x="111749" y="1838531"/>
                    <a:pt x="100128" y="1810337"/>
                  </a:cubicBezTo>
                  <a:cubicBezTo>
                    <a:pt x="88889" y="1783190"/>
                    <a:pt x="86888" y="1761759"/>
                    <a:pt x="116321" y="1746519"/>
                  </a:cubicBezTo>
                  <a:cubicBezTo>
                    <a:pt x="143086" y="1732613"/>
                    <a:pt x="169661" y="1718611"/>
                    <a:pt x="196616" y="1705085"/>
                  </a:cubicBezTo>
                  <a:cubicBezTo>
                    <a:pt x="223096" y="1691751"/>
                    <a:pt x="247099" y="1680130"/>
                    <a:pt x="234716" y="1640887"/>
                  </a:cubicBezTo>
                  <a:cubicBezTo>
                    <a:pt x="222905" y="1603263"/>
                    <a:pt x="201188" y="1595548"/>
                    <a:pt x="166232" y="1602882"/>
                  </a:cubicBezTo>
                  <a:cubicBezTo>
                    <a:pt x="139943" y="1608407"/>
                    <a:pt x="112892" y="1610216"/>
                    <a:pt x="86126" y="1613836"/>
                  </a:cubicBezTo>
                  <a:cubicBezTo>
                    <a:pt x="55742" y="1617836"/>
                    <a:pt x="35453" y="1611740"/>
                    <a:pt x="27452" y="1575926"/>
                  </a:cubicBezTo>
                  <a:cubicBezTo>
                    <a:pt x="19832" y="1541732"/>
                    <a:pt x="24690" y="1520491"/>
                    <a:pt x="60409" y="1510776"/>
                  </a:cubicBezTo>
                  <a:cubicBezTo>
                    <a:pt x="89460" y="1502870"/>
                    <a:pt x="117845" y="1492392"/>
                    <a:pt x="147086" y="1485534"/>
                  </a:cubicBezTo>
                  <a:cubicBezTo>
                    <a:pt x="180519" y="1477724"/>
                    <a:pt x="195569" y="1460483"/>
                    <a:pt x="190425" y="1424669"/>
                  </a:cubicBezTo>
                  <a:cubicBezTo>
                    <a:pt x="185758" y="1391999"/>
                    <a:pt x="178900" y="1365995"/>
                    <a:pt x="137466" y="1366567"/>
                  </a:cubicBezTo>
                  <a:cubicBezTo>
                    <a:pt x="110701" y="1366948"/>
                    <a:pt x="83840" y="1361900"/>
                    <a:pt x="56980" y="1360281"/>
                  </a:cubicBezTo>
                  <a:cubicBezTo>
                    <a:pt x="24023" y="1358280"/>
                    <a:pt x="782" y="1352279"/>
                    <a:pt x="20" y="1308845"/>
                  </a:cubicBezTo>
                  <a:cubicBezTo>
                    <a:pt x="-742" y="1264268"/>
                    <a:pt x="19928" y="1254172"/>
                    <a:pt x="57170" y="1253219"/>
                  </a:cubicBezTo>
                  <a:cubicBezTo>
                    <a:pt x="84031" y="1252553"/>
                    <a:pt x="110796" y="1246933"/>
                    <a:pt x="137657" y="1246743"/>
                  </a:cubicBezTo>
                  <a:cubicBezTo>
                    <a:pt x="171947" y="1246552"/>
                    <a:pt x="184805" y="1228645"/>
                    <a:pt x="188996" y="1197403"/>
                  </a:cubicBezTo>
                  <a:cubicBezTo>
                    <a:pt x="193378" y="1164827"/>
                    <a:pt x="176423" y="1150826"/>
                    <a:pt x="148801" y="1143396"/>
                  </a:cubicBezTo>
                  <a:cubicBezTo>
                    <a:pt x="121274" y="1135967"/>
                    <a:pt x="93746" y="1128537"/>
                    <a:pt x="66219" y="1121108"/>
                  </a:cubicBezTo>
                  <a:cubicBezTo>
                    <a:pt x="36311" y="1113011"/>
                    <a:pt x="14308" y="1101772"/>
                    <a:pt x="21547" y="1062243"/>
                  </a:cubicBezTo>
                  <a:cubicBezTo>
                    <a:pt x="28405" y="1024810"/>
                    <a:pt x="45455" y="1008903"/>
                    <a:pt x="82983" y="1015475"/>
                  </a:cubicBezTo>
                  <a:close/>
                  <a:moveTo>
                    <a:pt x="1314375" y="2266394"/>
                  </a:moveTo>
                  <a:cubicBezTo>
                    <a:pt x="1845870" y="2266394"/>
                    <a:pt x="2272876" y="1840150"/>
                    <a:pt x="2272971" y="1309226"/>
                  </a:cubicBezTo>
                  <a:cubicBezTo>
                    <a:pt x="2273162" y="779636"/>
                    <a:pt x="1844060" y="351297"/>
                    <a:pt x="1313613" y="351202"/>
                  </a:cubicBezTo>
                  <a:cubicBezTo>
                    <a:pt x="787452" y="351202"/>
                    <a:pt x="355589" y="779065"/>
                    <a:pt x="355398" y="1300368"/>
                  </a:cubicBezTo>
                  <a:cubicBezTo>
                    <a:pt x="355208" y="1841293"/>
                    <a:pt x="777165" y="2266394"/>
                    <a:pt x="1314280" y="2266394"/>
                  </a:cubicBezTo>
                  <a:close/>
                </a:path>
              </a:pathLst>
            </a:custGeom>
            <a:solidFill>
              <a:srgbClr val="1772B9"/>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6" name="Freeform: Shape 5">
              <a:extLst>
                <a:ext uri="{FF2B5EF4-FFF2-40B4-BE49-F238E27FC236}">
                  <a16:creationId xmlns:a16="http://schemas.microsoft.com/office/drawing/2014/main" id="{4100E5B2-A878-5E75-5BCA-E5B8C02E993F}"/>
                </a:ext>
              </a:extLst>
            </p:cNvPr>
            <p:cNvSpPr/>
            <p:nvPr/>
          </p:nvSpPr>
          <p:spPr>
            <a:xfrm>
              <a:off x="5140986" y="2467641"/>
              <a:ext cx="1917573" cy="1915191"/>
            </a:xfrm>
            <a:custGeom>
              <a:avLst/>
              <a:gdLst>
                <a:gd name="connsiteX0" fmla="*/ 958882 w 1917573"/>
                <a:gd name="connsiteY0" fmla="*/ 1915192 h 1915191"/>
                <a:gd name="connsiteX1" fmla="*/ 0 w 1917573"/>
                <a:gd name="connsiteY1" fmla="*/ 949166 h 1915191"/>
                <a:gd name="connsiteX2" fmla="*/ 958215 w 1917573"/>
                <a:gd name="connsiteY2" fmla="*/ 0 h 1915191"/>
                <a:gd name="connsiteX3" fmla="*/ 1917573 w 1917573"/>
                <a:gd name="connsiteY3" fmla="*/ 958024 h 1915191"/>
                <a:gd name="connsiteX4" fmla="*/ 958977 w 1917573"/>
                <a:gd name="connsiteY4" fmla="*/ 1915192 h 1915191"/>
                <a:gd name="connsiteX5" fmla="*/ 1416463 w 1917573"/>
                <a:gd name="connsiteY5" fmla="*/ 1583531 h 1915191"/>
                <a:gd name="connsiteX6" fmla="*/ 1584674 w 1917573"/>
                <a:gd name="connsiteY6" fmla="*/ 1410081 h 1915191"/>
                <a:gd name="connsiteX7" fmla="*/ 1573625 w 1917573"/>
                <a:gd name="connsiteY7" fmla="*/ 1339882 h 1915191"/>
                <a:gd name="connsiteX8" fmla="*/ 1402366 w 1917573"/>
                <a:gd name="connsiteY8" fmla="*/ 998315 h 1915191"/>
                <a:gd name="connsiteX9" fmla="*/ 1402461 w 1917573"/>
                <a:gd name="connsiteY9" fmla="*/ 909542 h 1915191"/>
                <a:gd name="connsiteX10" fmla="*/ 1582960 w 1917573"/>
                <a:gd name="connsiteY10" fmla="*/ 506730 h 1915191"/>
                <a:gd name="connsiteX11" fmla="*/ 1395889 w 1917573"/>
                <a:gd name="connsiteY11" fmla="*/ 325565 h 1915191"/>
                <a:gd name="connsiteX12" fmla="*/ 1219200 w 1917573"/>
                <a:gd name="connsiteY12" fmla="*/ 378142 h 1915191"/>
                <a:gd name="connsiteX13" fmla="*/ 1172813 w 1917573"/>
                <a:gd name="connsiteY13" fmla="*/ 357759 h 1915191"/>
                <a:gd name="connsiteX14" fmla="*/ 1078516 w 1917573"/>
                <a:gd name="connsiteY14" fmla="*/ 188595 h 1915191"/>
                <a:gd name="connsiteX15" fmla="*/ 829437 w 1917573"/>
                <a:gd name="connsiteY15" fmla="*/ 186785 h 1915191"/>
                <a:gd name="connsiteX16" fmla="*/ 732187 w 1917573"/>
                <a:gd name="connsiteY16" fmla="*/ 359664 h 1915191"/>
                <a:gd name="connsiteX17" fmla="*/ 689039 w 1917573"/>
                <a:gd name="connsiteY17" fmla="*/ 376142 h 1915191"/>
                <a:gd name="connsiteX18" fmla="*/ 531305 w 1917573"/>
                <a:gd name="connsiteY18" fmla="*/ 325565 h 1915191"/>
                <a:gd name="connsiteX19" fmla="*/ 326041 w 1917573"/>
                <a:gd name="connsiteY19" fmla="*/ 530828 h 1915191"/>
                <a:gd name="connsiteX20" fmla="*/ 494824 w 1917573"/>
                <a:gd name="connsiteY20" fmla="*/ 893636 h 1915191"/>
                <a:gd name="connsiteX21" fmla="*/ 495681 w 1917573"/>
                <a:gd name="connsiteY21" fmla="*/ 1014413 h 1915191"/>
                <a:gd name="connsiteX22" fmla="*/ 324898 w 1917573"/>
                <a:gd name="connsiteY22" fmla="*/ 1381316 h 1915191"/>
                <a:gd name="connsiteX23" fmla="*/ 515207 w 1917573"/>
                <a:gd name="connsiteY23" fmla="*/ 1585055 h 1915191"/>
                <a:gd name="connsiteX24" fmla="*/ 669608 w 1917573"/>
                <a:gd name="connsiteY24" fmla="*/ 1540764 h 1915191"/>
                <a:gd name="connsiteX25" fmla="*/ 740474 w 1917573"/>
                <a:gd name="connsiteY25" fmla="*/ 1572101 h 1915191"/>
                <a:gd name="connsiteX26" fmla="*/ 844296 w 1917573"/>
                <a:gd name="connsiteY26" fmla="*/ 1740599 h 1915191"/>
                <a:gd name="connsiteX27" fmla="*/ 1063371 w 1917573"/>
                <a:gd name="connsiteY27" fmla="*/ 1738503 h 1915191"/>
                <a:gd name="connsiteX28" fmla="*/ 1173671 w 1917573"/>
                <a:gd name="connsiteY28" fmla="*/ 1551908 h 1915191"/>
                <a:gd name="connsiteX29" fmla="*/ 1220343 w 1917573"/>
                <a:gd name="connsiteY29" fmla="*/ 1531620 h 1915191"/>
                <a:gd name="connsiteX30" fmla="*/ 1416272 w 1917573"/>
                <a:gd name="connsiteY30" fmla="*/ 1583531 h 191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7573" h="1915191">
                  <a:moveTo>
                    <a:pt x="958882" y="1915192"/>
                  </a:moveTo>
                  <a:cubicBezTo>
                    <a:pt x="421767" y="1915192"/>
                    <a:pt x="-190" y="1490091"/>
                    <a:pt x="0" y="949166"/>
                  </a:cubicBezTo>
                  <a:cubicBezTo>
                    <a:pt x="191" y="427863"/>
                    <a:pt x="432054" y="0"/>
                    <a:pt x="958215" y="0"/>
                  </a:cubicBezTo>
                  <a:cubicBezTo>
                    <a:pt x="1488662" y="0"/>
                    <a:pt x="1917668" y="428435"/>
                    <a:pt x="1917573" y="958024"/>
                  </a:cubicBezTo>
                  <a:cubicBezTo>
                    <a:pt x="1917383" y="1488853"/>
                    <a:pt x="1490472" y="1915192"/>
                    <a:pt x="958977" y="1915192"/>
                  </a:cubicBezTo>
                  <a:close/>
                  <a:moveTo>
                    <a:pt x="1416463" y="1583531"/>
                  </a:moveTo>
                  <a:cubicBezTo>
                    <a:pt x="1529715" y="1585722"/>
                    <a:pt x="1592485" y="1521428"/>
                    <a:pt x="1584674" y="1410081"/>
                  </a:cubicBezTo>
                  <a:cubicBezTo>
                    <a:pt x="1583055" y="1386554"/>
                    <a:pt x="1579150" y="1362837"/>
                    <a:pt x="1573625" y="1339882"/>
                  </a:cubicBezTo>
                  <a:cubicBezTo>
                    <a:pt x="1543241" y="1212818"/>
                    <a:pt x="1477899" y="1102424"/>
                    <a:pt x="1402366" y="998315"/>
                  </a:cubicBezTo>
                  <a:cubicBezTo>
                    <a:pt x="1377410" y="963930"/>
                    <a:pt x="1378172" y="943642"/>
                    <a:pt x="1402461" y="909542"/>
                  </a:cubicBezTo>
                  <a:cubicBezTo>
                    <a:pt x="1489043" y="787622"/>
                    <a:pt x="1566672" y="660464"/>
                    <a:pt x="1582960" y="506730"/>
                  </a:cubicBezTo>
                  <a:cubicBezTo>
                    <a:pt x="1596009" y="383953"/>
                    <a:pt x="1518380" y="309467"/>
                    <a:pt x="1395889" y="325565"/>
                  </a:cubicBezTo>
                  <a:cubicBezTo>
                    <a:pt x="1334072" y="333661"/>
                    <a:pt x="1274636" y="350139"/>
                    <a:pt x="1219200" y="378142"/>
                  </a:cubicBezTo>
                  <a:cubicBezTo>
                    <a:pt x="1191578" y="392049"/>
                    <a:pt x="1182243" y="385096"/>
                    <a:pt x="1172813" y="357759"/>
                  </a:cubicBezTo>
                  <a:cubicBezTo>
                    <a:pt x="1151573" y="296132"/>
                    <a:pt x="1121950" y="238220"/>
                    <a:pt x="1078516" y="188595"/>
                  </a:cubicBezTo>
                  <a:cubicBezTo>
                    <a:pt x="1001554" y="100775"/>
                    <a:pt x="908114" y="100203"/>
                    <a:pt x="829437" y="186785"/>
                  </a:cubicBezTo>
                  <a:cubicBezTo>
                    <a:pt x="783908" y="236887"/>
                    <a:pt x="754761" y="296990"/>
                    <a:pt x="732187" y="359664"/>
                  </a:cubicBezTo>
                  <a:cubicBezTo>
                    <a:pt x="722186" y="387572"/>
                    <a:pt x="711994" y="387572"/>
                    <a:pt x="689039" y="376142"/>
                  </a:cubicBezTo>
                  <a:cubicBezTo>
                    <a:pt x="639223" y="351282"/>
                    <a:pt x="586169" y="335280"/>
                    <a:pt x="531305" y="325565"/>
                  </a:cubicBezTo>
                  <a:cubicBezTo>
                    <a:pt x="385191" y="299752"/>
                    <a:pt x="300800" y="384524"/>
                    <a:pt x="326041" y="530828"/>
                  </a:cubicBezTo>
                  <a:cubicBezTo>
                    <a:pt x="349568" y="667036"/>
                    <a:pt x="415481" y="784289"/>
                    <a:pt x="494824" y="893636"/>
                  </a:cubicBezTo>
                  <a:cubicBezTo>
                    <a:pt x="527399" y="938498"/>
                    <a:pt x="531114" y="966883"/>
                    <a:pt x="495681" y="1014413"/>
                  </a:cubicBezTo>
                  <a:cubicBezTo>
                    <a:pt x="414052" y="1123950"/>
                    <a:pt x="348329" y="1243489"/>
                    <a:pt x="324898" y="1381316"/>
                  </a:cubicBezTo>
                  <a:cubicBezTo>
                    <a:pt x="301276" y="1520095"/>
                    <a:pt x="376238" y="1600105"/>
                    <a:pt x="515207" y="1585055"/>
                  </a:cubicBezTo>
                  <a:cubicBezTo>
                    <a:pt x="569405" y="1579245"/>
                    <a:pt x="622649" y="1566196"/>
                    <a:pt x="669608" y="1540764"/>
                  </a:cubicBezTo>
                  <a:cubicBezTo>
                    <a:pt x="713994" y="1516761"/>
                    <a:pt x="725900" y="1531049"/>
                    <a:pt x="740474" y="1572101"/>
                  </a:cubicBezTo>
                  <a:cubicBezTo>
                    <a:pt x="762762" y="1634871"/>
                    <a:pt x="794576" y="1693926"/>
                    <a:pt x="844296" y="1740599"/>
                  </a:cubicBezTo>
                  <a:cubicBezTo>
                    <a:pt x="914972" y="1806988"/>
                    <a:pt x="993743" y="1806131"/>
                    <a:pt x="1063371" y="1738503"/>
                  </a:cubicBezTo>
                  <a:cubicBezTo>
                    <a:pt x="1116997" y="1686401"/>
                    <a:pt x="1148239" y="1620488"/>
                    <a:pt x="1173671" y="1551908"/>
                  </a:cubicBezTo>
                  <a:cubicBezTo>
                    <a:pt x="1183481" y="1525619"/>
                    <a:pt x="1191768" y="1518095"/>
                    <a:pt x="1220343" y="1531620"/>
                  </a:cubicBezTo>
                  <a:cubicBezTo>
                    <a:pt x="1281970" y="1560862"/>
                    <a:pt x="1346549" y="1583055"/>
                    <a:pt x="1416272" y="1583531"/>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7" name="Freeform: Shape 6">
              <a:extLst>
                <a:ext uri="{FF2B5EF4-FFF2-40B4-BE49-F238E27FC236}">
                  <a16:creationId xmlns:a16="http://schemas.microsoft.com/office/drawing/2014/main" id="{4EC5BFD0-ABE9-CC1C-D8A9-2901230B0CFB}"/>
                </a:ext>
              </a:extLst>
            </p:cNvPr>
            <p:cNvSpPr/>
            <p:nvPr/>
          </p:nvSpPr>
          <p:spPr>
            <a:xfrm>
              <a:off x="5466377" y="2590023"/>
              <a:ext cx="1264748" cy="1667527"/>
            </a:xfrm>
            <a:custGeom>
              <a:avLst/>
              <a:gdLst>
                <a:gd name="connsiteX0" fmla="*/ 1095681 w 1264748"/>
                <a:gd name="connsiteY0" fmla="*/ 1461245 h 1667527"/>
                <a:gd name="connsiteX1" fmla="*/ 899752 w 1264748"/>
                <a:gd name="connsiteY1" fmla="*/ 1409334 h 1667527"/>
                <a:gd name="connsiteX2" fmla="*/ 853079 w 1264748"/>
                <a:gd name="connsiteY2" fmla="*/ 1429622 h 1667527"/>
                <a:gd name="connsiteX3" fmla="*/ 742780 w 1264748"/>
                <a:gd name="connsiteY3" fmla="*/ 1616217 h 1667527"/>
                <a:gd name="connsiteX4" fmla="*/ 523705 w 1264748"/>
                <a:gd name="connsiteY4" fmla="*/ 1618313 h 1667527"/>
                <a:gd name="connsiteX5" fmla="*/ 419882 w 1264748"/>
                <a:gd name="connsiteY5" fmla="*/ 1449815 h 1667527"/>
                <a:gd name="connsiteX6" fmla="*/ 349016 w 1264748"/>
                <a:gd name="connsiteY6" fmla="*/ 1418478 h 1667527"/>
                <a:gd name="connsiteX7" fmla="*/ 194616 w 1264748"/>
                <a:gd name="connsiteY7" fmla="*/ 1462769 h 1667527"/>
                <a:gd name="connsiteX8" fmla="*/ 4307 w 1264748"/>
                <a:gd name="connsiteY8" fmla="*/ 1259030 h 1667527"/>
                <a:gd name="connsiteX9" fmla="*/ 175090 w 1264748"/>
                <a:gd name="connsiteY9" fmla="*/ 892127 h 1667527"/>
                <a:gd name="connsiteX10" fmla="*/ 174233 w 1264748"/>
                <a:gd name="connsiteY10" fmla="*/ 771349 h 1667527"/>
                <a:gd name="connsiteX11" fmla="*/ 5450 w 1264748"/>
                <a:gd name="connsiteY11" fmla="*/ 408542 h 1667527"/>
                <a:gd name="connsiteX12" fmla="*/ 210713 w 1264748"/>
                <a:gd name="connsiteY12" fmla="*/ 203278 h 1667527"/>
                <a:gd name="connsiteX13" fmla="*/ 368447 w 1264748"/>
                <a:gd name="connsiteY13" fmla="*/ 253856 h 1667527"/>
                <a:gd name="connsiteX14" fmla="*/ 411596 w 1264748"/>
                <a:gd name="connsiteY14" fmla="*/ 237378 h 1667527"/>
                <a:gd name="connsiteX15" fmla="*/ 508846 w 1264748"/>
                <a:gd name="connsiteY15" fmla="*/ 64499 h 1667527"/>
                <a:gd name="connsiteX16" fmla="*/ 757925 w 1264748"/>
                <a:gd name="connsiteY16" fmla="*/ 66309 h 1667527"/>
                <a:gd name="connsiteX17" fmla="*/ 852222 w 1264748"/>
                <a:gd name="connsiteY17" fmla="*/ 235473 h 1667527"/>
                <a:gd name="connsiteX18" fmla="*/ 898609 w 1264748"/>
                <a:gd name="connsiteY18" fmla="*/ 255856 h 1667527"/>
                <a:gd name="connsiteX19" fmla="*/ 1075298 w 1264748"/>
                <a:gd name="connsiteY19" fmla="*/ 203278 h 1667527"/>
                <a:gd name="connsiteX20" fmla="*/ 1262369 w 1264748"/>
                <a:gd name="connsiteY20" fmla="*/ 384444 h 1667527"/>
                <a:gd name="connsiteX21" fmla="*/ 1081870 w 1264748"/>
                <a:gd name="connsiteY21" fmla="*/ 787256 h 1667527"/>
                <a:gd name="connsiteX22" fmla="*/ 1081775 w 1264748"/>
                <a:gd name="connsiteY22" fmla="*/ 876029 h 1667527"/>
                <a:gd name="connsiteX23" fmla="*/ 1253034 w 1264748"/>
                <a:gd name="connsiteY23" fmla="*/ 1217596 h 1667527"/>
                <a:gd name="connsiteX24" fmla="*/ 1264083 w 1264748"/>
                <a:gd name="connsiteY24" fmla="*/ 1287795 h 1667527"/>
                <a:gd name="connsiteX25" fmla="*/ 1095872 w 1264748"/>
                <a:gd name="connsiteY25" fmla="*/ 1461245 h 1667527"/>
                <a:gd name="connsiteX26" fmla="*/ 920231 w 1264748"/>
                <a:gd name="connsiteY26" fmla="*/ 831262 h 1667527"/>
                <a:gd name="connsiteX27" fmla="*/ 888417 w 1264748"/>
                <a:gd name="connsiteY27" fmla="*/ 680290 h 1667527"/>
                <a:gd name="connsiteX28" fmla="*/ 661913 w 1264748"/>
                <a:gd name="connsiteY28" fmla="*/ 470836 h 1667527"/>
                <a:gd name="connsiteX29" fmla="*/ 606382 w 1264748"/>
                <a:gd name="connsiteY29" fmla="*/ 471312 h 1667527"/>
                <a:gd name="connsiteX30" fmla="*/ 373781 w 1264748"/>
                <a:gd name="connsiteY30" fmla="*/ 688006 h 1667527"/>
                <a:gd name="connsiteX31" fmla="*/ 360351 w 1264748"/>
                <a:gd name="connsiteY31" fmla="*/ 960897 h 1667527"/>
                <a:gd name="connsiteX32" fmla="*/ 366447 w 1264748"/>
                <a:gd name="connsiteY32" fmla="*/ 968231 h 1667527"/>
                <a:gd name="connsiteX33" fmla="*/ 609049 w 1264748"/>
                <a:gd name="connsiteY33" fmla="*/ 1195022 h 1667527"/>
                <a:gd name="connsiteX34" fmla="*/ 661055 w 1264748"/>
                <a:gd name="connsiteY34" fmla="*/ 1193402 h 1667527"/>
                <a:gd name="connsiteX35" fmla="*/ 841173 w 1264748"/>
                <a:gd name="connsiteY35" fmla="*/ 1031668 h 1667527"/>
                <a:gd name="connsiteX36" fmla="*/ 920326 w 1264748"/>
                <a:gd name="connsiteY36" fmla="*/ 831262 h 1667527"/>
                <a:gd name="connsiteX37" fmla="*/ 230716 w 1264748"/>
                <a:gd name="connsiteY37" fmla="*/ 859837 h 1667527"/>
                <a:gd name="connsiteX38" fmla="*/ 41264 w 1264748"/>
                <a:gd name="connsiteY38" fmla="*/ 1214357 h 1667527"/>
                <a:gd name="connsiteX39" fmla="*/ 29929 w 1264748"/>
                <a:gd name="connsiteY39" fmla="*/ 1312846 h 1667527"/>
                <a:gd name="connsiteX40" fmla="*/ 154135 w 1264748"/>
                <a:gd name="connsiteY40" fmla="*/ 1437147 h 1667527"/>
                <a:gd name="connsiteX41" fmla="*/ 359208 w 1264748"/>
                <a:gd name="connsiteY41" fmla="*/ 1385236 h 1667527"/>
                <a:gd name="connsiteX42" fmla="*/ 380639 w 1264748"/>
                <a:gd name="connsiteY42" fmla="*/ 1335230 h 1667527"/>
                <a:gd name="connsiteX43" fmla="*/ 332252 w 1264748"/>
                <a:gd name="connsiteY43" fmla="*/ 1070149 h 1667527"/>
                <a:gd name="connsiteX44" fmla="*/ 230621 w 1264748"/>
                <a:gd name="connsiteY44" fmla="*/ 859741 h 1667527"/>
                <a:gd name="connsiteX45" fmla="*/ 30215 w 1264748"/>
                <a:gd name="connsiteY45" fmla="*/ 394826 h 1667527"/>
                <a:gd name="connsiteX46" fmla="*/ 222239 w 1264748"/>
                <a:gd name="connsiteY46" fmla="*/ 792685 h 1667527"/>
                <a:gd name="connsiteX47" fmla="*/ 240050 w 1264748"/>
                <a:gd name="connsiteY47" fmla="*/ 798877 h 1667527"/>
                <a:gd name="connsiteX48" fmla="*/ 322537 w 1264748"/>
                <a:gd name="connsiteY48" fmla="*/ 680671 h 1667527"/>
                <a:gd name="connsiteX49" fmla="*/ 383402 w 1264748"/>
                <a:gd name="connsiteY49" fmla="*/ 320722 h 1667527"/>
                <a:gd name="connsiteX50" fmla="*/ 365114 w 1264748"/>
                <a:gd name="connsiteY50" fmla="*/ 281764 h 1667527"/>
                <a:gd name="connsiteX51" fmla="*/ 179186 w 1264748"/>
                <a:gd name="connsiteY51" fmla="*/ 227377 h 1667527"/>
                <a:gd name="connsiteX52" fmla="*/ 30215 w 1264748"/>
                <a:gd name="connsiteY52" fmla="*/ 394731 h 1667527"/>
                <a:gd name="connsiteX53" fmla="*/ 1100634 w 1264748"/>
                <a:gd name="connsiteY53" fmla="*/ 230044 h 1667527"/>
                <a:gd name="connsiteX54" fmla="*/ 904895 w 1264748"/>
                <a:gd name="connsiteY54" fmla="*/ 281860 h 1667527"/>
                <a:gd name="connsiteX55" fmla="*/ 882988 w 1264748"/>
                <a:gd name="connsiteY55" fmla="*/ 328246 h 1667527"/>
                <a:gd name="connsiteX56" fmla="*/ 933089 w 1264748"/>
                <a:gd name="connsiteY56" fmla="*/ 602852 h 1667527"/>
                <a:gd name="connsiteX57" fmla="*/ 1014147 w 1264748"/>
                <a:gd name="connsiteY57" fmla="*/ 786589 h 1667527"/>
                <a:gd name="connsiteX58" fmla="*/ 1051676 w 1264748"/>
                <a:gd name="connsiteY58" fmla="*/ 783446 h 1667527"/>
                <a:gd name="connsiteX59" fmla="*/ 1204076 w 1264748"/>
                <a:gd name="connsiteY59" fmla="*/ 510936 h 1667527"/>
                <a:gd name="connsiteX60" fmla="*/ 1236937 w 1264748"/>
                <a:gd name="connsiteY60" fmla="*/ 373109 h 1667527"/>
                <a:gd name="connsiteX61" fmla="*/ 1100634 w 1264748"/>
                <a:gd name="connsiteY61" fmla="*/ 230044 h 1667527"/>
                <a:gd name="connsiteX62" fmla="*/ 1034245 w 1264748"/>
                <a:gd name="connsiteY62" fmla="*/ 855836 h 1667527"/>
                <a:gd name="connsiteX63" fmla="*/ 935947 w 1264748"/>
                <a:gd name="connsiteY63" fmla="*/ 1031382 h 1667527"/>
                <a:gd name="connsiteX64" fmla="*/ 884512 w 1264748"/>
                <a:gd name="connsiteY64" fmla="*/ 1335134 h 1667527"/>
                <a:gd name="connsiteX65" fmla="*/ 904514 w 1264748"/>
                <a:gd name="connsiteY65" fmla="*/ 1382093 h 1667527"/>
                <a:gd name="connsiteX66" fmla="*/ 1057962 w 1264748"/>
                <a:gd name="connsiteY66" fmla="*/ 1430670 h 1667527"/>
                <a:gd name="connsiteX67" fmla="*/ 1231508 w 1264748"/>
                <a:gd name="connsiteY67" fmla="*/ 1249695 h 1667527"/>
                <a:gd name="connsiteX68" fmla="*/ 1034340 w 1264748"/>
                <a:gd name="connsiteY68" fmla="*/ 855931 h 1667527"/>
                <a:gd name="connsiteX69" fmla="*/ 635624 w 1264748"/>
                <a:gd name="connsiteY69" fmla="*/ 1638315 h 1667527"/>
                <a:gd name="connsiteX70" fmla="*/ 721730 w 1264748"/>
                <a:gd name="connsiteY70" fmla="*/ 1597357 h 1667527"/>
                <a:gd name="connsiteX71" fmla="*/ 835268 w 1264748"/>
                <a:gd name="connsiteY71" fmla="*/ 1401905 h 1667527"/>
                <a:gd name="connsiteX72" fmla="*/ 818408 w 1264748"/>
                <a:gd name="connsiteY72" fmla="*/ 1369424 h 1667527"/>
                <a:gd name="connsiteX73" fmla="*/ 654959 w 1264748"/>
                <a:gd name="connsiteY73" fmla="*/ 1263887 h 1667527"/>
                <a:gd name="connsiteX74" fmla="*/ 614288 w 1264748"/>
                <a:gd name="connsiteY74" fmla="*/ 1263411 h 1667527"/>
                <a:gd name="connsiteX75" fmla="*/ 446933 w 1264748"/>
                <a:gd name="connsiteY75" fmla="*/ 1371520 h 1667527"/>
                <a:gd name="connsiteX76" fmla="*/ 432360 w 1264748"/>
                <a:gd name="connsiteY76" fmla="*/ 1409239 h 1667527"/>
                <a:gd name="connsiteX77" fmla="*/ 525515 w 1264748"/>
                <a:gd name="connsiteY77" fmla="*/ 1578974 h 1667527"/>
                <a:gd name="connsiteX78" fmla="*/ 635624 w 1264748"/>
                <a:gd name="connsiteY78" fmla="*/ 1638220 h 1667527"/>
                <a:gd name="connsiteX79" fmla="*/ 631623 w 1264748"/>
                <a:gd name="connsiteY79" fmla="*/ 27447 h 1667527"/>
                <a:gd name="connsiteX80" fmla="*/ 547136 w 1264748"/>
                <a:gd name="connsiteY80" fmla="*/ 65452 h 1667527"/>
                <a:gd name="connsiteX81" fmla="*/ 431789 w 1264748"/>
                <a:gd name="connsiteY81" fmla="*/ 259000 h 1667527"/>
                <a:gd name="connsiteX82" fmla="*/ 451029 w 1264748"/>
                <a:gd name="connsiteY82" fmla="*/ 294814 h 1667527"/>
                <a:gd name="connsiteX83" fmla="*/ 609620 w 1264748"/>
                <a:gd name="connsiteY83" fmla="*/ 398065 h 1667527"/>
                <a:gd name="connsiteX84" fmla="*/ 659055 w 1264748"/>
                <a:gd name="connsiteY84" fmla="*/ 397303 h 1667527"/>
                <a:gd name="connsiteX85" fmla="*/ 818122 w 1264748"/>
                <a:gd name="connsiteY85" fmla="*/ 294909 h 1667527"/>
                <a:gd name="connsiteX86" fmla="*/ 833648 w 1264748"/>
                <a:gd name="connsiteY86" fmla="*/ 262238 h 1667527"/>
                <a:gd name="connsiteX87" fmla="*/ 719348 w 1264748"/>
                <a:gd name="connsiteY87" fmla="*/ 68023 h 1667527"/>
                <a:gd name="connsiteX88" fmla="*/ 631433 w 1264748"/>
                <a:gd name="connsiteY88" fmla="*/ 27447 h 1667527"/>
                <a:gd name="connsiteX89" fmla="*/ 609906 w 1264748"/>
                <a:gd name="connsiteY89" fmla="*/ 1231216 h 1667527"/>
                <a:gd name="connsiteX90" fmla="*/ 352160 w 1264748"/>
                <a:gd name="connsiteY90" fmla="*/ 996235 h 1667527"/>
                <a:gd name="connsiteX91" fmla="*/ 406357 w 1264748"/>
                <a:gd name="connsiteY91" fmla="*/ 1329705 h 1667527"/>
                <a:gd name="connsiteX92" fmla="*/ 442266 w 1264748"/>
                <a:gd name="connsiteY92" fmla="*/ 1343040 h 1667527"/>
                <a:gd name="connsiteX93" fmla="*/ 609906 w 1264748"/>
                <a:gd name="connsiteY93" fmla="*/ 1231121 h 1667527"/>
                <a:gd name="connsiteX94" fmla="*/ 610097 w 1264748"/>
                <a:gd name="connsiteY94" fmla="*/ 433688 h 1667527"/>
                <a:gd name="connsiteX95" fmla="*/ 439885 w 1264748"/>
                <a:gd name="connsiteY95" fmla="*/ 320245 h 1667527"/>
                <a:gd name="connsiteX96" fmla="*/ 409119 w 1264748"/>
                <a:gd name="connsiteY96" fmla="*/ 330056 h 1667527"/>
                <a:gd name="connsiteX97" fmla="*/ 352731 w 1264748"/>
                <a:gd name="connsiteY97" fmla="*/ 668765 h 1667527"/>
                <a:gd name="connsiteX98" fmla="*/ 610097 w 1264748"/>
                <a:gd name="connsiteY98" fmla="*/ 433783 h 1667527"/>
                <a:gd name="connsiteX99" fmla="*/ 914325 w 1264748"/>
                <a:gd name="connsiteY99" fmla="*/ 668289 h 1667527"/>
                <a:gd name="connsiteX100" fmla="*/ 858318 w 1264748"/>
                <a:gd name="connsiteY100" fmla="*/ 339391 h 1667527"/>
                <a:gd name="connsiteX101" fmla="*/ 823838 w 1264748"/>
                <a:gd name="connsiteY101" fmla="*/ 323198 h 1667527"/>
                <a:gd name="connsiteX102" fmla="*/ 676391 w 1264748"/>
                <a:gd name="connsiteY102" fmla="*/ 418543 h 1667527"/>
                <a:gd name="connsiteX103" fmla="*/ 673247 w 1264748"/>
                <a:gd name="connsiteY103" fmla="*/ 445880 h 1667527"/>
                <a:gd name="connsiteX104" fmla="*/ 914325 w 1264748"/>
                <a:gd name="connsiteY104" fmla="*/ 668289 h 1667527"/>
                <a:gd name="connsiteX105" fmla="*/ 656864 w 1264748"/>
                <a:gd name="connsiteY105" fmla="*/ 1232931 h 1667527"/>
                <a:gd name="connsiteX106" fmla="*/ 775260 w 1264748"/>
                <a:gd name="connsiteY106" fmla="*/ 1312179 h 1667527"/>
                <a:gd name="connsiteX107" fmla="*/ 872796 w 1264748"/>
                <a:gd name="connsiteY107" fmla="*/ 1271698 h 1667527"/>
                <a:gd name="connsiteX108" fmla="*/ 912515 w 1264748"/>
                <a:gd name="connsiteY108" fmla="*/ 996616 h 1667527"/>
                <a:gd name="connsiteX109" fmla="*/ 656864 w 1264748"/>
                <a:gd name="connsiteY109" fmla="*/ 1232931 h 1667527"/>
                <a:gd name="connsiteX110" fmla="*/ 947853 w 1264748"/>
                <a:gd name="connsiteY110" fmla="*/ 756586 h 1667527"/>
                <a:gd name="connsiteX111" fmla="*/ 947853 w 1264748"/>
                <a:gd name="connsiteY111" fmla="*/ 910986 h 1667527"/>
                <a:gd name="connsiteX112" fmla="*/ 947853 w 1264748"/>
                <a:gd name="connsiteY112" fmla="*/ 756586 h 1667527"/>
                <a:gd name="connsiteX113" fmla="*/ 316346 w 1264748"/>
                <a:gd name="connsiteY113" fmla="*/ 902985 h 1667527"/>
                <a:gd name="connsiteX114" fmla="*/ 314536 w 1264748"/>
                <a:gd name="connsiteY114" fmla="*/ 757729 h 1667527"/>
                <a:gd name="connsiteX115" fmla="*/ 316346 w 1264748"/>
                <a:gd name="connsiteY115" fmla="*/ 902985 h 166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264748" h="1667527">
                  <a:moveTo>
                    <a:pt x="1095681" y="1461245"/>
                  </a:moveTo>
                  <a:cubicBezTo>
                    <a:pt x="1025958" y="1460674"/>
                    <a:pt x="961474" y="1438481"/>
                    <a:pt x="899752" y="1409334"/>
                  </a:cubicBezTo>
                  <a:cubicBezTo>
                    <a:pt x="871177" y="1395809"/>
                    <a:pt x="862795" y="1403238"/>
                    <a:pt x="853079" y="1429622"/>
                  </a:cubicBezTo>
                  <a:cubicBezTo>
                    <a:pt x="827647" y="1498202"/>
                    <a:pt x="796406" y="1564115"/>
                    <a:pt x="742780" y="1616217"/>
                  </a:cubicBezTo>
                  <a:cubicBezTo>
                    <a:pt x="673152" y="1683844"/>
                    <a:pt x="594380" y="1684702"/>
                    <a:pt x="523705" y="1618313"/>
                  </a:cubicBezTo>
                  <a:cubicBezTo>
                    <a:pt x="473984" y="1571640"/>
                    <a:pt x="442171" y="1512585"/>
                    <a:pt x="419882" y="1449815"/>
                  </a:cubicBezTo>
                  <a:cubicBezTo>
                    <a:pt x="405309" y="1408763"/>
                    <a:pt x="393403" y="1394475"/>
                    <a:pt x="349016" y="1418478"/>
                  </a:cubicBezTo>
                  <a:cubicBezTo>
                    <a:pt x="302058" y="1443910"/>
                    <a:pt x="248813" y="1456864"/>
                    <a:pt x="194616" y="1462769"/>
                  </a:cubicBezTo>
                  <a:cubicBezTo>
                    <a:pt x="55646" y="1477724"/>
                    <a:pt x="-19315" y="1397714"/>
                    <a:pt x="4307" y="1259030"/>
                  </a:cubicBezTo>
                  <a:cubicBezTo>
                    <a:pt x="27738" y="1121203"/>
                    <a:pt x="93461" y="1001664"/>
                    <a:pt x="175090" y="892127"/>
                  </a:cubicBezTo>
                  <a:cubicBezTo>
                    <a:pt x="210523" y="844597"/>
                    <a:pt x="206808" y="816212"/>
                    <a:pt x="174233" y="771349"/>
                  </a:cubicBezTo>
                  <a:cubicBezTo>
                    <a:pt x="94889" y="661907"/>
                    <a:pt x="28881" y="544750"/>
                    <a:pt x="5450" y="408542"/>
                  </a:cubicBezTo>
                  <a:cubicBezTo>
                    <a:pt x="-19792" y="262143"/>
                    <a:pt x="64600" y="177466"/>
                    <a:pt x="210713" y="203278"/>
                  </a:cubicBezTo>
                  <a:cubicBezTo>
                    <a:pt x="265482" y="212994"/>
                    <a:pt x="318632" y="228996"/>
                    <a:pt x="368447" y="253856"/>
                  </a:cubicBezTo>
                  <a:cubicBezTo>
                    <a:pt x="391403" y="265286"/>
                    <a:pt x="401594" y="265381"/>
                    <a:pt x="411596" y="237378"/>
                  </a:cubicBezTo>
                  <a:cubicBezTo>
                    <a:pt x="434075" y="174703"/>
                    <a:pt x="463316" y="114696"/>
                    <a:pt x="508846" y="64499"/>
                  </a:cubicBezTo>
                  <a:cubicBezTo>
                    <a:pt x="587427" y="-22083"/>
                    <a:pt x="680963" y="-21512"/>
                    <a:pt x="757925" y="66309"/>
                  </a:cubicBezTo>
                  <a:cubicBezTo>
                    <a:pt x="801359" y="115839"/>
                    <a:pt x="830886" y="173751"/>
                    <a:pt x="852222" y="235473"/>
                  </a:cubicBezTo>
                  <a:cubicBezTo>
                    <a:pt x="861652" y="262810"/>
                    <a:pt x="870986" y="269763"/>
                    <a:pt x="898609" y="255856"/>
                  </a:cubicBezTo>
                  <a:cubicBezTo>
                    <a:pt x="954044" y="227948"/>
                    <a:pt x="1013480" y="211375"/>
                    <a:pt x="1075298" y="203278"/>
                  </a:cubicBezTo>
                  <a:cubicBezTo>
                    <a:pt x="1197694" y="187181"/>
                    <a:pt x="1275418" y="261667"/>
                    <a:pt x="1262369" y="384444"/>
                  </a:cubicBezTo>
                  <a:cubicBezTo>
                    <a:pt x="1246081" y="538177"/>
                    <a:pt x="1168357" y="665336"/>
                    <a:pt x="1081870" y="787256"/>
                  </a:cubicBezTo>
                  <a:cubicBezTo>
                    <a:pt x="1057581" y="821451"/>
                    <a:pt x="1056819" y="841644"/>
                    <a:pt x="1081775" y="876029"/>
                  </a:cubicBezTo>
                  <a:cubicBezTo>
                    <a:pt x="1157308" y="980042"/>
                    <a:pt x="1222649" y="1090437"/>
                    <a:pt x="1253034" y="1217596"/>
                  </a:cubicBezTo>
                  <a:cubicBezTo>
                    <a:pt x="1258559" y="1240551"/>
                    <a:pt x="1262464" y="1264268"/>
                    <a:pt x="1264083" y="1287795"/>
                  </a:cubicBezTo>
                  <a:cubicBezTo>
                    <a:pt x="1271989" y="1399142"/>
                    <a:pt x="1209124" y="1463436"/>
                    <a:pt x="1095872" y="1461245"/>
                  </a:cubicBezTo>
                  <a:close/>
                  <a:moveTo>
                    <a:pt x="920231" y="831262"/>
                  </a:moveTo>
                  <a:cubicBezTo>
                    <a:pt x="908896" y="782113"/>
                    <a:pt x="935375" y="725534"/>
                    <a:pt x="888417" y="680290"/>
                  </a:cubicBezTo>
                  <a:cubicBezTo>
                    <a:pt x="814313" y="608853"/>
                    <a:pt x="741446" y="536368"/>
                    <a:pt x="661913" y="470836"/>
                  </a:cubicBezTo>
                  <a:cubicBezTo>
                    <a:pt x="640577" y="453214"/>
                    <a:pt x="627146" y="454262"/>
                    <a:pt x="606382" y="471312"/>
                  </a:cubicBezTo>
                  <a:cubicBezTo>
                    <a:pt x="524372" y="538844"/>
                    <a:pt x="445981" y="610091"/>
                    <a:pt x="373781" y="688006"/>
                  </a:cubicBezTo>
                  <a:cubicBezTo>
                    <a:pt x="340730" y="723629"/>
                    <a:pt x="331300" y="921368"/>
                    <a:pt x="360351" y="960897"/>
                  </a:cubicBezTo>
                  <a:cubicBezTo>
                    <a:pt x="362256" y="963469"/>
                    <a:pt x="364256" y="965850"/>
                    <a:pt x="366447" y="968231"/>
                  </a:cubicBezTo>
                  <a:cubicBezTo>
                    <a:pt x="442076" y="1049384"/>
                    <a:pt x="523038" y="1124822"/>
                    <a:pt x="609049" y="1195022"/>
                  </a:cubicBezTo>
                  <a:cubicBezTo>
                    <a:pt x="629718" y="1211881"/>
                    <a:pt x="642291" y="1208738"/>
                    <a:pt x="661055" y="1193402"/>
                  </a:cubicBezTo>
                  <a:cubicBezTo>
                    <a:pt x="723730" y="1142253"/>
                    <a:pt x="780118" y="1084246"/>
                    <a:pt x="841173" y="1031668"/>
                  </a:cubicBezTo>
                  <a:cubicBezTo>
                    <a:pt x="904514" y="977089"/>
                    <a:pt x="934328" y="914796"/>
                    <a:pt x="920326" y="831262"/>
                  </a:cubicBezTo>
                  <a:close/>
                  <a:moveTo>
                    <a:pt x="230716" y="859837"/>
                  </a:moveTo>
                  <a:cubicBezTo>
                    <a:pt x="150992" y="967660"/>
                    <a:pt x="79745" y="1082055"/>
                    <a:pt x="41264" y="1214357"/>
                  </a:cubicBezTo>
                  <a:cubicBezTo>
                    <a:pt x="31929" y="1246552"/>
                    <a:pt x="29167" y="1279413"/>
                    <a:pt x="29929" y="1312846"/>
                  </a:cubicBezTo>
                  <a:cubicBezTo>
                    <a:pt x="31739" y="1391522"/>
                    <a:pt x="74601" y="1435337"/>
                    <a:pt x="154135" y="1437147"/>
                  </a:cubicBezTo>
                  <a:cubicBezTo>
                    <a:pt x="227192" y="1438766"/>
                    <a:pt x="293009" y="1412287"/>
                    <a:pt x="359208" y="1385236"/>
                  </a:cubicBezTo>
                  <a:cubicBezTo>
                    <a:pt x="386926" y="1373901"/>
                    <a:pt x="387974" y="1360090"/>
                    <a:pt x="380639" y="1335230"/>
                  </a:cubicBezTo>
                  <a:cubicBezTo>
                    <a:pt x="355112" y="1248647"/>
                    <a:pt x="335015" y="1160160"/>
                    <a:pt x="332252" y="1070149"/>
                  </a:cubicBezTo>
                  <a:cubicBezTo>
                    <a:pt x="329681" y="984043"/>
                    <a:pt x="301106" y="914415"/>
                    <a:pt x="230621" y="859741"/>
                  </a:cubicBezTo>
                  <a:close/>
                  <a:moveTo>
                    <a:pt x="30215" y="394826"/>
                  </a:moveTo>
                  <a:cubicBezTo>
                    <a:pt x="45836" y="529700"/>
                    <a:pt x="130703" y="662669"/>
                    <a:pt x="222239" y="792685"/>
                  </a:cubicBezTo>
                  <a:cubicBezTo>
                    <a:pt x="226144" y="798210"/>
                    <a:pt x="233192" y="808783"/>
                    <a:pt x="240050" y="798877"/>
                  </a:cubicBezTo>
                  <a:cubicBezTo>
                    <a:pt x="267673" y="759348"/>
                    <a:pt x="318346" y="733154"/>
                    <a:pt x="322537" y="680671"/>
                  </a:cubicBezTo>
                  <a:cubicBezTo>
                    <a:pt x="332252" y="558752"/>
                    <a:pt x="349302" y="438260"/>
                    <a:pt x="383402" y="320722"/>
                  </a:cubicBezTo>
                  <a:cubicBezTo>
                    <a:pt x="389879" y="298528"/>
                    <a:pt x="384545" y="290146"/>
                    <a:pt x="365114" y="281764"/>
                  </a:cubicBezTo>
                  <a:cubicBezTo>
                    <a:pt x="305297" y="255856"/>
                    <a:pt x="244908" y="232615"/>
                    <a:pt x="179186" y="227377"/>
                  </a:cubicBezTo>
                  <a:cubicBezTo>
                    <a:pt x="81364" y="219662"/>
                    <a:pt x="29738" y="267763"/>
                    <a:pt x="30215" y="394731"/>
                  </a:cubicBezTo>
                  <a:close/>
                  <a:moveTo>
                    <a:pt x="1100634" y="230044"/>
                  </a:moveTo>
                  <a:cubicBezTo>
                    <a:pt x="1030816" y="230044"/>
                    <a:pt x="968141" y="256714"/>
                    <a:pt x="904895" y="281860"/>
                  </a:cubicBezTo>
                  <a:cubicBezTo>
                    <a:pt x="881273" y="291194"/>
                    <a:pt x="875177" y="302339"/>
                    <a:pt x="882988" y="328246"/>
                  </a:cubicBezTo>
                  <a:cubicBezTo>
                    <a:pt x="910134" y="417781"/>
                    <a:pt x="931089" y="509793"/>
                    <a:pt x="933089" y="602852"/>
                  </a:cubicBezTo>
                  <a:cubicBezTo>
                    <a:pt x="934804" y="678862"/>
                    <a:pt x="965189" y="734488"/>
                    <a:pt x="1014147" y="786589"/>
                  </a:cubicBezTo>
                  <a:cubicBezTo>
                    <a:pt x="1031768" y="805354"/>
                    <a:pt x="1038436" y="802115"/>
                    <a:pt x="1051676" y="783446"/>
                  </a:cubicBezTo>
                  <a:cubicBezTo>
                    <a:pt x="1112445" y="698102"/>
                    <a:pt x="1166357" y="609043"/>
                    <a:pt x="1204076" y="510936"/>
                  </a:cubicBezTo>
                  <a:cubicBezTo>
                    <a:pt x="1221125" y="466454"/>
                    <a:pt x="1234270" y="420829"/>
                    <a:pt x="1236937" y="373109"/>
                  </a:cubicBezTo>
                  <a:cubicBezTo>
                    <a:pt x="1241890" y="281764"/>
                    <a:pt x="1191788" y="229853"/>
                    <a:pt x="1100634" y="230044"/>
                  </a:cubicBezTo>
                  <a:close/>
                  <a:moveTo>
                    <a:pt x="1034245" y="855836"/>
                  </a:moveTo>
                  <a:cubicBezTo>
                    <a:pt x="991001" y="911843"/>
                    <a:pt x="936518" y="952610"/>
                    <a:pt x="935947" y="1031382"/>
                  </a:cubicBezTo>
                  <a:cubicBezTo>
                    <a:pt x="935185" y="1134538"/>
                    <a:pt x="912134" y="1235789"/>
                    <a:pt x="884512" y="1335134"/>
                  </a:cubicBezTo>
                  <a:cubicBezTo>
                    <a:pt x="877559" y="1360090"/>
                    <a:pt x="879464" y="1372282"/>
                    <a:pt x="904514" y="1382093"/>
                  </a:cubicBezTo>
                  <a:cubicBezTo>
                    <a:pt x="954616" y="1401714"/>
                    <a:pt x="1004051" y="1422193"/>
                    <a:pt x="1057962" y="1430670"/>
                  </a:cubicBezTo>
                  <a:cubicBezTo>
                    <a:pt x="1191788" y="1451720"/>
                    <a:pt x="1257701" y="1383902"/>
                    <a:pt x="1231508" y="1249695"/>
                  </a:cubicBezTo>
                  <a:cubicBezTo>
                    <a:pt x="1202456" y="1101200"/>
                    <a:pt x="1121399" y="979185"/>
                    <a:pt x="1034340" y="855931"/>
                  </a:cubicBezTo>
                  <a:close/>
                  <a:moveTo>
                    <a:pt x="635624" y="1638315"/>
                  </a:moveTo>
                  <a:cubicBezTo>
                    <a:pt x="670485" y="1640411"/>
                    <a:pt x="697631" y="1620789"/>
                    <a:pt x="721730" y="1597357"/>
                  </a:cubicBezTo>
                  <a:cubicBezTo>
                    <a:pt x="777737" y="1542970"/>
                    <a:pt x="807359" y="1472961"/>
                    <a:pt x="835268" y="1401905"/>
                  </a:cubicBezTo>
                  <a:cubicBezTo>
                    <a:pt x="842602" y="1383140"/>
                    <a:pt x="831934" y="1376949"/>
                    <a:pt x="818408" y="1369424"/>
                  </a:cubicBezTo>
                  <a:cubicBezTo>
                    <a:pt x="761544" y="1337897"/>
                    <a:pt x="706490" y="1303416"/>
                    <a:pt x="654959" y="1263887"/>
                  </a:cubicBezTo>
                  <a:cubicBezTo>
                    <a:pt x="639815" y="1252267"/>
                    <a:pt x="629909" y="1251505"/>
                    <a:pt x="614288" y="1263411"/>
                  </a:cubicBezTo>
                  <a:cubicBezTo>
                    <a:pt x="561424" y="1303892"/>
                    <a:pt x="505893" y="1340564"/>
                    <a:pt x="446933" y="1371520"/>
                  </a:cubicBezTo>
                  <a:cubicBezTo>
                    <a:pt x="428836" y="1381045"/>
                    <a:pt x="425407" y="1391236"/>
                    <a:pt x="432360" y="1409239"/>
                  </a:cubicBezTo>
                  <a:cubicBezTo>
                    <a:pt x="455792" y="1470103"/>
                    <a:pt x="482366" y="1529444"/>
                    <a:pt x="525515" y="1578974"/>
                  </a:cubicBezTo>
                  <a:cubicBezTo>
                    <a:pt x="553804" y="1611455"/>
                    <a:pt x="585713" y="1640696"/>
                    <a:pt x="635624" y="1638220"/>
                  </a:cubicBezTo>
                  <a:close/>
                  <a:moveTo>
                    <a:pt x="631623" y="27447"/>
                  </a:moveTo>
                  <a:cubicBezTo>
                    <a:pt x="597905" y="27828"/>
                    <a:pt x="570568" y="43258"/>
                    <a:pt x="547136" y="65452"/>
                  </a:cubicBezTo>
                  <a:cubicBezTo>
                    <a:pt x="490558" y="118982"/>
                    <a:pt x="459983" y="188324"/>
                    <a:pt x="431789" y="259000"/>
                  </a:cubicBezTo>
                  <a:cubicBezTo>
                    <a:pt x="423502" y="279764"/>
                    <a:pt x="436361" y="286717"/>
                    <a:pt x="451029" y="294814"/>
                  </a:cubicBezTo>
                  <a:cubicBezTo>
                    <a:pt x="506369" y="325484"/>
                    <a:pt x="560186" y="358631"/>
                    <a:pt x="609620" y="398065"/>
                  </a:cubicBezTo>
                  <a:cubicBezTo>
                    <a:pt x="628194" y="412924"/>
                    <a:pt x="641815" y="410542"/>
                    <a:pt x="659055" y="397303"/>
                  </a:cubicBezTo>
                  <a:cubicBezTo>
                    <a:pt x="709252" y="358822"/>
                    <a:pt x="762782" y="325294"/>
                    <a:pt x="818122" y="294909"/>
                  </a:cubicBezTo>
                  <a:cubicBezTo>
                    <a:pt x="831934" y="287384"/>
                    <a:pt x="840983" y="281002"/>
                    <a:pt x="833648" y="262238"/>
                  </a:cubicBezTo>
                  <a:cubicBezTo>
                    <a:pt x="805835" y="191372"/>
                    <a:pt x="775736" y="122030"/>
                    <a:pt x="719348" y="68023"/>
                  </a:cubicBezTo>
                  <a:cubicBezTo>
                    <a:pt x="694774" y="44497"/>
                    <a:pt x="666866" y="27542"/>
                    <a:pt x="631433" y="27447"/>
                  </a:cubicBezTo>
                  <a:close/>
                  <a:moveTo>
                    <a:pt x="609906" y="1231216"/>
                  </a:moveTo>
                  <a:cubicBezTo>
                    <a:pt x="519228" y="1160541"/>
                    <a:pt x="438932" y="1082055"/>
                    <a:pt x="352160" y="996235"/>
                  </a:cubicBezTo>
                  <a:cubicBezTo>
                    <a:pt x="359113" y="1117298"/>
                    <a:pt x="378830" y="1224073"/>
                    <a:pt x="406357" y="1329705"/>
                  </a:cubicBezTo>
                  <a:cubicBezTo>
                    <a:pt x="413024" y="1355137"/>
                    <a:pt x="423407" y="1354184"/>
                    <a:pt x="442266" y="1343040"/>
                  </a:cubicBezTo>
                  <a:cubicBezTo>
                    <a:pt x="499130" y="1309607"/>
                    <a:pt x="554947" y="1274746"/>
                    <a:pt x="609906" y="1231121"/>
                  </a:cubicBezTo>
                  <a:close/>
                  <a:moveTo>
                    <a:pt x="610097" y="433688"/>
                  </a:moveTo>
                  <a:cubicBezTo>
                    <a:pt x="554185" y="387873"/>
                    <a:pt x="497511" y="353297"/>
                    <a:pt x="439885" y="320245"/>
                  </a:cubicBezTo>
                  <a:cubicBezTo>
                    <a:pt x="426169" y="312435"/>
                    <a:pt x="415596" y="307387"/>
                    <a:pt x="409119" y="330056"/>
                  </a:cubicBezTo>
                  <a:cubicBezTo>
                    <a:pt x="378925" y="436260"/>
                    <a:pt x="359875" y="543988"/>
                    <a:pt x="352731" y="668765"/>
                  </a:cubicBezTo>
                  <a:cubicBezTo>
                    <a:pt x="439409" y="580087"/>
                    <a:pt x="519228" y="504078"/>
                    <a:pt x="610097" y="433783"/>
                  </a:cubicBezTo>
                  <a:close/>
                  <a:moveTo>
                    <a:pt x="914325" y="668289"/>
                  </a:moveTo>
                  <a:cubicBezTo>
                    <a:pt x="902895" y="549512"/>
                    <a:pt x="887750" y="443404"/>
                    <a:pt x="858318" y="339391"/>
                  </a:cubicBezTo>
                  <a:cubicBezTo>
                    <a:pt x="851936" y="317007"/>
                    <a:pt x="845650" y="308815"/>
                    <a:pt x="823838" y="323198"/>
                  </a:cubicBezTo>
                  <a:cubicBezTo>
                    <a:pt x="774974" y="355488"/>
                    <a:pt x="725635" y="387016"/>
                    <a:pt x="676391" y="418543"/>
                  </a:cubicBezTo>
                  <a:cubicBezTo>
                    <a:pt x="663532" y="426735"/>
                    <a:pt x="657531" y="433498"/>
                    <a:pt x="673247" y="445880"/>
                  </a:cubicBezTo>
                  <a:cubicBezTo>
                    <a:pt x="756401" y="511412"/>
                    <a:pt x="833458" y="583898"/>
                    <a:pt x="914325" y="668289"/>
                  </a:cubicBezTo>
                  <a:close/>
                  <a:moveTo>
                    <a:pt x="656864" y="1232931"/>
                  </a:moveTo>
                  <a:cubicBezTo>
                    <a:pt x="699346" y="1261506"/>
                    <a:pt x="736684" y="1287795"/>
                    <a:pt x="775260" y="1312179"/>
                  </a:cubicBezTo>
                  <a:cubicBezTo>
                    <a:pt x="851270" y="1360185"/>
                    <a:pt x="852413" y="1359994"/>
                    <a:pt x="872796" y="1271698"/>
                  </a:cubicBezTo>
                  <a:cubicBezTo>
                    <a:pt x="892989" y="1184258"/>
                    <a:pt x="907086" y="1095961"/>
                    <a:pt x="912515" y="996616"/>
                  </a:cubicBezTo>
                  <a:cubicBezTo>
                    <a:pt x="830219" y="1085389"/>
                    <a:pt x="747542" y="1158065"/>
                    <a:pt x="656864" y="1232931"/>
                  </a:cubicBezTo>
                  <a:close/>
                  <a:moveTo>
                    <a:pt x="947853" y="756586"/>
                  </a:moveTo>
                  <a:lnTo>
                    <a:pt x="947853" y="910986"/>
                  </a:lnTo>
                  <a:cubicBezTo>
                    <a:pt x="1031197" y="822594"/>
                    <a:pt x="1029387" y="837358"/>
                    <a:pt x="947853" y="756586"/>
                  </a:cubicBezTo>
                  <a:close/>
                  <a:moveTo>
                    <a:pt x="316346" y="902985"/>
                  </a:moveTo>
                  <a:cubicBezTo>
                    <a:pt x="319298" y="854027"/>
                    <a:pt x="321870" y="807926"/>
                    <a:pt x="314536" y="757729"/>
                  </a:cubicBezTo>
                  <a:cubicBezTo>
                    <a:pt x="240527" y="836215"/>
                    <a:pt x="240527" y="837929"/>
                    <a:pt x="316346" y="902985"/>
                  </a:cubicBezTo>
                  <a:close/>
                </a:path>
              </a:pathLst>
            </a:custGeom>
            <a:solidFill>
              <a:schemeClr val="tx1"/>
            </a:solidFill>
            <a:ln w="0" cap="flat">
              <a:solidFill>
                <a:schemeClr val="tx1"/>
              </a:solid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8" name="Freeform: Shape 7">
              <a:extLst>
                <a:ext uri="{FF2B5EF4-FFF2-40B4-BE49-F238E27FC236}">
                  <a16:creationId xmlns:a16="http://schemas.microsoft.com/office/drawing/2014/main" id="{FCC4CCC5-AE47-7887-240E-048AB60E9C9F}"/>
                </a:ext>
              </a:extLst>
            </p:cNvPr>
            <p:cNvSpPr/>
            <p:nvPr/>
          </p:nvSpPr>
          <p:spPr>
            <a:xfrm>
              <a:off x="5809310" y="3048088"/>
              <a:ext cx="580696" cy="748284"/>
            </a:xfrm>
            <a:custGeom>
              <a:avLst/>
              <a:gdLst>
                <a:gd name="connsiteX0" fmla="*/ 577298 w 580696"/>
                <a:gd name="connsiteY0" fmla="*/ 373196 h 748284"/>
                <a:gd name="connsiteX1" fmla="*/ 498145 w 580696"/>
                <a:gd name="connsiteY1" fmla="*/ 573602 h 748284"/>
                <a:gd name="connsiteX2" fmla="*/ 318027 w 580696"/>
                <a:gd name="connsiteY2" fmla="*/ 735336 h 748284"/>
                <a:gd name="connsiteX3" fmla="*/ 266021 w 580696"/>
                <a:gd name="connsiteY3" fmla="*/ 736956 h 748284"/>
                <a:gd name="connsiteX4" fmla="*/ 23419 w 580696"/>
                <a:gd name="connsiteY4" fmla="*/ 510165 h 748284"/>
                <a:gd name="connsiteX5" fmla="*/ 17323 w 580696"/>
                <a:gd name="connsiteY5" fmla="*/ 502831 h 748284"/>
                <a:gd name="connsiteX6" fmla="*/ 30753 w 580696"/>
                <a:gd name="connsiteY6" fmla="*/ 229940 h 748284"/>
                <a:gd name="connsiteX7" fmla="*/ 263354 w 580696"/>
                <a:gd name="connsiteY7" fmla="*/ 13246 h 748284"/>
                <a:gd name="connsiteX8" fmla="*/ 318884 w 580696"/>
                <a:gd name="connsiteY8" fmla="*/ 12770 h 748284"/>
                <a:gd name="connsiteX9" fmla="*/ 545389 w 580696"/>
                <a:gd name="connsiteY9" fmla="*/ 222224 h 748284"/>
                <a:gd name="connsiteX10" fmla="*/ 577202 w 580696"/>
                <a:gd name="connsiteY10" fmla="*/ 373196 h 748284"/>
                <a:gd name="connsiteX11" fmla="*/ 363461 w 580696"/>
                <a:gd name="connsiteY11" fmla="*/ 374339 h 748284"/>
                <a:gd name="connsiteX12" fmla="*/ 283261 w 580696"/>
                <a:gd name="connsiteY12" fmla="*/ 298901 h 748284"/>
                <a:gd name="connsiteX13" fmla="*/ 209347 w 580696"/>
                <a:gd name="connsiteY13" fmla="*/ 374434 h 748284"/>
                <a:gd name="connsiteX14" fmla="*/ 285737 w 580696"/>
                <a:gd name="connsiteY14" fmla="*/ 452825 h 748284"/>
                <a:gd name="connsiteX15" fmla="*/ 363461 w 580696"/>
                <a:gd name="connsiteY15" fmla="*/ 374434 h 74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0696" h="748284">
                  <a:moveTo>
                    <a:pt x="577298" y="373196"/>
                  </a:moveTo>
                  <a:cubicBezTo>
                    <a:pt x="591299" y="456730"/>
                    <a:pt x="561486" y="519024"/>
                    <a:pt x="498145" y="573602"/>
                  </a:cubicBezTo>
                  <a:cubicBezTo>
                    <a:pt x="437090" y="626180"/>
                    <a:pt x="380702" y="684187"/>
                    <a:pt x="318027" y="735336"/>
                  </a:cubicBezTo>
                  <a:cubicBezTo>
                    <a:pt x="299263" y="750672"/>
                    <a:pt x="286690" y="753815"/>
                    <a:pt x="266021" y="736956"/>
                  </a:cubicBezTo>
                  <a:cubicBezTo>
                    <a:pt x="180010" y="666756"/>
                    <a:pt x="99047" y="591318"/>
                    <a:pt x="23419" y="510165"/>
                  </a:cubicBezTo>
                  <a:cubicBezTo>
                    <a:pt x="21228" y="507879"/>
                    <a:pt x="19228" y="505403"/>
                    <a:pt x="17323" y="502831"/>
                  </a:cubicBezTo>
                  <a:cubicBezTo>
                    <a:pt x="-11728" y="463398"/>
                    <a:pt x="-2203" y="265563"/>
                    <a:pt x="30753" y="229940"/>
                  </a:cubicBezTo>
                  <a:cubicBezTo>
                    <a:pt x="103048" y="152025"/>
                    <a:pt x="181343" y="80778"/>
                    <a:pt x="263354" y="13246"/>
                  </a:cubicBezTo>
                  <a:cubicBezTo>
                    <a:pt x="284118" y="-3804"/>
                    <a:pt x="297548" y="-4851"/>
                    <a:pt x="318884" y="12770"/>
                  </a:cubicBezTo>
                  <a:cubicBezTo>
                    <a:pt x="398513" y="78302"/>
                    <a:pt x="471380" y="150787"/>
                    <a:pt x="545389" y="222224"/>
                  </a:cubicBezTo>
                  <a:cubicBezTo>
                    <a:pt x="592347" y="267468"/>
                    <a:pt x="565772" y="324047"/>
                    <a:pt x="577202" y="373196"/>
                  </a:cubicBezTo>
                  <a:close/>
                  <a:moveTo>
                    <a:pt x="363461" y="374339"/>
                  </a:moveTo>
                  <a:cubicBezTo>
                    <a:pt x="362985" y="331381"/>
                    <a:pt x="327362" y="297948"/>
                    <a:pt x="283261" y="298901"/>
                  </a:cubicBezTo>
                  <a:cubicBezTo>
                    <a:pt x="240398" y="299853"/>
                    <a:pt x="209823" y="331095"/>
                    <a:pt x="209347" y="374434"/>
                  </a:cubicBezTo>
                  <a:cubicBezTo>
                    <a:pt x="208871" y="419106"/>
                    <a:pt x="241827" y="452920"/>
                    <a:pt x="285737" y="452825"/>
                  </a:cubicBezTo>
                  <a:cubicBezTo>
                    <a:pt x="329076" y="452729"/>
                    <a:pt x="363938" y="417487"/>
                    <a:pt x="363461" y="374434"/>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9" name="Freeform: Shape 8">
              <a:extLst>
                <a:ext uri="{FF2B5EF4-FFF2-40B4-BE49-F238E27FC236}">
                  <a16:creationId xmlns:a16="http://schemas.microsoft.com/office/drawing/2014/main" id="{E0BCAFCD-6484-CBCF-AB13-5F467A36EC37}"/>
                </a:ext>
              </a:extLst>
            </p:cNvPr>
            <p:cNvSpPr/>
            <p:nvPr/>
          </p:nvSpPr>
          <p:spPr>
            <a:xfrm>
              <a:off x="5496281" y="3449859"/>
              <a:ext cx="354697" cy="577475"/>
            </a:xfrm>
            <a:custGeom>
              <a:avLst/>
              <a:gdLst>
                <a:gd name="connsiteX0" fmla="*/ 200812 w 354697"/>
                <a:gd name="connsiteY0" fmla="*/ 0 h 577475"/>
                <a:gd name="connsiteX1" fmla="*/ 302443 w 354697"/>
                <a:gd name="connsiteY1" fmla="*/ 210407 h 577475"/>
                <a:gd name="connsiteX2" fmla="*/ 350830 w 354697"/>
                <a:gd name="connsiteY2" fmla="*/ 475488 h 577475"/>
                <a:gd name="connsiteX3" fmla="*/ 329399 w 354697"/>
                <a:gd name="connsiteY3" fmla="*/ 525494 h 577475"/>
                <a:gd name="connsiteX4" fmla="*/ 124326 w 354697"/>
                <a:gd name="connsiteY4" fmla="*/ 577405 h 577475"/>
                <a:gd name="connsiteX5" fmla="*/ 120 w 354697"/>
                <a:gd name="connsiteY5" fmla="*/ 453104 h 577475"/>
                <a:gd name="connsiteX6" fmla="*/ 11455 w 354697"/>
                <a:gd name="connsiteY6" fmla="*/ 354616 h 577475"/>
                <a:gd name="connsiteX7" fmla="*/ 200907 w 354697"/>
                <a:gd name="connsiteY7" fmla="*/ 95 h 577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4697" h="577475">
                  <a:moveTo>
                    <a:pt x="200812" y="0"/>
                  </a:moveTo>
                  <a:cubicBezTo>
                    <a:pt x="271201" y="54673"/>
                    <a:pt x="299872" y="124301"/>
                    <a:pt x="302443" y="210407"/>
                  </a:cubicBezTo>
                  <a:cubicBezTo>
                    <a:pt x="305110" y="300418"/>
                    <a:pt x="325303" y="388906"/>
                    <a:pt x="350830" y="475488"/>
                  </a:cubicBezTo>
                  <a:cubicBezTo>
                    <a:pt x="358165" y="500348"/>
                    <a:pt x="357117" y="514159"/>
                    <a:pt x="329399" y="525494"/>
                  </a:cubicBezTo>
                  <a:cubicBezTo>
                    <a:pt x="263200" y="552450"/>
                    <a:pt x="197383" y="579025"/>
                    <a:pt x="124326" y="577405"/>
                  </a:cubicBezTo>
                  <a:cubicBezTo>
                    <a:pt x="44792" y="575596"/>
                    <a:pt x="1930" y="531781"/>
                    <a:pt x="120" y="453104"/>
                  </a:cubicBezTo>
                  <a:cubicBezTo>
                    <a:pt x="-642" y="419671"/>
                    <a:pt x="2120" y="386810"/>
                    <a:pt x="11455" y="354616"/>
                  </a:cubicBezTo>
                  <a:cubicBezTo>
                    <a:pt x="49840" y="222313"/>
                    <a:pt x="121183" y="107918"/>
                    <a:pt x="200907" y="95"/>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10" name="Freeform: Shape 9">
              <a:extLst>
                <a:ext uri="{FF2B5EF4-FFF2-40B4-BE49-F238E27FC236}">
                  <a16:creationId xmlns:a16="http://schemas.microsoft.com/office/drawing/2014/main" id="{4C4BECDA-BCEB-F7AF-8CA9-3B75B9A25898}"/>
                </a:ext>
              </a:extLst>
            </p:cNvPr>
            <p:cNvSpPr/>
            <p:nvPr/>
          </p:nvSpPr>
          <p:spPr>
            <a:xfrm>
              <a:off x="5496683" y="2816701"/>
              <a:ext cx="355767" cy="576309"/>
            </a:xfrm>
            <a:custGeom>
              <a:avLst/>
              <a:gdLst>
                <a:gd name="connsiteX0" fmla="*/ 3 w 355767"/>
                <a:gd name="connsiteY0" fmla="*/ 168148 h 576309"/>
                <a:gd name="connsiteX1" fmla="*/ 148974 w 355767"/>
                <a:gd name="connsiteY1" fmla="*/ 794 h 576309"/>
                <a:gd name="connsiteX2" fmla="*/ 334902 w 355767"/>
                <a:gd name="connsiteY2" fmla="*/ 55181 h 576309"/>
                <a:gd name="connsiteX3" fmla="*/ 353190 w 355767"/>
                <a:gd name="connsiteY3" fmla="*/ 94139 h 576309"/>
                <a:gd name="connsiteX4" fmla="*/ 292325 w 355767"/>
                <a:gd name="connsiteY4" fmla="*/ 454088 h 576309"/>
                <a:gd name="connsiteX5" fmla="*/ 209839 w 355767"/>
                <a:gd name="connsiteY5" fmla="*/ 572294 h 576309"/>
                <a:gd name="connsiteX6" fmla="*/ 192027 w 355767"/>
                <a:gd name="connsiteY6" fmla="*/ 566102 h 576309"/>
                <a:gd name="connsiteX7" fmla="*/ 3 w 355767"/>
                <a:gd name="connsiteY7" fmla="*/ 168243 h 576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5767" h="576309">
                  <a:moveTo>
                    <a:pt x="3" y="168148"/>
                  </a:moveTo>
                  <a:cubicBezTo>
                    <a:pt x="-473" y="41084"/>
                    <a:pt x="51152" y="-6922"/>
                    <a:pt x="148974" y="794"/>
                  </a:cubicBezTo>
                  <a:cubicBezTo>
                    <a:pt x="214697" y="5937"/>
                    <a:pt x="275085" y="29178"/>
                    <a:pt x="334902" y="55181"/>
                  </a:cubicBezTo>
                  <a:cubicBezTo>
                    <a:pt x="354333" y="63563"/>
                    <a:pt x="359572" y="71945"/>
                    <a:pt x="353190" y="94139"/>
                  </a:cubicBezTo>
                  <a:cubicBezTo>
                    <a:pt x="319091" y="211677"/>
                    <a:pt x="302041" y="332073"/>
                    <a:pt x="292325" y="454088"/>
                  </a:cubicBezTo>
                  <a:cubicBezTo>
                    <a:pt x="288135" y="506571"/>
                    <a:pt x="237462" y="532765"/>
                    <a:pt x="209839" y="572294"/>
                  </a:cubicBezTo>
                  <a:cubicBezTo>
                    <a:pt x="202981" y="582104"/>
                    <a:pt x="195837" y="571532"/>
                    <a:pt x="192027" y="566102"/>
                  </a:cubicBezTo>
                  <a:cubicBezTo>
                    <a:pt x="100492" y="436181"/>
                    <a:pt x="15624" y="303117"/>
                    <a:pt x="3" y="168243"/>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11" name="Freeform: Shape 10">
              <a:extLst>
                <a:ext uri="{FF2B5EF4-FFF2-40B4-BE49-F238E27FC236}">
                  <a16:creationId xmlns:a16="http://schemas.microsoft.com/office/drawing/2014/main" id="{0BA392A2-AE17-AD46-D655-90AAFA3F7A38}"/>
                </a:ext>
              </a:extLst>
            </p:cNvPr>
            <p:cNvSpPr/>
            <p:nvPr/>
          </p:nvSpPr>
          <p:spPr>
            <a:xfrm>
              <a:off x="6346205" y="2820066"/>
              <a:ext cx="357539" cy="569113"/>
            </a:xfrm>
            <a:custGeom>
              <a:avLst/>
              <a:gdLst>
                <a:gd name="connsiteX0" fmla="*/ 220901 w 357539"/>
                <a:gd name="connsiteY0" fmla="*/ 1 h 569113"/>
                <a:gd name="connsiteX1" fmla="*/ 357204 w 357539"/>
                <a:gd name="connsiteY1" fmla="*/ 143066 h 569113"/>
                <a:gd name="connsiteX2" fmla="*/ 324343 w 357539"/>
                <a:gd name="connsiteY2" fmla="*/ 280893 h 569113"/>
                <a:gd name="connsiteX3" fmla="*/ 171943 w 357539"/>
                <a:gd name="connsiteY3" fmla="*/ 553403 h 569113"/>
                <a:gd name="connsiteX4" fmla="*/ 134414 w 357539"/>
                <a:gd name="connsiteY4" fmla="*/ 556546 h 569113"/>
                <a:gd name="connsiteX5" fmla="*/ 53357 w 357539"/>
                <a:gd name="connsiteY5" fmla="*/ 372809 h 569113"/>
                <a:gd name="connsiteX6" fmla="*/ 3255 w 357539"/>
                <a:gd name="connsiteY6" fmla="*/ 98203 h 569113"/>
                <a:gd name="connsiteX7" fmla="*/ 25163 w 357539"/>
                <a:gd name="connsiteY7" fmla="*/ 51817 h 569113"/>
                <a:gd name="connsiteX8" fmla="*/ 220901 w 357539"/>
                <a:gd name="connsiteY8" fmla="*/ 1 h 569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7539" h="569113">
                  <a:moveTo>
                    <a:pt x="220901" y="1"/>
                  </a:moveTo>
                  <a:cubicBezTo>
                    <a:pt x="312056" y="-190"/>
                    <a:pt x="362157" y="51721"/>
                    <a:pt x="357204" y="143066"/>
                  </a:cubicBezTo>
                  <a:cubicBezTo>
                    <a:pt x="354632" y="190786"/>
                    <a:pt x="341488" y="236411"/>
                    <a:pt x="324343" y="280893"/>
                  </a:cubicBezTo>
                  <a:cubicBezTo>
                    <a:pt x="286624" y="379000"/>
                    <a:pt x="232808" y="468059"/>
                    <a:pt x="171943" y="553403"/>
                  </a:cubicBezTo>
                  <a:cubicBezTo>
                    <a:pt x="158703" y="572072"/>
                    <a:pt x="151940" y="575311"/>
                    <a:pt x="134414" y="556546"/>
                  </a:cubicBezTo>
                  <a:cubicBezTo>
                    <a:pt x="85456" y="504349"/>
                    <a:pt x="54976" y="448723"/>
                    <a:pt x="53357" y="372809"/>
                  </a:cubicBezTo>
                  <a:cubicBezTo>
                    <a:pt x="51261" y="279750"/>
                    <a:pt x="30401" y="187643"/>
                    <a:pt x="3255" y="98203"/>
                  </a:cubicBezTo>
                  <a:cubicBezTo>
                    <a:pt x="-4651" y="72295"/>
                    <a:pt x="1541" y="61246"/>
                    <a:pt x="25163" y="51817"/>
                  </a:cubicBezTo>
                  <a:cubicBezTo>
                    <a:pt x="88409" y="26671"/>
                    <a:pt x="151083" y="1"/>
                    <a:pt x="220901" y="1"/>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12" name="Freeform: Shape 11">
              <a:extLst>
                <a:ext uri="{FF2B5EF4-FFF2-40B4-BE49-F238E27FC236}">
                  <a16:creationId xmlns:a16="http://schemas.microsoft.com/office/drawing/2014/main" id="{A7EAF696-E372-54B8-E991-97266B2CE5E5}"/>
                </a:ext>
              </a:extLst>
            </p:cNvPr>
            <p:cNvSpPr/>
            <p:nvPr/>
          </p:nvSpPr>
          <p:spPr>
            <a:xfrm>
              <a:off x="6347306" y="3445763"/>
              <a:ext cx="356177" cy="578611"/>
            </a:xfrm>
            <a:custGeom>
              <a:avLst/>
              <a:gdLst>
                <a:gd name="connsiteX0" fmla="*/ 153316 w 356177"/>
                <a:gd name="connsiteY0" fmla="*/ 95 h 578611"/>
                <a:gd name="connsiteX1" fmla="*/ 350483 w 356177"/>
                <a:gd name="connsiteY1" fmla="*/ 393859 h 578611"/>
                <a:gd name="connsiteX2" fmla="*/ 176938 w 356177"/>
                <a:gd name="connsiteY2" fmla="*/ 574834 h 578611"/>
                <a:gd name="connsiteX3" fmla="*/ 23490 w 356177"/>
                <a:gd name="connsiteY3" fmla="*/ 526256 h 578611"/>
                <a:gd name="connsiteX4" fmla="*/ 3487 w 356177"/>
                <a:gd name="connsiteY4" fmla="*/ 479298 h 578611"/>
                <a:gd name="connsiteX5" fmla="*/ 54922 w 356177"/>
                <a:gd name="connsiteY5" fmla="*/ 175546 h 578611"/>
                <a:gd name="connsiteX6" fmla="*/ 153220 w 356177"/>
                <a:gd name="connsiteY6" fmla="*/ 0 h 578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177" h="578611">
                  <a:moveTo>
                    <a:pt x="153316" y="95"/>
                  </a:moveTo>
                  <a:cubicBezTo>
                    <a:pt x="240374" y="123349"/>
                    <a:pt x="321432" y="245459"/>
                    <a:pt x="350483" y="393859"/>
                  </a:cubicBezTo>
                  <a:cubicBezTo>
                    <a:pt x="376772" y="528066"/>
                    <a:pt x="310859" y="595884"/>
                    <a:pt x="176938" y="574834"/>
                  </a:cubicBezTo>
                  <a:cubicBezTo>
                    <a:pt x="123026" y="566357"/>
                    <a:pt x="73591" y="545973"/>
                    <a:pt x="23490" y="526256"/>
                  </a:cubicBezTo>
                  <a:cubicBezTo>
                    <a:pt x="-1561" y="516446"/>
                    <a:pt x="-3466" y="504158"/>
                    <a:pt x="3487" y="479298"/>
                  </a:cubicBezTo>
                  <a:cubicBezTo>
                    <a:pt x="31110" y="379952"/>
                    <a:pt x="54161" y="278702"/>
                    <a:pt x="54922" y="175546"/>
                  </a:cubicBezTo>
                  <a:cubicBezTo>
                    <a:pt x="55494" y="96774"/>
                    <a:pt x="109977" y="56007"/>
                    <a:pt x="153220" y="0"/>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13" name="Freeform: Shape 12">
              <a:extLst>
                <a:ext uri="{FF2B5EF4-FFF2-40B4-BE49-F238E27FC236}">
                  <a16:creationId xmlns:a16="http://schemas.microsoft.com/office/drawing/2014/main" id="{D18EBF64-B8C3-98A8-29FC-E93BB575DD87}"/>
                </a:ext>
              </a:extLst>
            </p:cNvPr>
            <p:cNvSpPr/>
            <p:nvPr/>
          </p:nvSpPr>
          <p:spPr>
            <a:xfrm>
              <a:off x="5895390" y="3844938"/>
              <a:ext cx="408642" cy="383635"/>
            </a:xfrm>
            <a:custGeom>
              <a:avLst/>
              <a:gdLst>
                <a:gd name="connsiteX0" fmla="*/ 206610 w 408642"/>
                <a:gd name="connsiteY0" fmla="*/ 383399 h 383635"/>
                <a:gd name="connsiteX1" fmla="*/ 96501 w 408642"/>
                <a:gd name="connsiteY1" fmla="*/ 324154 h 383635"/>
                <a:gd name="connsiteX2" fmla="*/ 3346 w 408642"/>
                <a:gd name="connsiteY2" fmla="*/ 154418 h 383635"/>
                <a:gd name="connsiteX3" fmla="*/ 17920 w 408642"/>
                <a:gd name="connsiteY3" fmla="*/ 116699 h 383635"/>
                <a:gd name="connsiteX4" fmla="*/ 185274 w 408642"/>
                <a:gd name="connsiteY4" fmla="*/ 8591 h 383635"/>
                <a:gd name="connsiteX5" fmla="*/ 225946 w 408642"/>
                <a:gd name="connsiteY5" fmla="*/ 9067 h 383635"/>
                <a:gd name="connsiteX6" fmla="*/ 389395 w 408642"/>
                <a:gd name="connsiteY6" fmla="*/ 114604 h 383635"/>
                <a:gd name="connsiteX7" fmla="*/ 406254 w 408642"/>
                <a:gd name="connsiteY7" fmla="*/ 147084 h 383635"/>
                <a:gd name="connsiteX8" fmla="*/ 292716 w 408642"/>
                <a:gd name="connsiteY8" fmla="*/ 342537 h 383635"/>
                <a:gd name="connsiteX9" fmla="*/ 206610 w 408642"/>
                <a:gd name="connsiteY9" fmla="*/ 383494 h 38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8642" h="383635">
                  <a:moveTo>
                    <a:pt x="206610" y="383399"/>
                  </a:moveTo>
                  <a:cubicBezTo>
                    <a:pt x="156604" y="385876"/>
                    <a:pt x="124695" y="356539"/>
                    <a:pt x="96501" y="324154"/>
                  </a:cubicBezTo>
                  <a:cubicBezTo>
                    <a:pt x="53257" y="274624"/>
                    <a:pt x="26778" y="215188"/>
                    <a:pt x="3346" y="154418"/>
                  </a:cubicBezTo>
                  <a:cubicBezTo>
                    <a:pt x="-3607" y="136416"/>
                    <a:pt x="-178" y="126224"/>
                    <a:pt x="17920" y="116699"/>
                  </a:cubicBezTo>
                  <a:cubicBezTo>
                    <a:pt x="76879" y="85743"/>
                    <a:pt x="132410" y="49072"/>
                    <a:pt x="185274" y="8591"/>
                  </a:cubicBezTo>
                  <a:cubicBezTo>
                    <a:pt x="200895" y="-3316"/>
                    <a:pt x="210801" y="-2554"/>
                    <a:pt x="225946" y="9067"/>
                  </a:cubicBezTo>
                  <a:cubicBezTo>
                    <a:pt x="277476" y="48691"/>
                    <a:pt x="332530" y="83076"/>
                    <a:pt x="389395" y="114604"/>
                  </a:cubicBezTo>
                  <a:cubicBezTo>
                    <a:pt x="402920" y="122129"/>
                    <a:pt x="413588" y="128320"/>
                    <a:pt x="406254" y="147084"/>
                  </a:cubicBezTo>
                  <a:cubicBezTo>
                    <a:pt x="378346" y="218141"/>
                    <a:pt x="348723" y="288149"/>
                    <a:pt x="292716" y="342537"/>
                  </a:cubicBezTo>
                  <a:cubicBezTo>
                    <a:pt x="268618" y="365968"/>
                    <a:pt x="241471" y="385495"/>
                    <a:pt x="206610" y="383494"/>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14" name="Freeform: Shape 13">
              <a:extLst>
                <a:ext uri="{FF2B5EF4-FFF2-40B4-BE49-F238E27FC236}">
                  <a16:creationId xmlns:a16="http://schemas.microsoft.com/office/drawing/2014/main" id="{00832FA7-0D94-8063-84A8-F73AA8796A19}"/>
                </a:ext>
              </a:extLst>
            </p:cNvPr>
            <p:cNvSpPr/>
            <p:nvPr/>
          </p:nvSpPr>
          <p:spPr>
            <a:xfrm>
              <a:off x="5895751" y="2617469"/>
              <a:ext cx="407076" cy="380806"/>
            </a:xfrm>
            <a:custGeom>
              <a:avLst/>
              <a:gdLst>
                <a:gd name="connsiteX0" fmla="*/ 202249 w 407076"/>
                <a:gd name="connsiteY0" fmla="*/ 0 h 380806"/>
                <a:gd name="connsiteX1" fmla="*/ 290165 w 407076"/>
                <a:gd name="connsiteY1" fmla="*/ 40577 h 380806"/>
                <a:gd name="connsiteX2" fmla="*/ 404465 w 407076"/>
                <a:gd name="connsiteY2" fmla="*/ 234791 h 380806"/>
                <a:gd name="connsiteX3" fmla="*/ 388939 w 407076"/>
                <a:gd name="connsiteY3" fmla="*/ 267462 h 380806"/>
                <a:gd name="connsiteX4" fmla="*/ 229872 w 407076"/>
                <a:gd name="connsiteY4" fmla="*/ 369856 h 380806"/>
                <a:gd name="connsiteX5" fmla="*/ 180437 w 407076"/>
                <a:gd name="connsiteY5" fmla="*/ 370618 h 380806"/>
                <a:gd name="connsiteX6" fmla="*/ 21846 w 407076"/>
                <a:gd name="connsiteY6" fmla="*/ 267367 h 380806"/>
                <a:gd name="connsiteX7" fmla="*/ 2605 w 407076"/>
                <a:gd name="connsiteY7" fmla="*/ 231553 h 380806"/>
                <a:gd name="connsiteX8" fmla="*/ 117953 w 407076"/>
                <a:gd name="connsiteY8" fmla="*/ 38005 h 380806"/>
                <a:gd name="connsiteX9" fmla="*/ 202440 w 407076"/>
                <a:gd name="connsiteY9" fmla="*/ 0 h 380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76" h="380806">
                  <a:moveTo>
                    <a:pt x="202249" y="0"/>
                  </a:moveTo>
                  <a:cubicBezTo>
                    <a:pt x="237682" y="95"/>
                    <a:pt x="265495" y="17050"/>
                    <a:pt x="290165" y="40577"/>
                  </a:cubicBezTo>
                  <a:cubicBezTo>
                    <a:pt x="346553" y="94488"/>
                    <a:pt x="376652" y="163830"/>
                    <a:pt x="404465" y="234791"/>
                  </a:cubicBezTo>
                  <a:cubicBezTo>
                    <a:pt x="411799" y="253460"/>
                    <a:pt x="402750" y="259842"/>
                    <a:pt x="388939" y="267462"/>
                  </a:cubicBezTo>
                  <a:cubicBezTo>
                    <a:pt x="333504" y="297847"/>
                    <a:pt x="279973" y="331375"/>
                    <a:pt x="229872" y="369856"/>
                  </a:cubicBezTo>
                  <a:cubicBezTo>
                    <a:pt x="212536" y="383095"/>
                    <a:pt x="199011" y="385477"/>
                    <a:pt x="180437" y="370618"/>
                  </a:cubicBezTo>
                  <a:cubicBezTo>
                    <a:pt x="131002" y="331184"/>
                    <a:pt x="77091" y="298037"/>
                    <a:pt x="21846" y="267367"/>
                  </a:cubicBezTo>
                  <a:cubicBezTo>
                    <a:pt x="7177" y="259270"/>
                    <a:pt x="-5682" y="252317"/>
                    <a:pt x="2605" y="231553"/>
                  </a:cubicBezTo>
                  <a:cubicBezTo>
                    <a:pt x="30704" y="160877"/>
                    <a:pt x="61279" y="91535"/>
                    <a:pt x="117953" y="38005"/>
                  </a:cubicBezTo>
                  <a:cubicBezTo>
                    <a:pt x="141384" y="15811"/>
                    <a:pt x="168816" y="381"/>
                    <a:pt x="202440" y="0"/>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15" name="Freeform: Shape 14">
              <a:extLst>
                <a:ext uri="{FF2B5EF4-FFF2-40B4-BE49-F238E27FC236}">
                  <a16:creationId xmlns:a16="http://schemas.microsoft.com/office/drawing/2014/main" id="{03A58201-EB65-A388-5358-E509B1914E90}"/>
                </a:ext>
              </a:extLst>
            </p:cNvPr>
            <p:cNvSpPr/>
            <p:nvPr/>
          </p:nvSpPr>
          <p:spPr>
            <a:xfrm>
              <a:off x="5818536" y="3586257"/>
              <a:ext cx="257746" cy="354216"/>
            </a:xfrm>
            <a:custGeom>
              <a:avLst/>
              <a:gdLst>
                <a:gd name="connsiteX0" fmla="*/ 257746 w 257746"/>
                <a:gd name="connsiteY0" fmla="*/ 234887 h 354216"/>
                <a:gd name="connsiteX1" fmla="*/ 90106 w 257746"/>
                <a:gd name="connsiteY1" fmla="*/ 346805 h 354216"/>
                <a:gd name="connsiteX2" fmla="*/ 54197 w 257746"/>
                <a:gd name="connsiteY2" fmla="*/ 333470 h 354216"/>
                <a:gd name="connsiteX3" fmla="*/ 0 w 257746"/>
                <a:gd name="connsiteY3" fmla="*/ 0 h 354216"/>
                <a:gd name="connsiteX4" fmla="*/ 257746 w 257746"/>
                <a:gd name="connsiteY4" fmla="*/ 234982 h 354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746" h="354216">
                  <a:moveTo>
                    <a:pt x="257746" y="234887"/>
                  </a:moveTo>
                  <a:cubicBezTo>
                    <a:pt x="202787" y="278416"/>
                    <a:pt x="146971" y="313373"/>
                    <a:pt x="90106" y="346805"/>
                  </a:cubicBezTo>
                  <a:cubicBezTo>
                    <a:pt x="71247" y="357854"/>
                    <a:pt x="60865" y="358902"/>
                    <a:pt x="54197" y="333470"/>
                  </a:cubicBezTo>
                  <a:cubicBezTo>
                    <a:pt x="26670" y="227838"/>
                    <a:pt x="6953" y="121063"/>
                    <a:pt x="0" y="0"/>
                  </a:cubicBezTo>
                  <a:cubicBezTo>
                    <a:pt x="86677" y="85820"/>
                    <a:pt x="167069" y="164306"/>
                    <a:pt x="257746" y="234982"/>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16" name="Freeform: Shape 15">
              <a:extLst>
                <a:ext uri="{FF2B5EF4-FFF2-40B4-BE49-F238E27FC236}">
                  <a16:creationId xmlns:a16="http://schemas.microsoft.com/office/drawing/2014/main" id="{0FFBAF3F-A479-7F3B-5949-1858AD76E2EB}"/>
                </a:ext>
              </a:extLst>
            </p:cNvPr>
            <p:cNvSpPr/>
            <p:nvPr/>
          </p:nvSpPr>
          <p:spPr>
            <a:xfrm>
              <a:off x="5819203" y="2903577"/>
              <a:ext cx="257365" cy="355115"/>
            </a:xfrm>
            <a:custGeom>
              <a:avLst/>
              <a:gdLst>
                <a:gd name="connsiteX0" fmla="*/ 257366 w 257365"/>
                <a:gd name="connsiteY0" fmla="*/ 120134 h 355115"/>
                <a:gd name="connsiteX1" fmla="*/ 0 w 257365"/>
                <a:gd name="connsiteY1" fmla="*/ 355116 h 355115"/>
                <a:gd name="connsiteX2" fmla="*/ 56388 w 257365"/>
                <a:gd name="connsiteY2" fmla="*/ 16407 h 355115"/>
                <a:gd name="connsiteX3" fmla="*/ 87154 w 257365"/>
                <a:gd name="connsiteY3" fmla="*/ 6596 h 355115"/>
                <a:gd name="connsiteX4" fmla="*/ 257366 w 257365"/>
                <a:gd name="connsiteY4" fmla="*/ 120039 h 3551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365" h="355115">
                  <a:moveTo>
                    <a:pt x="257366" y="120134"/>
                  </a:moveTo>
                  <a:cubicBezTo>
                    <a:pt x="166497" y="190428"/>
                    <a:pt x="86677" y="266438"/>
                    <a:pt x="0" y="355116"/>
                  </a:cubicBezTo>
                  <a:cubicBezTo>
                    <a:pt x="7048" y="230338"/>
                    <a:pt x="26194" y="122610"/>
                    <a:pt x="56388" y="16407"/>
                  </a:cubicBezTo>
                  <a:cubicBezTo>
                    <a:pt x="62865" y="-6263"/>
                    <a:pt x="73438" y="-1215"/>
                    <a:pt x="87154" y="6596"/>
                  </a:cubicBezTo>
                  <a:cubicBezTo>
                    <a:pt x="144875" y="39648"/>
                    <a:pt x="201454" y="74223"/>
                    <a:pt x="257366" y="120039"/>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17" name="Freeform: Shape 16">
              <a:extLst>
                <a:ext uri="{FF2B5EF4-FFF2-40B4-BE49-F238E27FC236}">
                  <a16:creationId xmlns:a16="http://schemas.microsoft.com/office/drawing/2014/main" id="{8D161F4A-980B-2429-5B60-39F8DBCB42ED}"/>
                </a:ext>
              </a:extLst>
            </p:cNvPr>
            <p:cNvSpPr/>
            <p:nvPr/>
          </p:nvSpPr>
          <p:spPr>
            <a:xfrm>
              <a:off x="6130308" y="2906050"/>
              <a:ext cx="250488" cy="352261"/>
            </a:xfrm>
            <a:custGeom>
              <a:avLst/>
              <a:gdLst>
                <a:gd name="connsiteX0" fmla="*/ 250489 w 250488"/>
                <a:gd name="connsiteY0" fmla="*/ 352262 h 352261"/>
                <a:gd name="connsiteX1" fmla="*/ 9411 w 250488"/>
                <a:gd name="connsiteY1" fmla="*/ 129853 h 352261"/>
                <a:gd name="connsiteX2" fmla="*/ 12554 w 250488"/>
                <a:gd name="connsiteY2" fmla="*/ 102516 h 352261"/>
                <a:gd name="connsiteX3" fmla="*/ 160001 w 250488"/>
                <a:gd name="connsiteY3" fmla="*/ 7171 h 352261"/>
                <a:gd name="connsiteX4" fmla="*/ 194482 w 250488"/>
                <a:gd name="connsiteY4" fmla="*/ 23364 h 352261"/>
                <a:gd name="connsiteX5" fmla="*/ 250489 w 250488"/>
                <a:gd name="connsiteY5" fmla="*/ 352262 h 352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0488" h="352261">
                  <a:moveTo>
                    <a:pt x="250489" y="352262"/>
                  </a:moveTo>
                  <a:cubicBezTo>
                    <a:pt x="169622" y="267775"/>
                    <a:pt x="92564" y="195385"/>
                    <a:pt x="9411" y="129853"/>
                  </a:cubicBezTo>
                  <a:cubicBezTo>
                    <a:pt x="-6305" y="117471"/>
                    <a:pt x="-304" y="110803"/>
                    <a:pt x="12554" y="102516"/>
                  </a:cubicBezTo>
                  <a:cubicBezTo>
                    <a:pt x="61894" y="70989"/>
                    <a:pt x="111233" y="39461"/>
                    <a:pt x="160001" y="7171"/>
                  </a:cubicBezTo>
                  <a:cubicBezTo>
                    <a:pt x="181814" y="-7212"/>
                    <a:pt x="188100" y="980"/>
                    <a:pt x="194482" y="23364"/>
                  </a:cubicBezTo>
                  <a:cubicBezTo>
                    <a:pt x="223914" y="127281"/>
                    <a:pt x="239059" y="233485"/>
                    <a:pt x="250489" y="352262"/>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18" name="Freeform: Shape 17">
              <a:extLst>
                <a:ext uri="{FF2B5EF4-FFF2-40B4-BE49-F238E27FC236}">
                  <a16:creationId xmlns:a16="http://schemas.microsoft.com/office/drawing/2014/main" id="{AAD29A4C-C40E-68B9-1545-0D86CFD37FF8}"/>
                </a:ext>
              </a:extLst>
            </p:cNvPr>
            <p:cNvSpPr/>
            <p:nvPr/>
          </p:nvSpPr>
          <p:spPr>
            <a:xfrm>
              <a:off x="6123336" y="3586638"/>
              <a:ext cx="255651" cy="347591"/>
            </a:xfrm>
            <a:custGeom>
              <a:avLst/>
              <a:gdLst>
                <a:gd name="connsiteX0" fmla="*/ 0 w 255651"/>
                <a:gd name="connsiteY0" fmla="*/ 236315 h 347591"/>
                <a:gd name="connsiteX1" fmla="*/ 255651 w 255651"/>
                <a:gd name="connsiteY1" fmla="*/ 0 h 347591"/>
                <a:gd name="connsiteX2" fmla="*/ 215932 w 255651"/>
                <a:gd name="connsiteY2" fmla="*/ 275082 h 347591"/>
                <a:gd name="connsiteX3" fmla="*/ 118396 w 255651"/>
                <a:gd name="connsiteY3" fmla="*/ 315563 h 347591"/>
                <a:gd name="connsiteX4" fmla="*/ 0 w 255651"/>
                <a:gd name="connsiteY4" fmla="*/ 236315 h 347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651" h="347591">
                  <a:moveTo>
                    <a:pt x="0" y="236315"/>
                  </a:moveTo>
                  <a:cubicBezTo>
                    <a:pt x="90678" y="161449"/>
                    <a:pt x="173450" y="88773"/>
                    <a:pt x="255651" y="0"/>
                  </a:cubicBezTo>
                  <a:cubicBezTo>
                    <a:pt x="250222" y="99346"/>
                    <a:pt x="236125" y="187642"/>
                    <a:pt x="215932" y="275082"/>
                  </a:cubicBezTo>
                  <a:cubicBezTo>
                    <a:pt x="195548" y="363379"/>
                    <a:pt x="194405" y="363569"/>
                    <a:pt x="118396" y="315563"/>
                  </a:cubicBezTo>
                  <a:cubicBezTo>
                    <a:pt x="79820" y="291179"/>
                    <a:pt x="42482" y="264795"/>
                    <a:pt x="0" y="236315"/>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19" name="Freeform: Shape 18">
              <a:extLst>
                <a:ext uri="{FF2B5EF4-FFF2-40B4-BE49-F238E27FC236}">
                  <a16:creationId xmlns:a16="http://schemas.microsoft.com/office/drawing/2014/main" id="{7E998D95-DC08-E6E3-3567-52D2586C229A}"/>
                </a:ext>
              </a:extLst>
            </p:cNvPr>
            <p:cNvSpPr/>
            <p:nvPr/>
          </p:nvSpPr>
          <p:spPr>
            <a:xfrm>
              <a:off x="6414325" y="3346513"/>
              <a:ext cx="61831" cy="154400"/>
            </a:xfrm>
            <a:custGeom>
              <a:avLst/>
              <a:gdLst>
                <a:gd name="connsiteX0" fmla="*/ 0 w 61831"/>
                <a:gd name="connsiteY0" fmla="*/ 0 h 154400"/>
                <a:gd name="connsiteX1" fmla="*/ 0 w 61831"/>
                <a:gd name="connsiteY1" fmla="*/ 154400 h 154400"/>
                <a:gd name="connsiteX2" fmla="*/ 0 w 61831"/>
                <a:gd name="connsiteY2" fmla="*/ 0 h 154400"/>
              </a:gdLst>
              <a:ahLst/>
              <a:cxnLst>
                <a:cxn ang="0">
                  <a:pos x="connsiteX0" y="connsiteY0"/>
                </a:cxn>
                <a:cxn ang="0">
                  <a:pos x="connsiteX1" y="connsiteY1"/>
                </a:cxn>
                <a:cxn ang="0">
                  <a:pos x="connsiteX2" y="connsiteY2"/>
                </a:cxn>
              </a:cxnLst>
              <a:rect l="l" t="t" r="r" b="b"/>
              <a:pathLst>
                <a:path w="61831" h="154400">
                  <a:moveTo>
                    <a:pt x="0" y="0"/>
                  </a:moveTo>
                  <a:cubicBezTo>
                    <a:pt x="81534" y="80867"/>
                    <a:pt x="83344" y="66104"/>
                    <a:pt x="0" y="154400"/>
                  </a:cubicBezTo>
                  <a:lnTo>
                    <a:pt x="0" y="0"/>
                  </a:ln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20" name="Freeform: Shape 19">
              <a:extLst>
                <a:ext uri="{FF2B5EF4-FFF2-40B4-BE49-F238E27FC236}">
                  <a16:creationId xmlns:a16="http://schemas.microsoft.com/office/drawing/2014/main" id="{DE58F4EE-E61D-268D-1F87-72CBB309F52C}"/>
                </a:ext>
              </a:extLst>
            </p:cNvPr>
            <p:cNvSpPr/>
            <p:nvPr/>
          </p:nvSpPr>
          <p:spPr>
            <a:xfrm>
              <a:off x="5725689" y="3347751"/>
              <a:ext cx="60086" cy="145256"/>
            </a:xfrm>
            <a:custGeom>
              <a:avLst/>
              <a:gdLst>
                <a:gd name="connsiteX0" fmla="*/ 57128 w 60086"/>
                <a:gd name="connsiteY0" fmla="*/ 145256 h 145256"/>
                <a:gd name="connsiteX1" fmla="*/ 55319 w 60086"/>
                <a:gd name="connsiteY1" fmla="*/ 0 h 145256"/>
                <a:gd name="connsiteX2" fmla="*/ 57128 w 60086"/>
                <a:gd name="connsiteY2" fmla="*/ 145256 h 145256"/>
              </a:gdLst>
              <a:ahLst/>
              <a:cxnLst>
                <a:cxn ang="0">
                  <a:pos x="connsiteX0" y="connsiteY0"/>
                </a:cxn>
                <a:cxn ang="0">
                  <a:pos x="connsiteX1" y="connsiteY1"/>
                </a:cxn>
                <a:cxn ang="0">
                  <a:pos x="connsiteX2" y="connsiteY2"/>
                </a:cxn>
              </a:cxnLst>
              <a:rect l="l" t="t" r="r" b="b"/>
              <a:pathLst>
                <a:path w="60086" h="145256">
                  <a:moveTo>
                    <a:pt x="57128" y="145256"/>
                  </a:moveTo>
                  <a:cubicBezTo>
                    <a:pt x="-18691" y="80200"/>
                    <a:pt x="-18786" y="78486"/>
                    <a:pt x="55319" y="0"/>
                  </a:cubicBezTo>
                  <a:cubicBezTo>
                    <a:pt x="62653" y="50197"/>
                    <a:pt x="60081" y="96298"/>
                    <a:pt x="57128" y="145256"/>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21" name="Freeform: Shape 20">
              <a:extLst>
                <a:ext uri="{FF2B5EF4-FFF2-40B4-BE49-F238E27FC236}">
                  <a16:creationId xmlns:a16="http://schemas.microsoft.com/office/drawing/2014/main" id="{E54B1D77-0BE9-2AC1-8EDA-6AFB60177114}"/>
                </a:ext>
              </a:extLst>
            </p:cNvPr>
            <p:cNvSpPr/>
            <p:nvPr/>
          </p:nvSpPr>
          <p:spPr>
            <a:xfrm>
              <a:off x="6018651" y="3346874"/>
              <a:ext cx="154124" cy="153943"/>
            </a:xfrm>
            <a:custGeom>
              <a:avLst/>
              <a:gdLst>
                <a:gd name="connsiteX0" fmla="*/ 154120 w 154124"/>
                <a:gd name="connsiteY0" fmla="*/ 75553 h 153943"/>
                <a:gd name="connsiteX1" fmla="*/ 76395 w 154124"/>
                <a:gd name="connsiteY1" fmla="*/ 153944 h 153943"/>
                <a:gd name="connsiteX2" fmla="*/ 5 w 154124"/>
                <a:gd name="connsiteY2" fmla="*/ 75553 h 153943"/>
                <a:gd name="connsiteX3" fmla="*/ 73919 w 154124"/>
                <a:gd name="connsiteY3" fmla="*/ 20 h 153943"/>
                <a:gd name="connsiteX4" fmla="*/ 154120 w 154124"/>
                <a:gd name="connsiteY4" fmla="*/ 75458 h 153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124" h="153943">
                  <a:moveTo>
                    <a:pt x="154120" y="75553"/>
                  </a:moveTo>
                  <a:cubicBezTo>
                    <a:pt x="154596" y="118606"/>
                    <a:pt x="119734" y="153849"/>
                    <a:pt x="76395" y="153944"/>
                  </a:cubicBezTo>
                  <a:cubicBezTo>
                    <a:pt x="32485" y="154039"/>
                    <a:pt x="-471" y="120225"/>
                    <a:pt x="5" y="75553"/>
                  </a:cubicBezTo>
                  <a:cubicBezTo>
                    <a:pt x="481" y="32214"/>
                    <a:pt x="30961" y="972"/>
                    <a:pt x="73919" y="20"/>
                  </a:cubicBezTo>
                  <a:cubicBezTo>
                    <a:pt x="118020" y="-933"/>
                    <a:pt x="153548" y="32500"/>
                    <a:pt x="154120" y="75458"/>
                  </a:cubicBezTo>
                  <a:close/>
                </a:path>
              </a:pathLst>
            </a:custGeom>
            <a:solidFill>
              <a:srgbClr val="060605"/>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grpSp>
      <p:sp>
        <p:nvSpPr>
          <p:cNvPr id="22" name="TextBox 21">
            <a:extLst>
              <a:ext uri="{FF2B5EF4-FFF2-40B4-BE49-F238E27FC236}">
                <a16:creationId xmlns:a16="http://schemas.microsoft.com/office/drawing/2014/main" id="{40DB1C97-4227-40F4-815A-E95760D5DDCA}"/>
              </a:ext>
            </a:extLst>
          </p:cNvPr>
          <p:cNvSpPr txBox="1"/>
          <p:nvPr/>
        </p:nvSpPr>
        <p:spPr>
          <a:xfrm>
            <a:off x="5157278" y="561714"/>
            <a:ext cx="4476750"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Copperplate Gothic Bold" panose="020E0705020206020404" pitchFamily="34" charset="0"/>
                <a:ea typeface="+mn-ea"/>
                <a:cs typeface="+mn-cs"/>
              </a:rPr>
              <a:t>B</a:t>
            </a:r>
            <a:r>
              <a:rPr kumimoji="0" lang="en-US" sz="4400" b="0" i="0" u="none" strike="noStrike" kern="1200" cap="none" spc="0" normalizeH="0" baseline="0" noProof="0" dirty="0">
                <a:ln>
                  <a:noFill/>
                </a:ln>
                <a:solidFill>
                  <a:prstClr val="black"/>
                </a:solidFill>
                <a:effectLst/>
                <a:uLnTx/>
                <a:uFillTx/>
                <a:latin typeface="Copperplate Gothic Bold" panose="020E0705020206020404" pitchFamily="34" charset="0"/>
                <a:ea typeface="+mn-ea"/>
                <a:cs typeface="+mn-cs"/>
              </a:rPr>
              <a:t>usitema</a:t>
            </a:r>
            <a:endParaRPr kumimoji="0" lang="en-UG" sz="4400" b="0" i="0" u="none" strike="noStrike" kern="1200" cap="none" spc="0" normalizeH="0" baseline="0" noProof="0" dirty="0">
              <a:ln>
                <a:noFill/>
              </a:ln>
              <a:solidFill>
                <a:prstClr val="black"/>
              </a:solidFill>
              <a:effectLst/>
              <a:uLnTx/>
              <a:uFillTx/>
              <a:latin typeface="Copperplate Gothic Bold" panose="020E0705020206020404" pitchFamily="34" charset="0"/>
              <a:ea typeface="+mn-ea"/>
              <a:cs typeface="+mn-cs"/>
            </a:endParaRPr>
          </a:p>
        </p:txBody>
      </p:sp>
      <p:sp>
        <p:nvSpPr>
          <p:cNvPr id="23" name="TextBox 22">
            <a:extLst>
              <a:ext uri="{FF2B5EF4-FFF2-40B4-BE49-F238E27FC236}">
                <a16:creationId xmlns:a16="http://schemas.microsoft.com/office/drawing/2014/main" id="{4EEE5DCF-C4C1-A4A0-6F63-4441956BB5A1}"/>
              </a:ext>
            </a:extLst>
          </p:cNvPr>
          <p:cNvSpPr txBox="1"/>
          <p:nvPr/>
        </p:nvSpPr>
        <p:spPr>
          <a:xfrm>
            <a:off x="5157278" y="1235971"/>
            <a:ext cx="4476750"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Copperplate Gothic Bold" panose="020E0705020206020404" pitchFamily="34" charset="0"/>
                <a:ea typeface="+mn-ea"/>
                <a:cs typeface="+mn-cs"/>
              </a:rPr>
              <a:t>University</a:t>
            </a:r>
            <a:endParaRPr kumimoji="0" lang="en-UG" sz="4400" b="0" i="0" u="none" strike="noStrike" kern="1200" cap="none" spc="0" normalizeH="0" baseline="0" noProof="0" dirty="0">
              <a:ln>
                <a:noFill/>
              </a:ln>
              <a:solidFill>
                <a:prstClr val="black"/>
              </a:solidFill>
              <a:effectLst/>
              <a:uLnTx/>
              <a:uFillTx/>
              <a:latin typeface="Copperplate Gothic Bold" panose="020E0705020206020404" pitchFamily="34" charset="0"/>
              <a:ea typeface="+mn-ea"/>
              <a:cs typeface="+mn-cs"/>
            </a:endParaRPr>
          </a:p>
        </p:txBody>
      </p:sp>
      <p:sp>
        <p:nvSpPr>
          <p:cNvPr id="24" name="TextBox 23">
            <a:extLst>
              <a:ext uri="{FF2B5EF4-FFF2-40B4-BE49-F238E27FC236}">
                <a16:creationId xmlns:a16="http://schemas.microsoft.com/office/drawing/2014/main" id="{233AFF06-4147-0E5C-FA90-A76FF4D9F183}"/>
              </a:ext>
            </a:extLst>
          </p:cNvPr>
          <p:cNvSpPr txBox="1"/>
          <p:nvPr/>
        </p:nvSpPr>
        <p:spPr>
          <a:xfrm>
            <a:off x="5191200" y="2053151"/>
            <a:ext cx="4082975"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Segoe Script" panose="030B0504020000000003" pitchFamily="66" charset="0"/>
                <a:ea typeface="+mn-ea"/>
                <a:cs typeface="+mn-cs"/>
              </a:rPr>
              <a:t>Pursuing excellence</a:t>
            </a:r>
          </a:p>
        </p:txBody>
      </p:sp>
      <p:sp>
        <p:nvSpPr>
          <p:cNvPr id="25" name="Title 24">
            <a:extLst>
              <a:ext uri="{FF2B5EF4-FFF2-40B4-BE49-F238E27FC236}">
                <a16:creationId xmlns:a16="http://schemas.microsoft.com/office/drawing/2014/main" id="{2E55E321-9A8D-866A-11F3-62C8F23EAED7}"/>
              </a:ext>
            </a:extLst>
          </p:cNvPr>
          <p:cNvSpPr txBox="1">
            <a:spLocks noGrp="1"/>
          </p:cNvSpPr>
          <p:nvPr>
            <p:ph type="ctrTitle"/>
          </p:nvPr>
        </p:nvSpPr>
        <p:spPr>
          <a:xfrm>
            <a:off x="1506538" y="2604750"/>
            <a:ext cx="7767637" cy="1446550"/>
          </a:xfrm>
          <a:prstGeom prst="rect">
            <a:avLst/>
          </a:prstGeom>
          <a:noFill/>
        </p:spPr>
        <p:txBody>
          <a:bodyPr wrap="square" rtlCol="0">
            <a:spAutoFit/>
          </a:bodyPr>
          <a:lstStyle/>
          <a:p>
            <a:pPr algn="ctr"/>
            <a:r>
              <a:rPr lang="en-US" sz="4400" b="1" dirty="0">
                <a:solidFill>
                  <a:schemeClr val="tx1"/>
                </a:solidFill>
                <a:latin typeface="Bahnschrift SemiBold SemiConden" panose="020B0502040204020203" pitchFamily="34" charset="0"/>
                <a:cs typeface="Times New Roman" panose="02020603050405020304" pitchFamily="18" charset="0"/>
              </a:rPr>
              <a:t>Faculty of Engineering and Technology</a:t>
            </a:r>
            <a:endParaRPr lang="en-UG" sz="3600" b="1" dirty="0">
              <a:solidFill>
                <a:schemeClr val="tx1"/>
              </a:solidFill>
              <a:latin typeface="Bahnschrift SemiBold SemiConden" panose="020B0502040204020203" pitchFamily="34" charset="0"/>
              <a:cs typeface="Times New Roman" panose="02020603050405020304" pitchFamily="18" charset="0"/>
            </a:endParaRPr>
          </a:p>
        </p:txBody>
      </p:sp>
      <p:sp>
        <p:nvSpPr>
          <p:cNvPr id="26" name="Subtitle 25">
            <a:extLst>
              <a:ext uri="{FF2B5EF4-FFF2-40B4-BE49-F238E27FC236}">
                <a16:creationId xmlns:a16="http://schemas.microsoft.com/office/drawing/2014/main" id="{CEB01F28-CED9-EE0A-6E56-F9F7E59C8AD9}"/>
              </a:ext>
            </a:extLst>
          </p:cNvPr>
          <p:cNvSpPr txBox="1">
            <a:spLocks noGrp="1"/>
          </p:cNvSpPr>
          <p:nvPr>
            <p:ph type="subTitle" idx="1"/>
          </p:nvPr>
        </p:nvSpPr>
        <p:spPr>
          <a:xfrm>
            <a:off x="1506538" y="4051300"/>
            <a:ext cx="7767637" cy="523220"/>
          </a:xfrm>
          <a:prstGeom prst="rect">
            <a:avLst/>
          </a:prstGeom>
          <a:noFill/>
        </p:spPr>
        <p:txBody>
          <a:bodyPr wrap="square" rtlCol="0">
            <a:spAutoFit/>
          </a:bodyPr>
          <a:lstStyle/>
          <a:p>
            <a:pPr algn="ctr"/>
            <a:r>
              <a:rPr lang="en-US" sz="2800" b="1" dirty="0">
                <a:solidFill>
                  <a:schemeClr val="tx1"/>
                </a:solidFill>
                <a:latin typeface="Times New Roman" panose="02020603050405020304" pitchFamily="18" charset="0"/>
                <a:cs typeface="Times New Roman" panose="02020603050405020304" pitchFamily="18" charset="0"/>
              </a:rPr>
              <a:t>Group 17</a:t>
            </a:r>
            <a:endParaRPr lang="en-UG" sz="2000" b="1" dirty="0">
              <a:solidFill>
                <a:schemeClr val="tx1"/>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CAF38C84-6FEC-ABD8-D81C-B15E67033060}"/>
              </a:ext>
            </a:extLst>
          </p:cNvPr>
          <p:cNvSpPr txBox="1"/>
          <p:nvPr/>
        </p:nvSpPr>
        <p:spPr>
          <a:xfrm>
            <a:off x="1442528" y="5098809"/>
            <a:ext cx="8191500"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Helvetica" pitchFamily="2" charset="0"/>
                <a:ea typeface="Sans Serif Collection" panose="020B0502040504020204" pitchFamily="34" charset="0"/>
                <a:cs typeface="Sans Serif Collection" panose="020B0502040504020204" pitchFamily="34" charset="0"/>
              </a:rPr>
              <a:t>MATLAB Group Assignment </a:t>
            </a:r>
            <a:endParaRPr kumimoji="0" lang="en-UG" sz="2000" b="1" i="0" u="none" strike="noStrike" kern="1200" cap="none" spc="0" normalizeH="0" baseline="0" noProof="0" dirty="0">
              <a:ln>
                <a:noFill/>
              </a:ln>
              <a:solidFill>
                <a:prstClr val="black"/>
              </a:solidFill>
              <a:effectLst/>
              <a:uLnTx/>
              <a:uFillTx/>
              <a:latin typeface="Helvetica" pitchFamily="2"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31680930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down)">
                                      <p:cBhvr>
                                        <p:cTn id="25" dur="580">
                                          <p:stCondLst>
                                            <p:cond delay="0"/>
                                          </p:stCondLst>
                                        </p:cTn>
                                        <p:tgtEl>
                                          <p:spTgt spid="22"/>
                                        </p:tgtEl>
                                      </p:cBhvr>
                                    </p:animEffect>
                                    <p:anim calcmode="lin" valueType="num">
                                      <p:cBhvr>
                                        <p:cTn id="26" dur="1822" tmFilter="0,0; 0.14,0.36; 0.43,0.73; 0.71,0.91; 1.0,1.0">
                                          <p:stCondLst>
                                            <p:cond delay="0"/>
                                          </p:stCondLst>
                                        </p:cTn>
                                        <p:tgtEl>
                                          <p:spTgt spid="22"/>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2"/>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2"/>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2"/>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2"/>
                                        </p:tgtEl>
                                        <p:attrNameLst>
                                          <p:attrName>ppt_y</p:attrName>
                                        </p:attrNameLst>
                                      </p:cBhvr>
                                      <p:tavLst>
                                        <p:tav tm="0" fmla="#ppt_y-sin(pi*$)/81">
                                          <p:val>
                                            <p:fltVal val="0"/>
                                          </p:val>
                                        </p:tav>
                                        <p:tav tm="100000">
                                          <p:val>
                                            <p:fltVal val="1"/>
                                          </p:val>
                                        </p:tav>
                                      </p:tavLst>
                                    </p:anim>
                                    <p:animScale>
                                      <p:cBhvr>
                                        <p:cTn id="31" dur="26">
                                          <p:stCondLst>
                                            <p:cond delay="650"/>
                                          </p:stCondLst>
                                        </p:cTn>
                                        <p:tgtEl>
                                          <p:spTgt spid="22"/>
                                        </p:tgtEl>
                                      </p:cBhvr>
                                      <p:to x="100000" y="60000"/>
                                    </p:animScale>
                                    <p:animScale>
                                      <p:cBhvr>
                                        <p:cTn id="32" dur="166" decel="50000">
                                          <p:stCondLst>
                                            <p:cond delay="676"/>
                                          </p:stCondLst>
                                        </p:cTn>
                                        <p:tgtEl>
                                          <p:spTgt spid="22"/>
                                        </p:tgtEl>
                                      </p:cBhvr>
                                      <p:to x="100000" y="100000"/>
                                    </p:animScale>
                                    <p:animScale>
                                      <p:cBhvr>
                                        <p:cTn id="33" dur="26">
                                          <p:stCondLst>
                                            <p:cond delay="1312"/>
                                          </p:stCondLst>
                                        </p:cTn>
                                        <p:tgtEl>
                                          <p:spTgt spid="22"/>
                                        </p:tgtEl>
                                      </p:cBhvr>
                                      <p:to x="100000" y="80000"/>
                                    </p:animScale>
                                    <p:animScale>
                                      <p:cBhvr>
                                        <p:cTn id="34" dur="166" decel="50000">
                                          <p:stCondLst>
                                            <p:cond delay="1338"/>
                                          </p:stCondLst>
                                        </p:cTn>
                                        <p:tgtEl>
                                          <p:spTgt spid="22"/>
                                        </p:tgtEl>
                                      </p:cBhvr>
                                      <p:to x="100000" y="100000"/>
                                    </p:animScale>
                                    <p:animScale>
                                      <p:cBhvr>
                                        <p:cTn id="35" dur="26">
                                          <p:stCondLst>
                                            <p:cond delay="1642"/>
                                          </p:stCondLst>
                                        </p:cTn>
                                        <p:tgtEl>
                                          <p:spTgt spid="22"/>
                                        </p:tgtEl>
                                      </p:cBhvr>
                                      <p:to x="100000" y="90000"/>
                                    </p:animScale>
                                    <p:animScale>
                                      <p:cBhvr>
                                        <p:cTn id="36" dur="166" decel="50000">
                                          <p:stCondLst>
                                            <p:cond delay="1668"/>
                                          </p:stCondLst>
                                        </p:cTn>
                                        <p:tgtEl>
                                          <p:spTgt spid="22"/>
                                        </p:tgtEl>
                                      </p:cBhvr>
                                      <p:to x="100000" y="100000"/>
                                    </p:animScale>
                                    <p:animScale>
                                      <p:cBhvr>
                                        <p:cTn id="37" dur="26">
                                          <p:stCondLst>
                                            <p:cond delay="1808"/>
                                          </p:stCondLst>
                                        </p:cTn>
                                        <p:tgtEl>
                                          <p:spTgt spid="22"/>
                                        </p:tgtEl>
                                      </p:cBhvr>
                                      <p:to x="100000" y="95000"/>
                                    </p:animScale>
                                    <p:animScale>
                                      <p:cBhvr>
                                        <p:cTn id="38" dur="166" decel="50000">
                                          <p:stCondLst>
                                            <p:cond delay="1834"/>
                                          </p:stCondLst>
                                        </p:cTn>
                                        <p:tgtEl>
                                          <p:spTgt spid="22"/>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wipe(down)">
                                      <p:cBhvr>
                                        <p:cTn id="43" dur="580">
                                          <p:stCondLst>
                                            <p:cond delay="0"/>
                                          </p:stCondLst>
                                        </p:cTn>
                                        <p:tgtEl>
                                          <p:spTgt spid="23"/>
                                        </p:tgtEl>
                                      </p:cBhvr>
                                    </p:animEffect>
                                    <p:anim calcmode="lin" valueType="num">
                                      <p:cBhvr>
                                        <p:cTn id="44" dur="1822" tmFilter="0,0; 0.14,0.36; 0.43,0.73; 0.71,0.91; 1.0,1.0">
                                          <p:stCondLst>
                                            <p:cond delay="0"/>
                                          </p:stCondLst>
                                        </p:cTn>
                                        <p:tgtEl>
                                          <p:spTgt spid="23"/>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23"/>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23"/>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23"/>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23"/>
                                        </p:tgtEl>
                                        <p:attrNameLst>
                                          <p:attrName>ppt_y</p:attrName>
                                        </p:attrNameLst>
                                      </p:cBhvr>
                                      <p:tavLst>
                                        <p:tav tm="0" fmla="#ppt_y-sin(pi*$)/81">
                                          <p:val>
                                            <p:fltVal val="0"/>
                                          </p:val>
                                        </p:tav>
                                        <p:tav tm="100000">
                                          <p:val>
                                            <p:fltVal val="1"/>
                                          </p:val>
                                        </p:tav>
                                      </p:tavLst>
                                    </p:anim>
                                    <p:animScale>
                                      <p:cBhvr>
                                        <p:cTn id="49" dur="26">
                                          <p:stCondLst>
                                            <p:cond delay="650"/>
                                          </p:stCondLst>
                                        </p:cTn>
                                        <p:tgtEl>
                                          <p:spTgt spid="23"/>
                                        </p:tgtEl>
                                      </p:cBhvr>
                                      <p:to x="100000" y="60000"/>
                                    </p:animScale>
                                    <p:animScale>
                                      <p:cBhvr>
                                        <p:cTn id="50" dur="166" decel="50000">
                                          <p:stCondLst>
                                            <p:cond delay="676"/>
                                          </p:stCondLst>
                                        </p:cTn>
                                        <p:tgtEl>
                                          <p:spTgt spid="23"/>
                                        </p:tgtEl>
                                      </p:cBhvr>
                                      <p:to x="100000" y="100000"/>
                                    </p:animScale>
                                    <p:animScale>
                                      <p:cBhvr>
                                        <p:cTn id="51" dur="26">
                                          <p:stCondLst>
                                            <p:cond delay="1312"/>
                                          </p:stCondLst>
                                        </p:cTn>
                                        <p:tgtEl>
                                          <p:spTgt spid="23"/>
                                        </p:tgtEl>
                                      </p:cBhvr>
                                      <p:to x="100000" y="80000"/>
                                    </p:animScale>
                                    <p:animScale>
                                      <p:cBhvr>
                                        <p:cTn id="52" dur="166" decel="50000">
                                          <p:stCondLst>
                                            <p:cond delay="1338"/>
                                          </p:stCondLst>
                                        </p:cTn>
                                        <p:tgtEl>
                                          <p:spTgt spid="23"/>
                                        </p:tgtEl>
                                      </p:cBhvr>
                                      <p:to x="100000" y="100000"/>
                                    </p:animScale>
                                    <p:animScale>
                                      <p:cBhvr>
                                        <p:cTn id="53" dur="26">
                                          <p:stCondLst>
                                            <p:cond delay="1642"/>
                                          </p:stCondLst>
                                        </p:cTn>
                                        <p:tgtEl>
                                          <p:spTgt spid="23"/>
                                        </p:tgtEl>
                                      </p:cBhvr>
                                      <p:to x="100000" y="90000"/>
                                    </p:animScale>
                                    <p:animScale>
                                      <p:cBhvr>
                                        <p:cTn id="54" dur="166" decel="50000">
                                          <p:stCondLst>
                                            <p:cond delay="1668"/>
                                          </p:stCondLst>
                                        </p:cTn>
                                        <p:tgtEl>
                                          <p:spTgt spid="23"/>
                                        </p:tgtEl>
                                      </p:cBhvr>
                                      <p:to x="100000" y="100000"/>
                                    </p:animScale>
                                    <p:animScale>
                                      <p:cBhvr>
                                        <p:cTn id="55" dur="26">
                                          <p:stCondLst>
                                            <p:cond delay="1808"/>
                                          </p:stCondLst>
                                        </p:cTn>
                                        <p:tgtEl>
                                          <p:spTgt spid="23"/>
                                        </p:tgtEl>
                                      </p:cBhvr>
                                      <p:to x="100000" y="95000"/>
                                    </p:animScale>
                                    <p:animScale>
                                      <p:cBhvr>
                                        <p:cTn id="56" dur="166" decel="50000">
                                          <p:stCondLst>
                                            <p:cond delay="1834"/>
                                          </p:stCondLst>
                                        </p:cTn>
                                        <p:tgtEl>
                                          <p:spTgt spid="23"/>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wipe(down)">
                                      <p:cBhvr>
                                        <p:cTn id="61" dur="580">
                                          <p:stCondLst>
                                            <p:cond delay="0"/>
                                          </p:stCondLst>
                                        </p:cTn>
                                        <p:tgtEl>
                                          <p:spTgt spid="24"/>
                                        </p:tgtEl>
                                      </p:cBhvr>
                                    </p:animEffect>
                                    <p:anim calcmode="lin" valueType="num">
                                      <p:cBhvr>
                                        <p:cTn id="62" dur="1822"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24"/>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24"/>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24"/>
                                        </p:tgtEl>
                                        <p:attrNameLst>
                                          <p:attrName>ppt_y</p:attrName>
                                        </p:attrNameLst>
                                      </p:cBhvr>
                                      <p:tavLst>
                                        <p:tav tm="0" fmla="#ppt_y-sin(pi*$)/81">
                                          <p:val>
                                            <p:fltVal val="0"/>
                                          </p:val>
                                        </p:tav>
                                        <p:tav tm="100000">
                                          <p:val>
                                            <p:fltVal val="1"/>
                                          </p:val>
                                        </p:tav>
                                      </p:tavLst>
                                    </p:anim>
                                    <p:animScale>
                                      <p:cBhvr>
                                        <p:cTn id="67" dur="26">
                                          <p:stCondLst>
                                            <p:cond delay="650"/>
                                          </p:stCondLst>
                                        </p:cTn>
                                        <p:tgtEl>
                                          <p:spTgt spid="24"/>
                                        </p:tgtEl>
                                      </p:cBhvr>
                                      <p:to x="100000" y="60000"/>
                                    </p:animScale>
                                    <p:animScale>
                                      <p:cBhvr>
                                        <p:cTn id="68" dur="166" decel="50000">
                                          <p:stCondLst>
                                            <p:cond delay="676"/>
                                          </p:stCondLst>
                                        </p:cTn>
                                        <p:tgtEl>
                                          <p:spTgt spid="24"/>
                                        </p:tgtEl>
                                      </p:cBhvr>
                                      <p:to x="100000" y="100000"/>
                                    </p:animScale>
                                    <p:animScale>
                                      <p:cBhvr>
                                        <p:cTn id="69" dur="26">
                                          <p:stCondLst>
                                            <p:cond delay="1312"/>
                                          </p:stCondLst>
                                        </p:cTn>
                                        <p:tgtEl>
                                          <p:spTgt spid="24"/>
                                        </p:tgtEl>
                                      </p:cBhvr>
                                      <p:to x="100000" y="80000"/>
                                    </p:animScale>
                                    <p:animScale>
                                      <p:cBhvr>
                                        <p:cTn id="70" dur="166" decel="50000">
                                          <p:stCondLst>
                                            <p:cond delay="1338"/>
                                          </p:stCondLst>
                                        </p:cTn>
                                        <p:tgtEl>
                                          <p:spTgt spid="24"/>
                                        </p:tgtEl>
                                      </p:cBhvr>
                                      <p:to x="100000" y="100000"/>
                                    </p:animScale>
                                    <p:animScale>
                                      <p:cBhvr>
                                        <p:cTn id="71" dur="26">
                                          <p:stCondLst>
                                            <p:cond delay="1642"/>
                                          </p:stCondLst>
                                        </p:cTn>
                                        <p:tgtEl>
                                          <p:spTgt spid="24"/>
                                        </p:tgtEl>
                                      </p:cBhvr>
                                      <p:to x="100000" y="90000"/>
                                    </p:animScale>
                                    <p:animScale>
                                      <p:cBhvr>
                                        <p:cTn id="72" dur="166" decel="50000">
                                          <p:stCondLst>
                                            <p:cond delay="1668"/>
                                          </p:stCondLst>
                                        </p:cTn>
                                        <p:tgtEl>
                                          <p:spTgt spid="24"/>
                                        </p:tgtEl>
                                      </p:cBhvr>
                                      <p:to x="100000" y="100000"/>
                                    </p:animScale>
                                    <p:animScale>
                                      <p:cBhvr>
                                        <p:cTn id="73" dur="26">
                                          <p:stCondLst>
                                            <p:cond delay="1808"/>
                                          </p:stCondLst>
                                        </p:cTn>
                                        <p:tgtEl>
                                          <p:spTgt spid="24"/>
                                        </p:tgtEl>
                                      </p:cBhvr>
                                      <p:to x="100000" y="95000"/>
                                    </p:animScale>
                                    <p:animScale>
                                      <p:cBhvr>
                                        <p:cTn id="74" dur="166" decel="50000">
                                          <p:stCondLst>
                                            <p:cond delay="1834"/>
                                          </p:stCondLst>
                                        </p:cTn>
                                        <p:tgtEl>
                                          <p:spTgt spid="24"/>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332D0F3C-B471-7D1D-8DB4-28522C68BDEB}"/>
              </a:ext>
            </a:extLst>
          </p:cNvPr>
          <p:cNvSpPr txBox="1">
            <a:spLocks noGrp="1"/>
          </p:cNvSpPr>
          <p:nvPr>
            <p:ph type="title"/>
          </p:nvPr>
        </p:nvSpPr>
        <p:spPr>
          <a:xfrm>
            <a:off x="677334" y="1201614"/>
            <a:ext cx="10118474" cy="523220"/>
          </a:xfrm>
          <a:prstGeom prst="rect">
            <a:avLst/>
          </a:prstGeom>
          <a:noFill/>
        </p:spPr>
        <p:txBody>
          <a:bodyPr wrap="square" rtlCol="0">
            <a:spAutoFit/>
          </a:bodyPr>
          <a:lstStyle/>
          <a:p>
            <a:pPr algn="ctr"/>
            <a:r>
              <a:rPr lang="en-US" sz="2800" b="1" dirty="0">
                <a:solidFill>
                  <a:schemeClr val="tx1"/>
                </a:solidFill>
                <a:latin typeface="Times New Roman" panose="02020603050405020304" pitchFamily="18" charset="0"/>
                <a:cs typeface="Times New Roman" panose="02020603050405020304" pitchFamily="18" charset="0"/>
              </a:rPr>
              <a:t>Group 17 Members</a:t>
            </a:r>
            <a:endParaRPr lang="en-UG" sz="20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59327FB-0D17-2CCE-8416-3D13B94588C6}"/>
              </a:ext>
            </a:extLst>
          </p:cNvPr>
          <p:cNvSpPr>
            <a:spLocks noGrp="1"/>
          </p:cNvSpPr>
          <p:nvPr>
            <p:ph idx="1"/>
          </p:nvPr>
        </p:nvSpPr>
        <p:spPr>
          <a:xfrm>
            <a:off x="677334" y="2160590"/>
            <a:ext cx="45719" cy="130009"/>
          </a:xfrm>
        </p:spPr>
        <p:txBody>
          <a:bodyPr>
            <a:normAutofit fontScale="25000" lnSpcReduction="20000"/>
          </a:bodyPr>
          <a:lstStyle/>
          <a:p>
            <a:endParaRPr lang="en-US" dirty="0"/>
          </a:p>
        </p:txBody>
      </p:sp>
      <p:grpSp>
        <p:nvGrpSpPr>
          <p:cNvPr id="4" name="Group 3">
            <a:extLst>
              <a:ext uri="{FF2B5EF4-FFF2-40B4-BE49-F238E27FC236}">
                <a16:creationId xmlns:a16="http://schemas.microsoft.com/office/drawing/2014/main" id="{D903E3A2-E69E-2579-B2C0-4E6573333165}"/>
              </a:ext>
            </a:extLst>
          </p:cNvPr>
          <p:cNvGrpSpPr/>
          <p:nvPr/>
        </p:nvGrpSpPr>
        <p:grpSpPr>
          <a:xfrm>
            <a:off x="9062248" y="145822"/>
            <a:ext cx="1051560" cy="1053058"/>
            <a:chOff x="4790102" y="2116535"/>
            <a:chExt cx="2610730" cy="2613124"/>
          </a:xfrm>
        </p:grpSpPr>
        <p:sp>
          <p:nvSpPr>
            <p:cNvPr id="5" name="Freeform: Shape 4">
              <a:extLst>
                <a:ext uri="{FF2B5EF4-FFF2-40B4-BE49-F238E27FC236}">
                  <a16:creationId xmlns:a16="http://schemas.microsoft.com/office/drawing/2014/main" id="{A14386D0-1DEE-1A16-3E92-226529BD9C81}"/>
                </a:ext>
              </a:extLst>
            </p:cNvPr>
            <p:cNvSpPr/>
            <p:nvPr/>
          </p:nvSpPr>
          <p:spPr>
            <a:xfrm>
              <a:off x="4790102" y="2116535"/>
              <a:ext cx="2610730" cy="2613124"/>
            </a:xfrm>
            <a:custGeom>
              <a:avLst/>
              <a:gdLst>
                <a:gd name="connsiteX0" fmla="*/ 83174 w 2610730"/>
                <a:gd name="connsiteY0" fmla="*/ 1015475 h 2613124"/>
                <a:gd name="connsiteX1" fmla="*/ 172804 w 2610730"/>
                <a:gd name="connsiteY1" fmla="*/ 1026524 h 2613124"/>
                <a:gd name="connsiteX2" fmla="*/ 230144 w 2610730"/>
                <a:gd name="connsiteY2" fmla="*/ 984329 h 2613124"/>
                <a:gd name="connsiteX3" fmla="*/ 204141 w 2610730"/>
                <a:gd name="connsiteY3" fmla="*/ 922226 h 2613124"/>
                <a:gd name="connsiteX4" fmla="*/ 119083 w 2610730"/>
                <a:gd name="connsiteY4" fmla="*/ 879839 h 2613124"/>
                <a:gd name="connsiteX5" fmla="*/ 96985 w 2610730"/>
                <a:gd name="connsiteY5" fmla="*/ 809735 h 2613124"/>
                <a:gd name="connsiteX6" fmla="*/ 161374 w 2610730"/>
                <a:gd name="connsiteY6" fmla="*/ 782303 h 2613124"/>
                <a:gd name="connsiteX7" fmla="*/ 251766 w 2610730"/>
                <a:gd name="connsiteY7" fmla="*/ 811545 h 2613124"/>
                <a:gd name="connsiteX8" fmla="*/ 309488 w 2610730"/>
                <a:gd name="connsiteY8" fmla="*/ 787447 h 2613124"/>
                <a:gd name="connsiteX9" fmla="*/ 299201 w 2610730"/>
                <a:gd name="connsiteY9" fmla="*/ 721629 h 2613124"/>
                <a:gd name="connsiteX10" fmla="*/ 227477 w 2610730"/>
                <a:gd name="connsiteY10" fmla="*/ 666670 h 2613124"/>
                <a:gd name="connsiteX11" fmla="*/ 212237 w 2610730"/>
                <a:gd name="connsiteY11" fmla="*/ 591041 h 2613124"/>
                <a:gd name="connsiteX12" fmla="*/ 288152 w 2610730"/>
                <a:gd name="connsiteY12" fmla="*/ 578183 h 2613124"/>
                <a:gd name="connsiteX13" fmla="*/ 354541 w 2610730"/>
                <a:gd name="connsiteY13" fmla="*/ 615330 h 2613124"/>
                <a:gd name="connsiteX14" fmla="*/ 435218 w 2610730"/>
                <a:gd name="connsiteY14" fmla="*/ 598757 h 2613124"/>
                <a:gd name="connsiteX15" fmla="*/ 434456 w 2610730"/>
                <a:gd name="connsiteY15" fmla="*/ 520556 h 2613124"/>
                <a:gd name="connsiteX16" fmla="*/ 375496 w 2610730"/>
                <a:gd name="connsiteY16" fmla="*/ 452072 h 2613124"/>
                <a:gd name="connsiteX17" fmla="*/ 382449 w 2610730"/>
                <a:gd name="connsiteY17" fmla="*/ 382063 h 2613124"/>
                <a:gd name="connsiteX18" fmla="*/ 448172 w 2610730"/>
                <a:gd name="connsiteY18" fmla="*/ 376538 h 2613124"/>
                <a:gd name="connsiteX19" fmla="*/ 524181 w 2610730"/>
                <a:gd name="connsiteY19" fmla="*/ 441404 h 2613124"/>
                <a:gd name="connsiteX20" fmla="*/ 591047 w 2610730"/>
                <a:gd name="connsiteY20" fmla="*/ 440832 h 2613124"/>
                <a:gd name="connsiteX21" fmla="*/ 607239 w 2610730"/>
                <a:gd name="connsiteY21" fmla="*/ 371966 h 2613124"/>
                <a:gd name="connsiteX22" fmla="*/ 558662 w 2610730"/>
                <a:gd name="connsiteY22" fmla="*/ 284813 h 2613124"/>
                <a:gd name="connsiteX23" fmla="*/ 578855 w 2610730"/>
                <a:gd name="connsiteY23" fmla="*/ 221471 h 2613124"/>
                <a:gd name="connsiteX24" fmla="*/ 644863 w 2610730"/>
                <a:gd name="connsiteY24" fmla="*/ 227472 h 2613124"/>
                <a:gd name="connsiteX25" fmla="*/ 710014 w 2610730"/>
                <a:gd name="connsiteY25" fmla="*/ 309292 h 2613124"/>
                <a:gd name="connsiteX26" fmla="*/ 772498 w 2610730"/>
                <a:gd name="connsiteY26" fmla="*/ 318341 h 2613124"/>
                <a:gd name="connsiteX27" fmla="*/ 804216 w 2610730"/>
                <a:gd name="connsiteY27" fmla="*/ 259381 h 2613124"/>
                <a:gd name="connsiteX28" fmla="*/ 773831 w 2610730"/>
                <a:gd name="connsiteY28" fmla="*/ 164417 h 2613124"/>
                <a:gd name="connsiteX29" fmla="*/ 808502 w 2610730"/>
                <a:gd name="connsiteY29" fmla="*/ 99170 h 2613124"/>
                <a:gd name="connsiteX30" fmla="*/ 872796 w 2610730"/>
                <a:gd name="connsiteY30" fmla="*/ 127174 h 2613124"/>
                <a:gd name="connsiteX31" fmla="*/ 914039 w 2610730"/>
                <a:gd name="connsiteY31" fmla="*/ 207470 h 2613124"/>
                <a:gd name="connsiteX32" fmla="*/ 971094 w 2610730"/>
                <a:gd name="connsiteY32" fmla="*/ 234902 h 2613124"/>
                <a:gd name="connsiteX33" fmla="*/ 1012337 w 2610730"/>
                <a:gd name="connsiteY33" fmla="*/ 181466 h 2613124"/>
                <a:gd name="connsiteX34" fmla="*/ 1000336 w 2610730"/>
                <a:gd name="connsiteY34" fmla="*/ 77549 h 2613124"/>
                <a:gd name="connsiteX35" fmla="*/ 1043675 w 2610730"/>
                <a:gd name="connsiteY35" fmla="*/ 27638 h 2613124"/>
                <a:gd name="connsiteX36" fmla="*/ 1102444 w 2610730"/>
                <a:gd name="connsiteY36" fmla="*/ 58403 h 2613124"/>
                <a:gd name="connsiteX37" fmla="*/ 1128257 w 2610730"/>
                <a:gd name="connsiteY37" fmla="*/ 149843 h 2613124"/>
                <a:gd name="connsiteX38" fmla="*/ 1191217 w 2610730"/>
                <a:gd name="connsiteY38" fmla="*/ 190420 h 2613124"/>
                <a:gd name="connsiteX39" fmla="*/ 1245700 w 2610730"/>
                <a:gd name="connsiteY39" fmla="*/ 138509 h 2613124"/>
                <a:gd name="connsiteX40" fmla="*/ 1252748 w 2610730"/>
                <a:gd name="connsiteY40" fmla="*/ 43735 h 2613124"/>
                <a:gd name="connsiteX41" fmla="*/ 1307708 w 2610730"/>
                <a:gd name="connsiteY41" fmla="*/ 15 h 2613124"/>
                <a:gd name="connsiteX42" fmla="*/ 1356761 w 2610730"/>
                <a:gd name="connsiteY42" fmla="*/ 44973 h 2613124"/>
                <a:gd name="connsiteX43" fmla="*/ 1364477 w 2610730"/>
                <a:gd name="connsiteY43" fmla="*/ 144509 h 2613124"/>
                <a:gd name="connsiteX44" fmla="*/ 1410101 w 2610730"/>
                <a:gd name="connsiteY44" fmla="*/ 188991 h 2613124"/>
                <a:gd name="connsiteX45" fmla="*/ 1458203 w 2610730"/>
                <a:gd name="connsiteY45" fmla="*/ 153749 h 2613124"/>
                <a:gd name="connsiteX46" fmla="*/ 1483063 w 2610730"/>
                <a:gd name="connsiteY46" fmla="*/ 62023 h 2613124"/>
                <a:gd name="connsiteX47" fmla="*/ 1545166 w 2610730"/>
                <a:gd name="connsiteY47" fmla="*/ 23447 h 2613124"/>
                <a:gd name="connsiteX48" fmla="*/ 1586981 w 2610730"/>
                <a:gd name="connsiteY48" fmla="*/ 83835 h 2613124"/>
                <a:gd name="connsiteX49" fmla="*/ 1577075 w 2610730"/>
                <a:gd name="connsiteY49" fmla="*/ 173561 h 2613124"/>
                <a:gd name="connsiteX50" fmla="*/ 1616603 w 2610730"/>
                <a:gd name="connsiteY50" fmla="*/ 227567 h 2613124"/>
                <a:gd name="connsiteX51" fmla="*/ 1688708 w 2610730"/>
                <a:gd name="connsiteY51" fmla="*/ 208613 h 2613124"/>
                <a:gd name="connsiteX52" fmla="*/ 1726808 w 2610730"/>
                <a:gd name="connsiteY52" fmla="*/ 132032 h 2613124"/>
                <a:gd name="connsiteX53" fmla="*/ 1801103 w 2610730"/>
                <a:gd name="connsiteY53" fmla="*/ 98789 h 2613124"/>
                <a:gd name="connsiteX54" fmla="*/ 1827963 w 2610730"/>
                <a:gd name="connsiteY54" fmla="*/ 171465 h 2613124"/>
                <a:gd name="connsiteX55" fmla="*/ 1801484 w 2610730"/>
                <a:gd name="connsiteY55" fmla="*/ 252809 h 2613124"/>
                <a:gd name="connsiteX56" fmla="*/ 1830059 w 2610730"/>
                <a:gd name="connsiteY56" fmla="*/ 313959 h 2613124"/>
                <a:gd name="connsiteX57" fmla="*/ 1896448 w 2610730"/>
                <a:gd name="connsiteY57" fmla="*/ 302624 h 2613124"/>
                <a:gd name="connsiteX58" fmla="*/ 1952074 w 2610730"/>
                <a:gd name="connsiteY58" fmla="*/ 231377 h 2613124"/>
                <a:gd name="connsiteX59" fmla="*/ 2023607 w 2610730"/>
                <a:gd name="connsiteY59" fmla="*/ 216614 h 2613124"/>
                <a:gd name="connsiteX60" fmla="*/ 2039894 w 2610730"/>
                <a:gd name="connsiteY60" fmla="*/ 291956 h 2613124"/>
                <a:gd name="connsiteX61" fmla="*/ 2005033 w 2610730"/>
                <a:gd name="connsiteY61" fmla="*/ 354155 h 2613124"/>
                <a:gd name="connsiteX62" fmla="*/ 2013605 w 2610730"/>
                <a:gd name="connsiteY62" fmla="*/ 436260 h 2613124"/>
                <a:gd name="connsiteX63" fmla="*/ 2099140 w 2610730"/>
                <a:gd name="connsiteY63" fmla="*/ 429593 h 2613124"/>
                <a:gd name="connsiteX64" fmla="*/ 2149432 w 2610730"/>
                <a:gd name="connsiteY64" fmla="*/ 385968 h 2613124"/>
                <a:gd name="connsiteX65" fmla="*/ 2229823 w 2610730"/>
                <a:gd name="connsiteY65" fmla="*/ 384539 h 2613124"/>
                <a:gd name="connsiteX66" fmla="*/ 2225537 w 2610730"/>
                <a:gd name="connsiteY66" fmla="*/ 461978 h 2613124"/>
                <a:gd name="connsiteX67" fmla="*/ 2172768 w 2610730"/>
                <a:gd name="connsiteY67" fmla="*/ 523223 h 2613124"/>
                <a:gd name="connsiteX68" fmla="*/ 2172292 w 2610730"/>
                <a:gd name="connsiteY68" fmla="*/ 593613 h 2613124"/>
                <a:gd name="connsiteX69" fmla="*/ 2241824 w 2610730"/>
                <a:gd name="connsiteY69" fmla="*/ 604948 h 2613124"/>
                <a:gd name="connsiteX70" fmla="*/ 2311833 w 2610730"/>
                <a:gd name="connsiteY70" fmla="*/ 564657 h 2613124"/>
                <a:gd name="connsiteX71" fmla="*/ 2387938 w 2610730"/>
                <a:gd name="connsiteY71" fmla="*/ 577706 h 2613124"/>
                <a:gd name="connsiteX72" fmla="*/ 2372698 w 2610730"/>
                <a:gd name="connsiteY72" fmla="*/ 653525 h 2613124"/>
                <a:gd name="connsiteX73" fmla="*/ 2312786 w 2610730"/>
                <a:gd name="connsiteY73" fmla="*/ 700388 h 2613124"/>
                <a:gd name="connsiteX74" fmla="*/ 2294974 w 2610730"/>
                <a:gd name="connsiteY74" fmla="*/ 776969 h 2613124"/>
                <a:gd name="connsiteX75" fmla="*/ 2365840 w 2610730"/>
                <a:gd name="connsiteY75" fmla="*/ 799639 h 2613124"/>
                <a:gd name="connsiteX76" fmla="*/ 2437849 w 2610730"/>
                <a:gd name="connsiteY76" fmla="*/ 775350 h 2613124"/>
                <a:gd name="connsiteX77" fmla="*/ 2509858 w 2610730"/>
                <a:gd name="connsiteY77" fmla="*/ 803449 h 2613124"/>
                <a:gd name="connsiteX78" fmla="*/ 2479759 w 2610730"/>
                <a:gd name="connsiteY78" fmla="*/ 874410 h 2613124"/>
                <a:gd name="connsiteX79" fmla="*/ 2407560 w 2610730"/>
                <a:gd name="connsiteY79" fmla="*/ 910605 h 2613124"/>
                <a:gd name="connsiteX80" fmla="*/ 2376127 w 2610730"/>
                <a:gd name="connsiteY80" fmla="*/ 969660 h 2613124"/>
                <a:gd name="connsiteX81" fmla="*/ 2438611 w 2610730"/>
                <a:gd name="connsiteY81" fmla="*/ 1010522 h 2613124"/>
                <a:gd name="connsiteX82" fmla="*/ 2533004 w 2610730"/>
                <a:gd name="connsiteY82" fmla="*/ 998902 h 2613124"/>
                <a:gd name="connsiteX83" fmla="*/ 2582915 w 2610730"/>
                <a:gd name="connsiteY83" fmla="*/ 1042241 h 2613124"/>
                <a:gd name="connsiteX84" fmla="*/ 2553197 w 2610730"/>
                <a:gd name="connsiteY84" fmla="*/ 1101391 h 2613124"/>
                <a:gd name="connsiteX85" fmla="*/ 2452803 w 2610730"/>
                <a:gd name="connsiteY85" fmla="*/ 1130728 h 2613124"/>
                <a:gd name="connsiteX86" fmla="*/ 2421371 w 2610730"/>
                <a:gd name="connsiteY86" fmla="*/ 1189973 h 2613124"/>
                <a:gd name="connsiteX87" fmla="*/ 2465376 w 2610730"/>
                <a:gd name="connsiteY87" fmla="*/ 1246361 h 2613124"/>
                <a:gd name="connsiteX88" fmla="*/ 2569580 w 2610730"/>
                <a:gd name="connsiteY88" fmla="*/ 1255029 h 2613124"/>
                <a:gd name="connsiteX89" fmla="*/ 2610728 w 2610730"/>
                <a:gd name="connsiteY89" fmla="*/ 1306940 h 2613124"/>
                <a:gd name="connsiteX90" fmla="*/ 2569389 w 2610730"/>
                <a:gd name="connsiteY90" fmla="*/ 1358852 h 2613124"/>
                <a:gd name="connsiteX91" fmla="*/ 2465186 w 2610730"/>
                <a:gd name="connsiteY91" fmla="*/ 1367519 h 2613124"/>
                <a:gd name="connsiteX92" fmla="*/ 2422228 w 2610730"/>
                <a:gd name="connsiteY92" fmla="*/ 1414097 h 2613124"/>
                <a:gd name="connsiteX93" fmla="*/ 2455375 w 2610730"/>
                <a:gd name="connsiteY93" fmla="*/ 1468103 h 2613124"/>
                <a:gd name="connsiteX94" fmla="*/ 2556054 w 2610730"/>
                <a:gd name="connsiteY94" fmla="*/ 1496297 h 2613124"/>
                <a:gd name="connsiteX95" fmla="*/ 2587677 w 2610730"/>
                <a:gd name="connsiteY95" fmla="*/ 1550018 h 2613124"/>
                <a:gd name="connsiteX96" fmla="*/ 2537195 w 2610730"/>
                <a:gd name="connsiteY96" fmla="*/ 1598406 h 2613124"/>
                <a:gd name="connsiteX97" fmla="*/ 2433182 w 2610730"/>
                <a:gd name="connsiteY97" fmla="*/ 1587261 h 2613124"/>
                <a:gd name="connsiteX98" fmla="*/ 2379175 w 2610730"/>
                <a:gd name="connsiteY98" fmla="*/ 1633553 h 2613124"/>
                <a:gd name="connsiteX99" fmla="*/ 2404607 w 2610730"/>
                <a:gd name="connsiteY99" fmla="*/ 1690893 h 2613124"/>
                <a:gd name="connsiteX100" fmla="*/ 2485569 w 2610730"/>
                <a:gd name="connsiteY100" fmla="*/ 1731089 h 2613124"/>
                <a:gd name="connsiteX101" fmla="*/ 2512620 w 2610730"/>
                <a:gd name="connsiteY101" fmla="*/ 1803193 h 2613124"/>
                <a:gd name="connsiteX102" fmla="*/ 2444135 w 2610730"/>
                <a:gd name="connsiteY102" fmla="*/ 1829958 h 2613124"/>
                <a:gd name="connsiteX103" fmla="*/ 2362887 w 2610730"/>
                <a:gd name="connsiteY103" fmla="*/ 1803288 h 2613124"/>
                <a:gd name="connsiteX104" fmla="*/ 2297831 w 2610730"/>
                <a:gd name="connsiteY104" fmla="*/ 1830625 h 2613124"/>
                <a:gd name="connsiteX105" fmla="*/ 2314500 w 2610730"/>
                <a:gd name="connsiteY105" fmla="*/ 1895204 h 2613124"/>
                <a:gd name="connsiteX106" fmla="*/ 2393177 w 2610730"/>
                <a:gd name="connsiteY106" fmla="*/ 1956736 h 2613124"/>
                <a:gd name="connsiteX107" fmla="*/ 2396129 w 2610730"/>
                <a:gd name="connsiteY107" fmla="*/ 2023125 h 2613124"/>
                <a:gd name="connsiteX108" fmla="*/ 2336884 w 2610730"/>
                <a:gd name="connsiteY108" fmla="*/ 2043223 h 2613124"/>
                <a:gd name="connsiteX109" fmla="*/ 2245063 w 2610730"/>
                <a:gd name="connsiteY109" fmla="*/ 1993217 h 2613124"/>
                <a:gd name="connsiteX110" fmla="*/ 2173626 w 2610730"/>
                <a:gd name="connsiteY110" fmla="*/ 2017410 h 2613124"/>
                <a:gd name="connsiteX111" fmla="*/ 2170292 w 2610730"/>
                <a:gd name="connsiteY111" fmla="*/ 2087514 h 2613124"/>
                <a:gd name="connsiteX112" fmla="*/ 2229251 w 2610730"/>
                <a:gd name="connsiteY112" fmla="*/ 2155904 h 2613124"/>
                <a:gd name="connsiteX113" fmla="*/ 2229251 w 2610730"/>
                <a:gd name="connsiteY113" fmla="*/ 2229532 h 2613124"/>
                <a:gd name="connsiteX114" fmla="*/ 2152575 w 2610730"/>
                <a:gd name="connsiteY114" fmla="*/ 2230199 h 2613124"/>
                <a:gd name="connsiteX115" fmla="*/ 2091234 w 2610730"/>
                <a:gd name="connsiteY115" fmla="*/ 2177526 h 2613124"/>
                <a:gd name="connsiteX116" fmla="*/ 2016653 w 2610730"/>
                <a:gd name="connsiteY116" fmla="*/ 2173620 h 2613124"/>
                <a:gd name="connsiteX117" fmla="*/ 2005223 w 2610730"/>
                <a:gd name="connsiteY117" fmla="*/ 2247058 h 2613124"/>
                <a:gd name="connsiteX118" fmla="*/ 2042847 w 2610730"/>
                <a:gd name="connsiteY118" fmla="*/ 2313066 h 2613124"/>
                <a:gd name="connsiteX119" fmla="*/ 2029607 w 2610730"/>
                <a:gd name="connsiteY119" fmla="*/ 2392791 h 2613124"/>
                <a:gd name="connsiteX120" fmla="*/ 1954741 w 2610730"/>
                <a:gd name="connsiteY120" fmla="*/ 2374883 h 2613124"/>
                <a:gd name="connsiteX121" fmla="*/ 1907783 w 2610730"/>
                <a:gd name="connsiteY121" fmla="*/ 2314971 h 2613124"/>
                <a:gd name="connsiteX122" fmla="*/ 1836536 w 2610730"/>
                <a:gd name="connsiteY122" fmla="*/ 2293921 h 2613124"/>
                <a:gd name="connsiteX123" fmla="*/ 1808913 w 2610730"/>
                <a:gd name="connsiteY123" fmla="*/ 2366787 h 2613124"/>
                <a:gd name="connsiteX124" fmla="*/ 1832345 w 2610730"/>
                <a:gd name="connsiteY124" fmla="*/ 2439082 h 2613124"/>
                <a:gd name="connsiteX125" fmla="*/ 1802817 w 2610730"/>
                <a:gd name="connsiteY125" fmla="*/ 2513663 h 2613124"/>
                <a:gd name="connsiteX126" fmla="*/ 1733475 w 2610730"/>
                <a:gd name="connsiteY126" fmla="*/ 2479944 h 2613124"/>
                <a:gd name="connsiteX127" fmla="*/ 1694708 w 2610730"/>
                <a:gd name="connsiteY127" fmla="*/ 2403744 h 2613124"/>
                <a:gd name="connsiteX128" fmla="*/ 1631748 w 2610730"/>
                <a:gd name="connsiteY128" fmla="*/ 2379646 h 2613124"/>
                <a:gd name="connsiteX129" fmla="*/ 1597553 w 2610730"/>
                <a:gd name="connsiteY129" fmla="*/ 2433177 h 2613124"/>
                <a:gd name="connsiteX130" fmla="*/ 1609841 w 2610730"/>
                <a:gd name="connsiteY130" fmla="*/ 2532237 h 2613124"/>
                <a:gd name="connsiteX131" fmla="*/ 1564978 w 2610730"/>
                <a:gd name="connsiteY131" fmla="*/ 2585862 h 2613124"/>
                <a:gd name="connsiteX132" fmla="*/ 1506780 w 2610730"/>
                <a:gd name="connsiteY132" fmla="*/ 2554239 h 2613124"/>
                <a:gd name="connsiteX133" fmla="*/ 1477919 w 2610730"/>
                <a:gd name="connsiteY133" fmla="*/ 2453751 h 2613124"/>
                <a:gd name="connsiteX134" fmla="*/ 1418293 w 2610730"/>
                <a:gd name="connsiteY134" fmla="*/ 2422699 h 2613124"/>
                <a:gd name="connsiteX135" fmla="*/ 1364953 w 2610730"/>
                <a:gd name="connsiteY135" fmla="*/ 2464228 h 2613124"/>
                <a:gd name="connsiteX136" fmla="*/ 1355714 w 2610730"/>
                <a:gd name="connsiteY136" fmla="*/ 2573099 h 2613124"/>
                <a:gd name="connsiteX137" fmla="*/ 1307517 w 2610730"/>
                <a:gd name="connsiteY137" fmla="*/ 2613104 h 2613124"/>
                <a:gd name="connsiteX138" fmla="*/ 1253415 w 2610730"/>
                <a:gd name="connsiteY138" fmla="*/ 2573861 h 2613124"/>
                <a:gd name="connsiteX139" fmla="*/ 1243700 w 2610730"/>
                <a:gd name="connsiteY139" fmla="*/ 2465085 h 2613124"/>
                <a:gd name="connsiteX140" fmla="*/ 1201409 w 2610730"/>
                <a:gd name="connsiteY140" fmla="*/ 2423747 h 2613124"/>
                <a:gd name="connsiteX141" fmla="*/ 1152355 w 2610730"/>
                <a:gd name="connsiteY141" fmla="*/ 2456989 h 2613124"/>
                <a:gd name="connsiteX142" fmla="*/ 1125971 w 2610730"/>
                <a:gd name="connsiteY142" fmla="*/ 2553192 h 2613124"/>
                <a:gd name="connsiteX143" fmla="*/ 1062248 w 2610730"/>
                <a:gd name="connsiteY143" fmla="*/ 2589196 h 2613124"/>
                <a:gd name="connsiteX144" fmla="*/ 1022148 w 2610730"/>
                <a:gd name="connsiteY144" fmla="*/ 2532141 h 2613124"/>
                <a:gd name="connsiteX145" fmla="*/ 1031768 w 2610730"/>
                <a:gd name="connsiteY145" fmla="*/ 2447178 h 2613124"/>
                <a:gd name="connsiteX146" fmla="*/ 983953 w 2610730"/>
                <a:gd name="connsiteY146" fmla="*/ 2380122 h 2613124"/>
                <a:gd name="connsiteX147" fmla="*/ 914135 w 2610730"/>
                <a:gd name="connsiteY147" fmla="*/ 2416412 h 2613124"/>
                <a:gd name="connsiteX148" fmla="*/ 876035 w 2610730"/>
                <a:gd name="connsiteY148" fmla="*/ 2492994 h 2613124"/>
                <a:gd name="connsiteX149" fmla="*/ 804883 w 2610730"/>
                <a:gd name="connsiteY149" fmla="*/ 2512520 h 2613124"/>
                <a:gd name="connsiteX150" fmla="*/ 778975 w 2610730"/>
                <a:gd name="connsiteY150" fmla="*/ 2452036 h 2613124"/>
                <a:gd name="connsiteX151" fmla="*/ 806788 w 2610730"/>
                <a:gd name="connsiteY151" fmla="*/ 2366120 h 2613124"/>
                <a:gd name="connsiteX152" fmla="*/ 778880 w 2610730"/>
                <a:gd name="connsiteY152" fmla="*/ 2296398 h 2613124"/>
                <a:gd name="connsiteX153" fmla="*/ 710585 w 2610730"/>
                <a:gd name="connsiteY153" fmla="*/ 2313638 h 2613124"/>
                <a:gd name="connsiteX154" fmla="*/ 648578 w 2610730"/>
                <a:gd name="connsiteY154" fmla="*/ 2391933 h 2613124"/>
                <a:gd name="connsiteX155" fmla="*/ 586760 w 2610730"/>
                <a:gd name="connsiteY155" fmla="*/ 2396982 h 2613124"/>
                <a:gd name="connsiteX156" fmla="*/ 562472 w 2610730"/>
                <a:gd name="connsiteY156" fmla="*/ 2335641 h 2613124"/>
                <a:gd name="connsiteX157" fmla="*/ 612573 w 2610730"/>
                <a:gd name="connsiteY157" fmla="*/ 2243915 h 2613124"/>
                <a:gd name="connsiteX158" fmla="*/ 595619 w 2610730"/>
                <a:gd name="connsiteY158" fmla="*/ 2175049 h 2613124"/>
                <a:gd name="connsiteX159" fmla="*/ 524372 w 2610730"/>
                <a:gd name="connsiteY159" fmla="*/ 2171811 h 2613124"/>
                <a:gd name="connsiteX160" fmla="*/ 448457 w 2610730"/>
                <a:gd name="connsiteY160" fmla="*/ 2236676 h 2613124"/>
                <a:gd name="connsiteX161" fmla="*/ 382735 w 2610730"/>
                <a:gd name="connsiteY161" fmla="*/ 2231818 h 2613124"/>
                <a:gd name="connsiteX162" fmla="*/ 375020 w 2610730"/>
                <a:gd name="connsiteY162" fmla="*/ 2161809 h 2613124"/>
                <a:gd name="connsiteX163" fmla="*/ 442838 w 2610730"/>
                <a:gd name="connsiteY163" fmla="*/ 2082180 h 2613124"/>
                <a:gd name="connsiteX164" fmla="*/ 438932 w 2610730"/>
                <a:gd name="connsiteY164" fmla="*/ 2019125 h 2613124"/>
                <a:gd name="connsiteX165" fmla="*/ 377496 w 2610730"/>
                <a:gd name="connsiteY165" fmla="*/ 2003123 h 2613124"/>
                <a:gd name="connsiteX166" fmla="*/ 286342 w 2610730"/>
                <a:gd name="connsiteY166" fmla="*/ 2054272 h 2613124"/>
                <a:gd name="connsiteX167" fmla="*/ 222334 w 2610730"/>
                <a:gd name="connsiteY167" fmla="*/ 2037222 h 2613124"/>
                <a:gd name="connsiteX168" fmla="*/ 227477 w 2610730"/>
                <a:gd name="connsiteY168" fmla="*/ 1967023 h 2613124"/>
                <a:gd name="connsiteX169" fmla="*/ 298534 w 2610730"/>
                <a:gd name="connsiteY169" fmla="*/ 1911111 h 2613124"/>
                <a:gd name="connsiteX170" fmla="*/ 318155 w 2610730"/>
                <a:gd name="connsiteY170" fmla="*/ 1839007 h 2613124"/>
                <a:gd name="connsiteX171" fmla="*/ 243956 w 2610730"/>
                <a:gd name="connsiteY171" fmla="*/ 1813670 h 2613124"/>
                <a:gd name="connsiteX172" fmla="*/ 158135 w 2610730"/>
                <a:gd name="connsiteY172" fmla="*/ 1841769 h 2613124"/>
                <a:gd name="connsiteX173" fmla="*/ 100128 w 2610730"/>
                <a:gd name="connsiteY173" fmla="*/ 1810337 h 2613124"/>
                <a:gd name="connsiteX174" fmla="*/ 116321 w 2610730"/>
                <a:gd name="connsiteY174" fmla="*/ 1746519 h 2613124"/>
                <a:gd name="connsiteX175" fmla="*/ 196616 w 2610730"/>
                <a:gd name="connsiteY175" fmla="*/ 1705085 h 2613124"/>
                <a:gd name="connsiteX176" fmla="*/ 234716 w 2610730"/>
                <a:gd name="connsiteY176" fmla="*/ 1640887 h 2613124"/>
                <a:gd name="connsiteX177" fmla="*/ 166232 w 2610730"/>
                <a:gd name="connsiteY177" fmla="*/ 1602882 h 2613124"/>
                <a:gd name="connsiteX178" fmla="*/ 86126 w 2610730"/>
                <a:gd name="connsiteY178" fmla="*/ 1613836 h 2613124"/>
                <a:gd name="connsiteX179" fmla="*/ 27452 w 2610730"/>
                <a:gd name="connsiteY179" fmla="*/ 1575926 h 2613124"/>
                <a:gd name="connsiteX180" fmla="*/ 60409 w 2610730"/>
                <a:gd name="connsiteY180" fmla="*/ 1510776 h 2613124"/>
                <a:gd name="connsiteX181" fmla="*/ 147086 w 2610730"/>
                <a:gd name="connsiteY181" fmla="*/ 1485534 h 2613124"/>
                <a:gd name="connsiteX182" fmla="*/ 190425 w 2610730"/>
                <a:gd name="connsiteY182" fmla="*/ 1424669 h 2613124"/>
                <a:gd name="connsiteX183" fmla="*/ 137466 w 2610730"/>
                <a:gd name="connsiteY183" fmla="*/ 1366567 h 2613124"/>
                <a:gd name="connsiteX184" fmla="*/ 56980 w 2610730"/>
                <a:gd name="connsiteY184" fmla="*/ 1360281 h 2613124"/>
                <a:gd name="connsiteX185" fmla="*/ 20 w 2610730"/>
                <a:gd name="connsiteY185" fmla="*/ 1308845 h 2613124"/>
                <a:gd name="connsiteX186" fmla="*/ 57170 w 2610730"/>
                <a:gd name="connsiteY186" fmla="*/ 1253219 h 2613124"/>
                <a:gd name="connsiteX187" fmla="*/ 137657 w 2610730"/>
                <a:gd name="connsiteY187" fmla="*/ 1246743 h 2613124"/>
                <a:gd name="connsiteX188" fmla="*/ 188996 w 2610730"/>
                <a:gd name="connsiteY188" fmla="*/ 1197403 h 2613124"/>
                <a:gd name="connsiteX189" fmla="*/ 148801 w 2610730"/>
                <a:gd name="connsiteY189" fmla="*/ 1143396 h 2613124"/>
                <a:gd name="connsiteX190" fmla="*/ 66219 w 2610730"/>
                <a:gd name="connsiteY190" fmla="*/ 1121108 h 2613124"/>
                <a:gd name="connsiteX191" fmla="*/ 21547 w 2610730"/>
                <a:gd name="connsiteY191" fmla="*/ 1062243 h 2613124"/>
                <a:gd name="connsiteX192" fmla="*/ 82983 w 2610730"/>
                <a:gd name="connsiteY192" fmla="*/ 1015475 h 2613124"/>
                <a:gd name="connsiteX193" fmla="*/ 1314375 w 2610730"/>
                <a:gd name="connsiteY193" fmla="*/ 2266394 h 2613124"/>
                <a:gd name="connsiteX194" fmla="*/ 2272971 w 2610730"/>
                <a:gd name="connsiteY194" fmla="*/ 1309226 h 2613124"/>
                <a:gd name="connsiteX195" fmla="*/ 1313613 w 2610730"/>
                <a:gd name="connsiteY195" fmla="*/ 351202 h 2613124"/>
                <a:gd name="connsiteX196" fmla="*/ 355398 w 2610730"/>
                <a:gd name="connsiteY196" fmla="*/ 1300368 h 2613124"/>
                <a:gd name="connsiteX197" fmla="*/ 1314280 w 2610730"/>
                <a:gd name="connsiteY197" fmla="*/ 2266394 h 2613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2610730" h="2613124">
                  <a:moveTo>
                    <a:pt x="83174" y="1015475"/>
                  </a:moveTo>
                  <a:cubicBezTo>
                    <a:pt x="113082" y="1019095"/>
                    <a:pt x="143086" y="1022048"/>
                    <a:pt x="172804" y="1026524"/>
                  </a:cubicBezTo>
                  <a:cubicBezTo>
                    <a:pt x="206618" y="1031573"/>
                    <a:pt x="221762" y="1014809"/>
                    <a:pt x="230144" y="984329"/>
                  </a:cubicBezTo>
                  <a:cubicBezTo>
                    <a:pt x="238050" y="955468"/>
                    <a:pt x="233002" y="935370"/>
                    <a:pt x="204141" y="922226"/>
                  </a:cubicBezTo>
                  <a:cubicBezTo>
                    <a:pt x="175280" y="909176"/>
                    <a:pt x="147563" y="893746"/>
                    <a:pt x="119083" y="879839"/>
                  </a:cubicBezTo>
                  <a:cubicBezTo>
                    <a:pt x="86698" y="864028"/>
                    <a:pt x="83745" y="842311"/>
                    <a:pt x="96985" y="809735"/>
                  </a:cubicBezTo>
                  <a:cubicBezTo>
                    <a:pt x="110796" y="775541"/>
                    <a:pt x="132799" y="773731"/>
                    <a:pt x="161374" y="782303"/>
                  </a:cubicBezTo>
                  <a:cubicBezTo>
                    <a:pt x="191759" y="791352"/>
                    <a:pt x="222239" y="800115"/>
                    <a:pt x="251766" y="811545"/>
                  </a:cubicBezTo>
                  <a:cubicBezTo>
                    <a:pt x="280246" y="822594"/>
                    <a:pt x="296057" y="811831"/>
                    <a:pt x="309488" y="787447"/>
                  </a:cubicBezTo>
                  <a:cubicBezTo>
                    <a:pt x="323585" y="761825"/>
                    <a:pt x="325775" y="740679"/>
                    <a:pt x="299201" y="721629"/>
                  </a:cubicBezTo>
                  <a:cubicBezTo>
                    <a:pt x="274721" y="704103"/>
                    <a:pt x="251766" y="684482"/>
                    <a:pt x="227477" y="666670"/>
                  </a:cubicBezTo>
                  <a:cubicBezTo>
                    <a:pt x="199093" y="645810"/>
                    <a:pt x="189854" y="625046"/>
                    <a:pt x="212237" y="591041"/>
                  </a:cubicBezTo>
                  <a:cubicBezTo>
                    <a:pt x="235574" y="555608"/>
                    <a:pt x="259100" y="561228"/>
                    <a:pt x="288152" y="578183"/>
                  </a:cubicBezTo>
                  <a:cubicBezTo>
                    <a:pt x="310059" y="590946"/>
                    <a:pt x="333395" y="601424"/>
                    <a:pt x="354541" y="615330"/>
                  </a:cubicBezTo>
                  <a:cubicBezTo>
                    <a:pt x="387878" y="637142"/>
                    <a:pt x="410929" y="629332"/>
                    <a:pt x="435218" y="598757"/>
                  </a:cubicBezTo>
                  <a:cubicBezTo>
                    <a:pt x="458173" y="569896"/>
                    <a:pt x="461411" y="547607"/>
                    <a:pt x="434456" y="520556"/>
                  </a:cubicBezTo>
                  <a:cubicBezTo>
                    <a:pt x="413215" y="499316"/>
                    <a:pt x="394832" y="475217"/>
                    <a:pt x="375496" y="452072"/>
                  </a:cubicBezTo>
                  <a:cubicBezTo>
                    <a:pt x="354160" y="426545"/>
                    <a:pt x="359208" y="405685"/>
                    <a:pt x="382449" y="382063"/>
                  </a:cubicBezTo>
                  <a:cubicBezTo>
                    <a:pt x="405119" y="359108"/>
                    <a:pt x="424740" y="357203"/>
                    <a:pt x="448172" y="376538"/>
                  </a:cubicBezTo>
                  <a:cubicBezTo>
                    <a:pt x="473794" y="397779"/>
                    <a:pt x="499702" y="418829"/>
                    <a:pt x="524181" y="441404"/>
                  </a:cubicBezTo>
                  <a:cubicBezTo>
                    <a:pt x="547517" y="462930"/>
                    <a:pt x="567234" y="459787"/>
                    <a:pt x="591047" y="440832"/>
                  </a:cubicBezTo>
                  <a:cubicBezTo>
                    <a:pt x="616002" y="420925"/>
                    <a:pt x="625241" y="401303"/>
                    <a:pt x="607239" y="371966"/>
                  </a:cubicBezTo>
                  <a:cubicBezTo>
                    <a:pt x="589904" y="343582"/>
                    <a:pt x="574092" y="314245"/>
                    <a:pt x="558662" y="284813"/>
                  </a:cubicBezTo>
                  <a:cubicBezTo>
                    <a:pt x="544374" y="257571"/>
                    <a:pt x="552756" y="238331"/>
                    <a:pt x="578855" y="221471"/>
                  </a:cubicBezTo>
                  <a:cubicBezTo>
                    <a:pt x="604382" y="204993"/>
                    <a:pt x="624860" y="202231"/>
                    <a:pt x="644863" y="227472"/>
                  </a:cubicBezTo>
                  <a:cubicBezTo>
                    <a:pt x="666580" y="254809"/>
                    <a:pt x="688964" y="281574"/>
                    <a:pt x="710014" y="309292"/>
                  </a:cubicBezTo>
                  <a:cubicBezTo>
                    <a:pt x="728302" y="333390"/>
                    <a:pt x="748685" y="331580"/>
                    <a:pt x="772498" y="318341"/>
                  </a:cubicBezTo>
                  <a:cubicBezTo>
                    <a:pt x="796120" y="305196"/>
                    <a:pt x="816218" y="292242"/>
                    <a:pt x="804216" y="259381"/>
                  </a:cubicBezTo>
                  <a:cubicBezTo>
                    <a:pt x="792786" y="228234"/>
                    <a:pt x="783071" y="196325"/>
                    <a:pt x="773831" y="164417"/>
                  </a:cubicBezTo>
                  <a:cubicBezTo>
                    <a:pt x="764497" y="132222"/>
                    <a:pt x="773831" y="112029"/>
                    <a:pt x="808502" y="99170"/>
                  </a:cubicBezTo>
                  <a:cubicBezTo>
                    <a:pt x="842983" y="86312"/>
                    <a:pt x="858985" y="100218"/>
                    <a:pt x="872796" y="127174"/>
                  </a:cubicBezTo>
                  <a:cubicBezTo>
                    <a:pt x="886512" y="153939"/>
                    <a:pt x="901181" y="180323"/>
                    <a:pt x="914039" y="207470"/>
                  </a:cubicBezTo>
                  <a:cubicBezTo>
                    <a:pt x="925946" y="232711"/>
                    <a:pt x="942710" y="243474"/>
                    <a:pt x="971094" y="234902"/>
                  </a:cubicBezTo>
                  <a:cubicBezTo>
                    <a:pt x="998336" y="226615"/>
                    <a:pt x="1016624" y="213756"/>
                    <a:pt x="1012337" y="181466"/>
                  </a:cubicBezTo>
                  <a:cubicBezTo>
                    <a:pt x="1007670" y="146891"/>
                    <a:pt x="1004432" y="112220"/>
                    <a:pt x="1000336" y="77549"/>
                  </a:cubicBezTo>
                  <a:cubicBezTo>
                    <a:pt x="996526" y="44878"/>
                    <a:pt x="1014623" y="33543"/>
                    <a:pt x="1043675" y="27638"/>
                  </a:cubicBezTo>
                  <a:cubicBezTo>
                    <a:pt x="1073583" y="21542"/>
                    <a:pt x="1093490" y="28019"/>
                    <a:pt x="1102444" y="58403"/>
                  </a:cubicBezTo>
                  <a:cubicBezTo>
                    <a:pt x="1111397" y="88788"/>
                    <a:pt x="1121303" y="118982"/>
                    <a:pt x="1128257" y="149843"/>
                  </a:cubicBezTo>
                  <a:cubicBezTo>
                    <a:pt x="1136353" y="185276"/>
                    <a:pt x="1157403" y="192896"/>
                    <a:pt x="1191217" y="190420"/>
                  </a:cubicBezTo>
                  <a:cubicBezTo>
                    <a:pt x="1226269" y="187848"/>
                    <a:pt x="1243604" y="173084"/>
                    <a:pt x="1245700" y="138509"/>
                  </a:cubicBezTo>
                  <a:cubicBezTo>
                    <a:pt x="1247605" y="106886"/>
                    <a:pt x="1249891" y="75263"/>
                    <a:pt x="1252748" y="43735"/>
                  </a:cubicBezTo>
                  <a:cubicBezTo>
                    <a:pt x="1255701" y="10207"/>
                    <a:pt x="1274751" y="-461"/>
                    <a:pt x="1307708" y="15"/>
                  </a:cubicBezTo>
                  <a:cubicBezTo>
                    <a:pt x="1340188" y="587"/>
                    <a:pt x="1354190" y="15160"/>
                    <a:pt x="1356761" y="44973"/>
                  </a:cubicBezTo>
                  <a:cubicBezTo>
                    <a:pt x="1359619" y="78120"/>
                    <a:pt x="1362191" y="111267"/>
                    <a:pt x="1364477" y="144509"/>
                  </a:cubicBezTo>
                  <a:cubicBezTo>
                    <a:pt x="1366477" y="173180"/>
                    <a:pt x="1382098" y="186610"/>
                    <a:pt x="1410101" y="188991"/>
                  </a:cubicBezTo>
                  <a:cubicBezTo>
                    <a:pt x="1437057" y="191372"/>
                    <a:pt x="1451630" y="178799"/>
                    <a:pt x="1458203" y="153749"/>
                  </a:cubicBezTo>
                  <a:cubicBezTo>
                    <a:pt x="1466204" y="123078"/>
                    <a:pt x="1475252" y="92693"/>
                    <a:pt x="1483063" y="62023"/>
                  </a:cubicBezTo>
                  <a:cubicBezTo>
                    <a:pt x="1491540" y="28781"/>
                    <a:pt x="1507923" y="16684"/>
                    <a:pt x="1545166" y="23447"/>
                  </a:cubicBezTo>
                  <a:cubicBezTo>
                    <a:pt x="1584409" y="30590"/>
                    <a:pt x="1590029" y="52307"/>
                    <a:pt x="1586981" y="83835"/>
                  </a:cubicBezTo>
                  <a:cubicBezTo>
                    <a:pt x="1584123" y="113839"/>
                    <a:pt x="1581837" y="143843"/>
                    <a:pt x="1577075" y="173561"/>
                  </a:cubicBezTo>
                  <a:cubicBezTo>
                    <a:pt x="1571836" y="206136"/>
                    <a:pt x="1588790" y="219471"/>
                    <a:pt x="1616603" y="227567"/>
                  </a:cubicBezTo>
                  <a:cubicBezTo>
                    <a:pt x="1644988" y="235759"/>
                    <a:pt x="1672134" y="245760"/>
                    <a:pt x="1688708" y="208613"/>
                  </a:cubicBezTo>
                  <a:cubicBezTo>
                    <a:pt x="1700328" y="182609"/>
                    <a:pt x="1713949" y="157463"/>
                    <a:pt x="1726808" y="132032"/>
                  </a:cubicBezTo>
                  <a:cubicBezTo>
                    <a:pt x="1742524" y="100980"/>
                    <a:pt x="1759574" y="81359"/>
                    <a:pt x="1801103" y="98789"/>
                  </a:cubicBezTo>
                  <a:cubicBezTo>
                    <a:pt x="1841108" y="115553"/>
                    <a:pt x="1837583" y="140699"/>
                    <a:pt x="1827963" y="171465"/>
                  </a:cubicBezTo>
                  <a:cubicBezTo>
                    <a:pt x="1819486" y="198707"/>
                    <a:pt x="1810818" y="225853"/>
                    <a:pt x="1801484" y="252809"/>
                  </a:cubicBezTo>
                  <a:cubicBezTo>
                    <a:pt x="1791101" y="282908"/>
                    <a:pt x="1804055" y="300053"/>
                    <a:pt x="1830059" y="313959"/>
                  </a:cubicBezTo>
                  <a:cubicBezTo>
                    <a:pt x="1856348" y="327961"/>
                    <a:pt x="1877493" y="328247"/>
                    <a:pt x="1896448" y="302624"/>
                  </a:cubicBezTo>
                  <a:cubicBezTo>
                    <a:pt x="1914355" y="278431"/>
                    <a:pt x="1933786" y="255285"/>
                    <a:pt x="1952074" y="231377"/>
                  </a:cubicBezTo>
                  <a:cubicBezTo>
                    <a:pt x="1971791" y="205660"/>
                    <a:pt x="1990745" y="194992"/>
                    <a:pt x="2023607" y="216614"/>
                  </a:cubicBezTo>
                  <a:cubicBezTo>
                    <a:pt x="2057706" y="238997"/>
                    <a:pt x="2057706" y="261572"/>
                    <a:pt x="2039894" y="291956"/>
                  </a:cubicBezTo>
                  <a:cubicBezTo>
                    <a:pt x="2027893" y="312435"/>
                    <a:pt x="2017892" y="334152"/>
                    <a:pt x="2005033" y="354155"/>
                  </a:cubicBezTo>
                  <a:cubicBezTo>
                    <a:pt x="1985602" y="384444"/>
                    <a:pt x="1980935" y="408542"/>
                    <a:pt x="2013605" y="436260"/>
                  </a:cubicBezTo>
                  <a:cubicBezTo>
                    <a:pt x="2047895" y="465407"/>
                    <a:pt x="2071994" y="457025"/>
                    <a:pt x="2099140" y="429593"/>
                  </a:cubicBezTo>
                  <a:cubicBezTo>
                    <a:pt x="2114666" y="413876"/>
                    <a:pt x="2132859" y="400732"/>
                    <a:pt x="2149432" y="385968"/>
                  </a:cubicBezTo>
                  <a:cubicBezTo>
                    <a:pt x="2175911" y="362441"/>
                    <a:pt x="2198581" y="351773"/>
                    <a:pt x="2229823" y="384539"/>
                  </a:cubicBezTo>
                  <a:cubicBezTo>
                    <a:pt x="2259731" y="415972"/>
                    <a:pt x="2246587" y="437308"/>
                    <a:pt x="2225537" y="461978"/>
                  </a:cubicBezTo>
                  <a:cubicBezTo>
                    <a:pt x="2208011" y="482456"/>
                    <a:pt x="2191628" y="503983"/>
                    <a:pt x="2172768" y="523223"/>
                  </a:cubicBezTo>
                  <a:cubicBezTo>
                    <a:pt x="2149051" y="547417"/>
                    <a:pt x="2151527" y="568467"/>
                    <a:pt x="2172292" y="593613"/>
                  </a:cubicBezTo>
                  <a:cubicBezTo>
                    <a:pt x="2193533" y="619331"/>
                    <a:pt x="2214107" y="623426"/>
                    <a:pt x="2241824" y="604948"/>
                  </a:cubicBezTo>
                  <a:cubicBezTo>
                    <a:pt x="2264208" y="590089"/>
                    <a:pt x="2288402" y="577992"/>
                    <a:pt x="2311833" y="564657"/>
                  </a:cubicBezTo>
                  <a:cubicBezTo>
                    <a:pt x="2340789" y="548084"/>
                    <a:pt x="2364792" y="542178"/>
                    <a:pt x="2387938" y="577706"/>
                  </a:cubicBezTo>
                  <a:cubicBezTo>
                    <a:pt x="2410036" y="611615"/>
                    <a:pt x="2401463" y="632570"/>
                    <a:pt x="2372698" y="653525"/>
                  </a:cubicBezTo>
                  <a:cubicBezTo>
                    <a:pt x="2352219" y="668480"/>
                    <a:pt x="2333550" y="686006"/>
                    <a:pt x="2312786" y="700388"/>
                  </a:cubicBezTo>
                  <a:cubicBezTo>
                    <a:pt x="2282782" y="721058"/>
                    <a:pt x="2276495" y="743441"/>
                    <a:pt x="2294974" y="776969"/>
                  </a:cubicBezTo>
                  <a:cubicBezTo>
                    <a:pt x="2312976" y="809640"/>
                    <a:pt x="2334884" y="812498"/>
                    <a:pt x="2365840" y="799639"/>
                  </a:cubicBezTo>
                  <a:cubicBezTo>
                    <a:pt x="2389176" y="790019"/>
                    <a:pt x="2413846" y="783351"/>
                    <a:pt x="2437849" y="775350"/>
                  </a:cubicBezTo>
                  <a:cubicBezTo>
                    <a:pt x="2469662" y="764682"/>
                    <a:pt x="2493570" y="764587"/>
                    <a:pt x="2509858" y="803449"/>
                  </a:cubicBezTo>
                  <a:cubicBezTo>
                    <a:pt x="2526051" y="842120"/>
                    <a:pt x="2510239" y="859361"/>
                    <a:pt x="2479759" y="874410"/>
                  </a:cubicBezTo>
                  <a:cubicBezTo>
                    <a:pt x="2455661" y="886316"/>
                    <a:pt x="2431848" y="898985"/>
                    <a:pt x="2407560" y="910605"/>
                  </a:cubicBezTo>
                  <a:cubicBezTo>
                    <a:pt x="2382318" y="922702"/>
                    <a:pt x="2366602" y="936704"/>
                    <a:pt x="2376127" y="969660"/>
                  </a:cubicBezTo>
                  <a:cubicBezTo>
                    <a:pt x="2385938" y="1003855"/>
                    <a:pt x="2404226" y="1016237"/>
                    <a:pt x="2438611" y="1010522"/>
                  </a:cubicBezTo>
                  <a:cubicBezTo>
                    <a:pt x="2469853" y="1005379"/>
                    <a:pt x="2501476" y="1002426"/>
                    <a:pt x="2533004" y="998902"/>
                  </a:cubicBezTo>
                  <a:cubicBezTo>
                    <a:pt x="2565103" y="995378"/>
                    <a:pt x="2576628" y="1012427"/>
                    <a:pt x="2582915" y="1042241"/>
                  </a:cubicBezTo>
                  <a:cubicBezTo>
                    <a:pt x="2589296" y="1072721"/>
                    <a:pt x="2582915" y="1092056"/>
                    <a:pt x="2553197" y="1101391"/>
                  </a:cubicBezTo>
                  <a:cubicBezTo>
                    <a:pt x="2519954" y="1111773"/>
                    <a:pt x="2486522" y="1121965"/>
                    <a:pt x="2452803" y="1130728"/>
                  </a:cubicBezTo>
                  <a:cubicBezTo>
                    <a:pt x="2419847" y="1139300"/>
                    <a:pt x="2417561" y="1162446"/>
                    <a:pt x="2421371" y="1189973"/>
                  </a:cubicBezTo>
                  <a:cubicBezTo>
                    <a:pt x="2425181" y="1217406"/>
                    <a:pt x="2427848" y="1244456"/>
                    <a:pt x="2465376" y="1246361"/>
                  </a:cubicBezTo>
                  <a:cubicBezTo>
                    <a:pt x="2500143" y="1248171"/>
                    <a:pt x="2534909" y="1251981"/>
                    <a:pt x="2569580" y="1255029"/>
                  </a:cubicBezTo>
                  <a:cubicBezTo>
                    <a:pt x="2601584" y="1257791"/>
                    <a:pt x="2610537" y="1276460"/>
                    <a:pt x="2610728" y="1306940"/>
                  </a:cubicBezTo>
                  <a:cubicBezTo>
                    <a:pt x="2610918" y="1337801"/>
                    <a:pt x="2600631" y="1355804"/>
                    <a:pt x="2569389" y="1358852"/>
                  </a:cubicBezTo>
                  <a:cubicBezTo>
                    <a:pt x="2534718" y="1362281"/>
                    <a:pt x="2499952" y="1366376"/>
                    <a:pt x="2465186" y="1367519"/>
                  </a:cubicBezTo>
                  <a:cubicBezTo>
                    <a:pt x="2433372" y="1368567"/>
                    <a:pt x="2425752" y="1388760"/>
                    <a:pt x="2422228" y="1414097"/>
                  </a:cubicBezTo>
                  <a:cubicBezTo>
                    <a:pt x="2418513" y="1441052"/>
                    <a:pt x="2426133" y="1460579"/>
                    <a:pt x="2455375" y="1468103"/>
                  </a:cubicBezTo>
                  <a:cubicBezTo>
                    <a:pt x="2489093" y="1476771"/>
                    <a:pt x="2522717" y="1486106"/>
                    <a:pt x="2556054" y="1496297"/>
                  </a:cubicBezTo>
                  <a:cubicBezTo>
                    <a:pt x="2582248" y="1504298"/>
                    <a:pt x="2594726" y="1520015"/>
                    <a:pt x="2587677" y="1550018"/>
                  </a:cubicBezTo>
                  <a:cubicBezTo>
                    <a:pt x="2580914" y="1578498"/>
                    <a:pt x="2574342" y="1602882"/>
                    <a:pt x="2537195" y="1598406"/>
                  </a:cubicBezTo>
                  <a:cubicBezTo>
                    <a:pt x="2502619" y="1594310"/>
                    <a:pt x="2467758" y="1591547"/>
                    <a:pt x="2433182" y="1587261"/>
                  </a:cubicBezTo>
                  <a:cubicBezTo>
                    <a:pt x="2397558" y="1582880"/>
                    <a:pt x="2388033" y="1605073"/>
                    <a:pt x="2379175" y="1633553"/>
                  </a:cubicBezTo>
                  <a:cubicBezTo>
                    <a:pt x="2370222" y="1662509"/>
                    <a:pt x="2379747" y="1678797"/>
                    <a:pt x="2404607" y="1690893"/>
                  </a:cubicBezTo>
                  <a:cubicBezTo>
                    <a:pt x="2431753" y="1704038"/>
                    <a:pt x="2458233" y="1718325"/>
                    <a:pt x="2485569" y="1731089"/>
                  </a:cubicBezTo>
                  <a:cubicBezTo>
                    <a:pt x="2518716" y="1746519"/>
                    <a:pt x="2528241" y="1767093"/>
                    <a:pt x="2512620" y="1803193"/>
                  </a:cubicBezTo>
                  <a:cubicBezTo>
                    <a:pt x="2497285" y="1838816"/>
                    <a:pt x="2475187" y="1840912"/>
                    <a:pt x="2444135" y="1829958"/>
                  </a:cubicBezTo>
                  <a:cubicBezTo>
                    <a:pt x="2417275" y="1820433"/>
                    <a:pt x="2389272" y="1813766"/>
                    <a:pt x="2362887" y="1803288"/>
                  </a:cubicBezTo>
                  <a:cubicBezTo>
                    <a:pt x="2330978" y="1790620"/>
                    <a:pt x="2312786" y="1801955"/>
                    <a:pt x="2297831" y="1830625"/>
                  </a:cubicBezTo>
                  <a:cubicBezTo>
                    <a:pt x="2283163" y="1858914"/>
                    <a:pt x="2289640" y="1877583"/>
                    <a:pt x="2314500" y="1895204"/>
                  </a:cubicBezTo>
                  <a:cubicBezTo>
                    <a:pt x="2341647" y="1914350"/>
                    <a:pt x="2367269" y="1935781"/>
                    <a:pt x="2393177" y="1956736"/>
                  </a:cubicBezTo>
                  <a:cubicBezTo>
                    <a:pt x="2419085" y="1977596"/>
                    <a:pt x="2411084" y="1998456"/>
                    <a:pt x="2396129" y="2023125"/>
                  </a:cubicBezTo>
                  <a:cubicBezTo>
                    <a:pt x="2380604" y="2048843"/>
                    <a:pt x="2361744" y="2055415"/>
                    <a:pt x="2336884" y="2043223"/>
                  </a:cubicBezTo>
                  <a:cubicBezTo>
                    <a:pt x="2305642" y="2027888"/>
                    <a:pt x="2275257" y="2010647"/>
                    <a:pt x="2245063" y="1993217"/>
                  </a:cubicBezTo>
                  <a:cubicBezTo>
                    <a:pt x="2211344" y="1973786"/>
                    <a:pt x="2193437" y="1994074"/>
                    <a:pt x="2173626" y="2017410"/>
                  </a:cubicBezTo>
                  <a:cubicBezTo>
                    <a:pt x="2153432" y="2041223"/>
                    <a:pt x="2145431" y="2061797"/>
                    <a:pt x="2170292" y="2087514"/>
                  </a:cubicBezTo>
                  <a:cubicBezTo>
                    <a:pt x="2191247" y="2109136"/>
                    <a:pt x="2209344" y="2133329"/>
                    <a:pt x="2229251" y="2155904"/>
                  </a:cubicBezTo>
                  <a:cubicBezTo>
                    <a:pt x="2251064" y="2180669"/>
                    <a:pt x="2256112" y="2201719"/>
                    <a:pt x="2229251" y="2229532"/>
                  </a:cubicBezTo>
                  <a:cubicBezTo>
                    <a:pt x="2200772" y="2259155"/>
                    <a:pt x="2178674" y="2253535"/>
                    <a:pt x="2152575" y="2230199"/>
                  </a:cubicBezTo>
                  <a:cubicBezTo>
                    <a:pt x="2132477" y="2212197"/>
                    <a:pt x="2110570" y="2196195"/>
                    <a:pt x="2091234" y="2177526"/>
                  </a:cubicBezTo>
                  <a:cubicBezTo>
                    <a:pt x="2066755" y="2153999"/>
                    <a:pt x="2045038" y="2150379"/>
                    <a:pt x="2016653" y="2173620"/>
                  </a:cubicBezTo>
                  <a:cubicBezTo>
                    <a:pt x="1988555" y="2196576"/>
                    <a:pt x="1986364" y="2218293"/>
                    <a:pt x="2005223" y="2247058"/>
                  </a:cubicBezTo>
                  <a:cubicBezTo>
                    <a:pt x="2019035" y="2268203"/>
                    <a:pt x="2029988" y="2291254"/>
                    <a:pt x="2042847" y="2313066"/>
                  </a:cubicBezTo>
                  <a:cubicBezTo>
                    <a:pt x="2060754" y="2343451"/>
                    <a:pt x="2067231" y="2367835"/>
                    <a:pt x="2029607" y="2392791"/>
                  </a:cubicBezTo>
                  <a:cubicBezTo>
                    <a:pt x="1993412" y="2416794"/>
                    <a:pt x="1974934" y="2400696"/>
                    <a:pt x="1954741" y="2374883"/>
                  </a:cubicBezTo>
                  <a:cubicBezTo>
                    <a:pt x="1939120" y="2354881"/>
                    <a:pt x="1922165" y="2335831"/>
                    <a:pt x="1907783" y="2314971"/>
                  </a:cubicBezTo>
                  <a:cubicBezTo>
                    <a:pt x="1889209" y="2288111"/>
                    <a:pt x="1870254" y="2275633"/>
                    <a:pt x="1836536" y="2293921"/>
                  </a:cubicBezTo>
                  <a:cubicBezTo>
                    <a:pt x="1803865" y="2311733"/>
                    <a:pt x="1793483" y="2331926"/>
                    <a:pt x="1808913" y="2366787"/>
                  </a:cubicBezTo>
                  <a:cubicBezTo>
                    <a:pt x="1819010" y="2389838"/>
                    <a:pt x="1823582" y="2415270"/>
                    <a:pt x="1832345" y="2439082"/>
                  </a:cubicBezTo>
                  <a:cubicBezTo>
                    <a:pt x="1845013" y="2473372"/>
                    <a:pt x="1843965" y="2497185"/>
                    <a:pt x="1802817" y="2513663"/>
                  </a:cubicBezTo>
                  <a:cubicBezTo>
                    <a:pt x="1762050" y="2529951"/>
                    <a:pt x="1748048" y="2508995"/>
                    <a:pt x="1733475" y="2479944"/>
                  </a:cubicBezTo>
                  <a:cubicBezTo>
                    <a:pt x="1720712" y="2454417"/>
                    <a:pt x="1706519" y="2429652"/>
                    <a:pt x="1694708" y="2403744"/>
                  </a:cubicBezTo>
                  <a:cubicBezTo>
                    <a:pt x="1681183" y="2374122"/>
                    <a:pt x="1659466" y="2371645"/>
                    <a:pt x="1631748" y="2379646"/>
                  </a:cubicBezTo>
                  <a:cubicBezTo>
                    <a:pt x="1603745" y="2387647"/>
                    <a:pt x="1593839" y="2405459"/>
                    <a:pt x="1597553" y="2433177"/>
                  </a:cubicBezTo>
                  <a:cubicBezTo>
                    <a:pt x="1601935" y="2466133"/>
                    <a:pt x="1605269" y="2499280"/>
                    <a:pt x="1609841" y="2532237"/>
                  </a:cubicBezTo>
                  <a:cubicBezTo>
                    <a:pt x="1614698" y="2567193"/>
                    <a:pt x="1595553" y="2578909"/>
                    <a:pt x="1564978" y="2585862"/>
                  </a:cubicBezTo>
                  <a:cubicBezTo>
                    <a:pt x="1534022" y="2592911"/>
                    <a:pt x="1515638" y="2583671"/>
                    <a:pt x="1506780" y="2554239"/>
                  </a:cubicBezTo>
                  <a:cubicBezTo>
                    <a:pt x="1496779" y="2520806"/>
                    <a:pt x="1486968" y="2487374"/>
                    <a:pt x="1477919" y="2453751"/>
                  </a:cubicBezTo>
                  <a:cubicBezTo>
                    <a:pt x="1469156" y="2421080"/>
                    <a:pt x="1445820" y="2420413"/>
                    <a:pt x="1418293" y="2422699"/>
                  </a:cubicBezTo>
                  <a:cubicBezTo>
                    <a:pt x="1390385" y="2425080"/>
                    <a:pt x="1367810" y="2431271"/>
                    <a:pt x="1364953" y="2464228"/>
                  </a:cubicBezTo>
                  <a:cubicBezTo>
                    <a:pt x="1361714" y="2500518"/>
                    <a:pt x="1358762" y="2536809"/>
                    <a:pt x="1355714" y="2573099"/>
                  </a:cubicBezTo>
                  <a:cubicBezTo>
                    <a:pt x="1353237" y="2602817"/>
                    <a:pt x="1335806" y="2612628"/>
                    <a:pt x="1307517" y="2613104"/>
                  </a:cubicBezTo>
                  <a:cubicBezTo>
                    <a:pt x="1278275" y="2613580"/>
                    <a:pt x="1256939" y="2606246"/>
                    <a:pt x="1253415" y="2573861"/>
                  </a:cubicBezTo>
                  <a:cubicBezTo>
                    <a:pt x="1249510" y="2537666"/>
                    <a:pt x="1246367" y="2501376"/>
                    <a:pt x="1243700" y="2465085"/>
                  </a:cubicBezTo>
                  <a:cubicBezTo>
                    <a:pt x="1241699" y="2438320"/>
                    <a:pt x="1228079" y="2425937"/>
                    <a:pt x="1201409" y="2423747"/>
                  </a:cubicBezTo>
                  <a:cubicBezTo>
                    <a:pt x="1175024" y="2421651"/>
                    <a:pt x="1159022" y="2430700"/>
                    <a:pt x="1152355" y="2456989"/>
                  </a:cubicBezTo>
                  <a:cubicBezTo>
                    <a:pt x="1144163" y="2489184"/>
                    <a:pt x="1133876" y="2520902"/>
                    <a:pt x="1125971" y="2553192"/>
                  </a:cubicBezTo>
                  <a:cubicBezTo>
                    <a:pt x="1117303" y="2588910"/>
                    <a:pt x="1096824" y="2595006"/>
                    <a:pt x="1062248" y="2589196"/>
                  </a:cubicBezTo>
                  <a:cubicBezTo>
                    <a:pt x="1025387" y="2583005"/>
                    <a:pt x="1019481" y="2562050"/>
                    <a:pt x="1022148" y="2532141"/>
                  </a:cubicBezTo>
                  <a:cubicBezTo>
                    <a:pt x="1024720" y="2503757"/>
                    <a:pt x="1026339" y="2475087"/>
                    <a:pt x="1031768" y="2447178"/>
                  </a:cubicBezTo>
                  <a:cubicBezTo>
                    <a:pt x="1039579" y="2406602"/>
                    <a:pt x="1020053" y="2390409"/>
                    <a:pt x="983953" y="2380122"/>
                  </a:cubicBezTo>
                  <a:cubicBezTo>
                    <a:pt x="946710" y="2369549"/>
                    <a:pt x="927660" y="2383361"/>
                    <a:pt x="914135" y="2416412"/>
                  </a:cubicBezTo>
                  <a:cubicBezTo>
                    <a:pt x="903371" y="2442702"/>
                    <a:pt x="888893" y="2467467"/>
                    <a:pt x="876035" y="2492994"/>
                  </a:cubicBezTo>
                  <a:cubicBezTo>
                    <a:pt x="859461" y="2525855"/>
                    <a:pt x="836125" y="2525569"/>
                    <a:pt x="804883" y="2512520"/>
                  </a:cubicBezTo>
                  <a:cubicBezTo>
                    <a:pt x="773641" y="2499375"/>
                    <a:pt x="769831" y="2479944"/>
                    <a:pt x="778975" y="2452036"/>
                  </a:cubicBezTo>
                  <a:cubicBezTo>
                    <a:pt x="788405" y="2423461"/>
                    <a:pt x="796596" y="2394410"/>
                    <a:pt x="806788" y="2366120"/>
                  </a:cubicBezTo>
                  <a:cubicBezTo>
                    <a:pt x="818313" y="2333926"/>
                    <a:pt x="810598" y="2312971"/>
                    <a:pt x="778880" y="2296398"/>
                  </a:cubicBezTo>
                  <a:cubicBezTo>
                    <a:pt x="748209" y="2280395"/>
                    <a:pt x="729159" y="2287635"/>
                    <a:pt x="710585" y="2313638"/>
                  </a:cubicBezTo>
                  <a:cubicBezTo>
                    <a:pt x="691250" y="2340689"/>
                    <a:pt x="669628" y="2366120"/>
                    <a:pt x="648578" y="2391933"/>
                  </a:cubicBezTo>
                  <a:cubicBezTo>
                    <a:pt x="629909" y="2414888"/>
                    <a:pt x="610478" y="2413269"/>
                    <a:pt x="586760" y="2396982"/>
                  </a:cubicBezTo>
                  <a:cubicBezTo>
                    <a:pt x="563519" y="2380979"/>
                    <a:pt x="546089" y="2365835"/>
                    <a:pt x="562472" y="2335641"/>
                  </a:cubicBezTo>
                  <a:cubicBezTo>
                    <a:pt x="579045" y="2304970"/>
                    <a:pt x="594666" y="2273823"/>
                    <a:pt x="612573" y="2243915"/>
                  </a:cubicBezTo>
                  <a:cubicBezTo>
                    <a:pt x="630480" y="2214197"/>
                    <a:pt x="620003" y="2194956"/>
                    <a:pt x="595619" y="2175049"/>
                  </a:cubicBezTo>
                  <a:cubicBezTo>
                    <a:pt x="571235" y="2155142"/>
                    <a:pt x="549803" y="2148855"/>
                    <a:pt x="524372" y="2171811"/>
                  </a:cubicBezTo>
                  <a:cubicBezTo>
                    <a:pt x="499607" y="2194099"/>
                    <a:pt x="473984" y="2215435"/>
                    <a:pt x="448457" y="2236676"/>
                  </a:cubicBezTo>
                  <a:cubicBezTo>
                    <a:pt x="425216" y="2256012"/>
                    <a:pt x="405595" y="2254964"/>
                    <a:pt x="382735" y="2231818"/>
                  </a:cubicBezTo>
                  <a:cubicBezTo>
                    <a:pt x="359589" y="2208387"/>
                    <a:pt x="353588" y="2187527"/>
                    <a:pt x="375020" y="2161809"/>
                  </a:cubicBezTo>
                  <a:cubicBezTo>
                    <a:pt x="397308" y="2134949"/>
                    <a:pt x="419692" y="2108183"/>
                    <a:pt x="442838" y="2082180"/>
                  </a:cubicBezTo>
                  <a:cubicBezTo>
                    <a:pt x="463221" y="2059225"/>
                    <a:pt x="455887" y="2039985"/>
                    <a:pt x="438932" y="2019125"/>
                  </a:cubicBezTo>
                  <a:cubicBezTo>
                    <a:pt x="421692" y="1997979"/>
                    <a:pt x="403404" y="1988264"/>
                    <a:pt x="377496" y="2003123"/>
                  </a:cubicBezTo>
                  <a:cubicBezTo>
                    <a:pt x="347207" y="2020458"/>
                    <a:pt x="316822" y="2037413"/>
                    <a:pt x="286342" y="2054272"/>
                  </a:cubicBezTo>
                  <a:cubicBezTo>
                    <a:pt x="259672" y="2069036"/>
                    <a:pt x="239955" y="2064083"/>
                    <a:pt x="222334" y="2037222"/>
                  </a:cubicBezTo>
                  <a:cubicBezTo>
                    <a:pt x="204998" y="2010743"/>
                    <a:pt x="200045" y="1988645"/>
                    <a:pt x="227477" y="1967023"/>
                  </a:cubicBezTo>
                  <a:cubicBezTo>
                    <a:pt x="251099" y="1948354"/>
                    <a:pt x="274055" y="1928637"/>
                    <a:pt x="298534" y="1911111"/>
                  </a:cubicBezTo>
                  <a:cubicBezTo>
                    <a:pt x="325394" y="1891871"/>
                    <a:pt x="335300" y="1872344"/>
                    <a:pt x="318155" y="1839007"/>
                  </a:cubicBezTo>
                  <a:cubicBezTo>
                    <a:pt x="299867" y="1803479"/>
                    <a:pt x="276817" y="1800907"/>
                    <a:pt x="243956" y="1813670"/>
                  </a:cubicBezTo>
                  <a:cubicBezTo>
                    <a:pt x="215952" y="1824529"/>
                    <a:pt x="186710" y="1832435"/>
                    <a:pt x="158135" y="1841769"/>
                  </a:cubicBezTo>
                  <a:cubicBezTo>
                    <a:pt x="127560" y="1851770"/>
                    <a:pt x="111749" y="1838531"/>
                    <a:pt x="100128" y="1810337"/>
                  </a:cubicBezTo>
                  <a:cubicBezTo>
                    <a:pt x="88889" y="1783190"/>
                    <a:pt x="86888" y="1761759"/>
                    <a:pt x="116321" y="1746519"/>
                  </a:cubicBezTo>
                  <a:cubicBezTo>
                    <a:pt x="143086" y="1732613"/>
                    <a:pt x="169661" y="1718611"/>
                    <a:pt x="196616" y="1705085"/>
                  </a:cubicBezTo>
                  <a:cubicBezTo>
                    <a:pt x="223096" y="1691751"/>
                    <a:pt x="247099" y="1680130"/>
                    <a:pt x="234716" y="1640887"/>
                  </a:cubicBezTo>
                  <a:cubicBezTo>
                    <a:pt x="222905" y="1603263"/>
                    <a:pt x="201188" y="1595548"/>
                    <a:pt x="166232" y="1602882"/>
                  </a:cubicBezTo>
                  <a:cubicBezTo>
                    <a:pt x="139943" y="1608407"/>
                    <a:pt x="112892" y="1610216"/>
                    <a:pt x="86126" y="1613836"/>
                  </a:cubicBezTo>
                  <a:cubicBezTo>
                    <a:pt x="55742" y="1617836"/>
                    <a:pt x="35453" y="1611740"/>
                    <a:pt x="27452" y="1575926"/>
                  </a:cubicBezTo>
                  <a:cubicBezTo>
                    <a:pt x="19832" y="1541732"/>
                    <a:pt x="24690" y="1520491"/>
                    <a:pt x="60409" y="1510776"/>
                  </a:cubicBezTo>
                  <a:cubicBezTo>
                    <a:pt x="89460" y="1502870"/>
                    <a:pt x="117845" y="1492392"/>
                    <a:pt x="147086" y="1485534"/>
                  </a:cubicBezTo>
                  <a:cubicBezTo>
                    <a:pt x="180519" y="1477724"/>
                    <a:pt x="195569" y="1460483"/>
                    <a:pt x="190425" y="1424669"/>
                  </a:cubicBezTo>
                  <a:cubicBezTo>
                    <a:pt x="185758" y="1391999"/>
                    <a:pt x="178900" y="1365995"/>
                    <a:pt x="137466" y="1366567"/>
                  </a:cubicBezTo>
                  <a:cubicBezTo>
                    <a:pt x="110701" y="1366948"/>
                    <a:pt x="83840" y="1361900"/>
                    <a:pt x="56980" y="1360281"/>
                  </a:cubicBezTo>
                  <a:cubicBezTo>
                    <a:pt x="24023" y="1358280"/>
                    <a:pt x="782" y="1352279"/>
                    <a:pt x="20" y="1308845"/>
                  </a:cubicBezTo>
                  <a:cubicBezTo>
                    <a:pt x="-742" y="1264268"/>
                    <a:pt x="19928" y="1254172"/>
                    <a:pt x="57170" y="1253219"/>
                  </a:cubicBezTo>
                  <a:cubicBezTo>
                    <a:pt x="84031" y="1252553"/>
                    <a:pt x="110796" y="1246933"/>
                    <a:pt x="137657" y="1246743"/>
                  </a:cubicBezTo>
                  <a:cubicBezTo>
                    <a:pt x="171947" y="1246552"/>
                    <a:pt x="184805" y="1228645"/>
                    <a:pt x="188996" y="1197403"/>
                  </a:cubicBezTo>
                  <a:cubicBezTo>
                    <a:pt x="193378" y="1164827"/>
                    <a:pt x="176423" y="1150826"/>
                    <a:pt x="148801" y="1143396"/>
                  </a:cubicBezTo>
                  <a:cubicBezTo>
                    <a:pt x="121274" y="1135967"/>
                    <a:pt x="93746" y="1128537"/>
                    <a:pt x="66219" y="1121108"/>
                  </a:cubicBezTo>
                  <a:cubicBezTo>
                    <a:pt x="36311" y="1113011"/>
                    <a:pt x="14308" y="1101772"/>
                    <a:pt x="21547" y="1062243"/>
                  </a:cubicBezTo>
                  <a:cubicBezTo>
                    <a:pt x="28405" y="1024810"/>
                    <a:pt x="45455" y="1008903"/>
                    <a:pt x="82983" y="1015475"/>
                  </a:cubicBezTo>
                  <a:close/>
                  <a:moveTo>
                    <a:pt x="1314375" y="2266394"/>
                  </a:moveTo>
                  <a:cubicBezTo>
                    <a:pt x="1845870" y="2266394"/>
                    <a:pt x="2272876" y="1840150"/>
                    <a:pt x="2272971" y="1309226"/>
                  </a:cubicBezTo>
                  <a:cubicBezTo>
                    <a:pt x="2273162" y="779636"/>
                    <a:pt x="1844060" y="351297"/>
                    <a:pt x="1313613" y="351202"/>
                  </a:cubicBezTo>
                  <a:cubicBezTo>
                    <a:pt x="787452" y="351202"/>
                    <a:pt x="355589" y="779065"/>
                    <a:pt x="355398" y="1300368"/>
                  </a:cubicBezTo>
                  <a:cubicBezTo>
                    <a:pt x="355208" y="1841293"/>
                    <a:pt x="777165" y="2266394"/>
                    <a:pt x="1314280" y="2266394"/>
                  </a:cubicBezTo>
                  <a:close/>
                </a:path>
              </a:pathLst>
            </a:custGeom>
            <a:solidFill>
              <a:srgbClr val="1772B9"/>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6" name="Freeform: Shape 5">
              <a:extLst>
                <a:ext uri="{FF2B5EF4-FFF2-40B4-BE49-F238E27FC236}">
                  <a16:creationId xmlns:a16="http://schemas.microsoft.com/office/drawing/2014/main" id="{329C2504-89F3-8FF1-11CD-874C9A34C174}"/>
                </a:ext>
              </a:extLst>
            </p:cNvPr>
            <p:cNvSpPr/>
            <p:nvPr/>
          </p:nvSpPr>
          <p:spPr>
            <a:xfrm>
              <a:off x="5140986" y="2467641"/>
              <a:ext cx="1917573" cy="1915191"/>
            </a:xfrm>
            <a:custGeom>
              <a:avLst/>
              <a:gdLst>
                <a:gd name="connsiteX0" fmla="*/ 958882 w 1917573"/>
                <a:gd name="connsiteY0" fmla="*/ 1915192 h 1915191"/>
                <a:gd name="connsiteX1" fmla="*/ 0 w 1917573"/>
                <a:gd name="connsiteY1" fmla="*/ 949166 h 1915191"/>
                <a:gd name="connsiteX2" fmla="*/ 958215 w 1917573"/>
                <a:gd name="connsiteY2" fmla="*/ 0 h 1915191"/>
                <a:gd name="connsiteX3" fmla="*/ 1917573 w 1917573"/>
                <a:gd name="connsiteY3" fmla="*/ 958024 h 1915191"/>
                <a:gd name="connsiteX4" fmla="*/ 958977 w 1917573"/>
                <a:gd name="connsiteY4" fmla="*/ 1915192 h 1915191"/>
                <a:gd name="connsiteX5" fmla="*/ 1416463 w 1917573"/>
                <a:gd name="connsiteY5" fmla="*/ 1583531 h 1915191"/>
                <a:gd name="connsiteX6" fmla="*/ 1584674 w 1917573"/>
                <a:gd name="connsiteY6" fmla="*/ 1410081 h 1915191"/>
                <a:gd name="connsiteX7" fmla="*/ 1573625 w 1917573"/>
                <a:gd name="connsiteY7" fmla="*/ 1339882 h 1915191"/>
                <a:gd name="connsiteX8" fmla="*/ 1402366 w 1917573"/>
                <a:gd name="connsiteY8" fmla="*/ 998315 h 1915191"/>
                <a:gd name="connsiteX9" fmla="*/ 1402461 w 1917573"/>
                <a:gd name="connsiteY9" fmla="*/ 909542 h 1915191"/>
                <a:gd name="connsiteX10" fmla="*/ 1582960 w 1917573"/>
                <a:gd name="connsiteY10" fmla="*/ 506730 h 1915191"/>
                <a:gd name="connsiteX11" fmla="*/ 1395889 w 1917573"/>
                <a:gd name="connsiteY11" fmla="*/ 325565 h 1915191"/>
                <a:gd name="connsiteX12" fmla="*/ 1219200 w 1917573"/>
                <a:gd name="connsiteY12" fmla="*/ 378142 h 1915191"/>
                <a:gd name="connsiteX13" fmla="*/ 1172813 w 1917573"/>
                <a:gd name="connsiteY13" fmla="*/ 357759 h 1915191"/>
                <a:gd name="connsiteX14" fmla="*/ 1078516 w 1917573"/>
                <a:gd name="connsiteY14" fmla="*/ 188595 h 1915191"/>
                <a:gd name="connsiteX15" fmla="*/ 829437 w 1917573"/>
                <a:gd name="connsiteY15" fmla="*/ 186785 h 1915191"/>
                <a:gd name="connsiteX16" fmla="*/ 732187 w 1917573"/>
                <a:gd name="connsiteY16" fmla="*/ 359664 h 1915191"/>
                <a:gd name="connsiteX17" fmla="*/ 689039 w 1917573"/>
                <a:gd name="connsiteY17" fmla="*/ 376142 h 1915191"/>
                <a:gd name="connsiteX18" fmla="*/ 531305 w 1917573"/>
                <a:gd name="connsiteY18" fmla="*/ 325565 h 1915191"/>
                <a:gd name="connsiteX19" fmla="*/ 326041 w 1917573"/>
                <a:gd name="connsiteY19" fmla="*/ 530828 h 1915191"/>
                <a:gd name="connsiteX20" fmla="*/ 494824 w 1917573"/>
                <a:gd name="connsiteY20" fmla="*/ 893636 h 1915191"/>
                <a:gd name="connsiteX21" fmla="*/ 495681 w 1917573"/>
                <a:gd name="connsiteY21" fmla="*/ 1014413 h 1915191"/>
                <a:gd name="connsiteX22" fmla="*/ 324898 w 1917573"/>
                <a:gd name="connsiteY22" fmla="*/ 1381316 h 1915191"/>
                <a:gd name="connsiteX23" fmla="*/ 515207 w 1917573"/>
                <a:gd name="connsiteY23" fmla="*/ 1585055 h 1915191"/>
                <a:gd name="connsiteX24" fmla="*/ 669608 w 1917573"/>
                <a:gd name="connsiteY24" fmla="*/ 1540764 h 1915191"/>
                <a:gd name="connsiteX25" fmla="*/ 740474 w 1917573"/>
                <a:gd name="connsiteY25" fmla="*/ 1572101 h 1915191"/>
                <a:gd name="connsiteX26" fmla="*/ 844296 w 1917573"/>
                <a:gd name="connsiteY26" fmla="*/ 1740599 h 1915191"/>
                <a:gd name="connsiteX27" fmla="*/ 1063371 w 1917573"/>
                <a:gd name="connsiteY27" fmla="*/ 1738503 h 1915191"/>
                <a:gd name="connsiteX28" fmla="*/ 1173671 w 1917573"/>
                <a:gd name="connsiteY28" fmla="*/ 1551908 h 1915191"/>
                <a:gd name="connsiteX29" fmla="*/ 1220343 w 1917573"/>
                <a:gd name="connsiteY29" fmla="*/ 1531620 h 1915191"/>
                <a:gd name="connsiteX30" fmla="*/ 1416272 w 1917573"/>
                <a:gd name="connsiteY30" fmla="*/ 1583531 h 191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7573" h="1915191">
                  <a:moveTo>
                    <a:pt x="958882" y="1915192"/>
                  </a:moveTo>
                  <a:cubicBezTo>
                    <a:pt x="421767" y="1915192"/>
                    <a:pt x="-190" y="1490091"/>
                    <a:pt x="0" y="949166"/>
                  </a:cubicBezTo>
                  <a:cubicBezTo>
                    <a:pt x="191" y="427863"/>
                    <a:pt x="432054" y="0"/>
                    <a:pt x="958215" y="0"/>
                  </a:cubicBezTo>
                  <a:cubicBezTo>
                    <a:pt x="1488662" y="0"/>
                    <a:pt x="1917668" y="428435"/>
                    <a:pt x="1917573" y="958024"/>
                  </a:cubicBezTo>
                  <a:cubicBezTo>
                    <a:pt x="1917383" y="1488853"/>
                    <a:pt x="1490472" y="1915192"/>
                    <a:pt x="958977" y="1915192"/>
                  </a:cubicBezTo>
                  <a:close/>
                  <a:moveTo>
                    <a:pt x="1416463" y="1583531"/>
                  </a:moveTo>
                  <a:cubicBezTo>
                    <a:pt x="1529715" y="1585722"/>
                    <a:pt x="1592485" y="1521428"/>
                    <a:pt x="1584674" y="1410081"/>
                  </a:cubicBezTo>
                  <a:cubicBezTo>
                    <a:pt x="1583055" y="1386554"/>
                    <a:pt x="1579150" y="1362837"/>
                    <a:pt x="1573625" y="1339882"/>
                  </a:cubicBezTo>
                  <a:cubicBezTo>
                    <a:pt x="1543241" y="1212818"/>
                    <a:pt x="1477899" y="1102424"/>
                    <a:pt x="1402366" y="998315"/>
                  </a:cubicBezTo>
                  <a:cubicBezTo>
                    <a:pt x="1377410" y="963930"/>
                    <a:pt x="1378172" y="943642"/>
                    <a:pt x="1402461" y="909542"/>
                  </a:cubicBezTo>
                  <a:cubicBezTo>
                    <a:pt x="1489043" y="787622"/>
                    <a:pt x="1566672" y="660464"/>
                    <a:pt x="1582960" y="506730"/>
                  </a:cubicBezTo>
                  <a:cubicBezTo>
                    <a:pt x="1596009" y="383953"/>
                    <a:pt x="1518380" y="309467"/>
                    <a:pt x="1395889" y="325565"/>
                  </a:cubicBezTo>
                  <a:cubicBezTo>
                    <a:pt x="1334072" y="333661"/>
                    <a:pt x="1274636" y="350139"/>
                    <a:pt x="1219200" y="378142"/>
                  </a:cubicBezTo>
                  <a:cubicBezTo>
                    <a:pt x="1191578" y="392049"/>
                    <a:pt x="1182243" y="385096"/>
                    <a:pt x="1172813" y="357759"/>
                  </a:cubicBezTo>
                  <a:cubicBezTo>
                    <a:pt x="1151573" y="296132"/>
                    <a:pt x="1121950" y="238220"/>
                    <a:pt x="1078516" y="188595"/>
                  </a:cubicBezTo>
                  <a:cubicBezTo>
                    <a:pt x="1001554" y="100775"/>
                    <a:pt x="908114" y="100203"/>
                    <a:pt x="829437" y="186785"/>
                  </a:cubicBezTo>
                  <a:cubicBezTo>
                    <a:pt x="783908" y="236887"/>
                    <a:pt x="754761" y="296990"/>
                    <a:pt x="732187" y="359664"/>
                  </a:cubicBezTo>
                  <a:cubicBezTo>
                    <a:pt x="722186" y="387572"/>
                    <a:pt x="711994" y="387572"/>
                    <a:pt x="689039" y="376142"/>
                  </a:cubicBezTo>
                  <a:cubicBezTo>
                    <a:pt x="639223" y="351282"/>
                    <a:pt x="586169" y="335280"/>
                    <a:pt x="531305" y="325565"/>
                  </a:cubicBezTo>
                  <a:cubicBezTo>
                    <a:pt x="385191" y="299752"/>
                    <a:pt x="300800" y="384524"/>
                    <a:pt x="326041" y="530828"/>
                  </a:cubicBezTo>
                  <a:cubicBezTo>
                    <a:pt x="349568" y="667036"/>
                    <a:pt x="415481" y="784289"/>
                    <a:pt x="494824" y="893636"/>
                  </a:cubicBezTo>
                  <a:cubicBezTo>
                    <a:pt x="527399" y="938498"/>
                    <a:pt x="531114" y="966883"/>
                    <a:pt x="495681" y="1014413"/>
                  </a:cubicBezTo>
                  <a:cubicBezTo>
                    <a:pt x="414052" y="1123950"/>
                    <a:pt x="348329" y="1243489"/>
                    <a:pt x="324898" y="1381316"/>
                  </a:cubicBezTo>
                  <a:cubicBezTo>
                    <a:pt x="301276" y="1520095"/>
                    <a:pt x="376238" y="1600105"/>
                    <a:pt x="515207" y="1585055"/>
                  </a:cubicBezTo>
                  <a:cubicBezTo>
                    <a:pt x="569405" y="1579245"/>
                    <a:pt x="622649" y="1566196"/>
                    <a:pt x="669608" y="1540764"/>
                  </a:cubicBezTo>
                  <a:cubicBezTo>
                    <a:pt x="713994" y="1516761"/>
                    <a:pt x="725900" y="1531049"/>
                    <a:pt x="740474" y="1572101"/>
                  </a:cubicBezTo>
                  <a:cubicBezTo>
                    <a:pt x="762762" y="1634871"/>
                    <a:pt x="794576" y="1693926"/>
                    <a:pt x="844296" y="1740599"/>
                  </a:cubicBezTo>
                  <a:cubicBezTo>
                    <a:pt x="914972" y="1806988"/>
                    <a:pt x="993743" y="1806131"/>
                    <a:pt x="1063371" y="1738503"/>
                  </a:cubicBezTo>
                  <a:cubicBezTo>
                    <a:pt x="1116997" y="1686401"/>
                    <a:pt x="1148239" y="1620488"/>
                    <a:pt x="1173671" y="1551908"/>
                  </a:cubicBezTo>
                  <a:cubicBezTo>
                    <a:pt x="1183481" y="1525619"/>
                    <a:pt x="1191768" y="1518095"/>
                    <a:pt x="1220343" y="1531620"/>
                  </a:cubicBezTo>
                  <a:cubicBezTo>
                    <a:pt x="1281970" y="1560862"/>
                    <a:pt x="1346549" y="1583055"/>
                    <a:pt x="1416272" y="1583531"/>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7" name="Freeform: Shape 6">
              <a:extLst>
                <a:ext uri="{FF2B5EF4-FFF2-40B4-BE49-F238E27FC236}">
                  <a16:creationId xmlns:a16="http://schemas.microsoft.com/office/drawing/2014/main" id="{5AA52D05-2373-AD08-F11C-35BE906E4911}"/>
                </a:ext>
              </a:extLst>
            </p:cNvPr>
            <p:cNvSpPr/>
            <p:nvPr/>
          </p:nvSpPr>
          <p:spPr>
            <a:xfrm>
              <a:off x="5466377" y="2590023"/>
              <a:ext cx="1264748" cy="1667527"/>
            </a:xfrm>
            <a:custGeom>
              <a:avLst/>
              <a:gdLst>
                <a:gd name="connsiteX0" fmla="*/ 1095681 w 1264748"/>
                <a:gd name="connsiteY0" fmla="*/ 1461245 h 1667527"/>
                <a:gd name="connsiteX1" fmla="*/ 899752 w 1264748"/>
                <a:gd name="connsiteY1" fmla="*/ 1409334 h 1667527"/>
                <a:gd name="connsiteX2" fmla="*/ 853079 w 1264748"/>
                <a:gd name="connsiteY2" fmla="*/ 1429622 h 1667527"/>
                <a:gd name="connsiteX3" fmla="*/ 742780 w 1264748"/>
                <a:gd name="connsiteY3" fmla="*/ 1616217 h 1667527"/>
                <a:gd name="connsiteX4" fmla="*/ 523705 w 1264748"/>
                <a:gd name="connsiteY4" fmla="*/ 1618313 h 1667527"/>
                <a:gd name="connsiteX5" fmla="*/ 419882 w 1264748"/>
                <a:gd name="connsiteY5" fmla="*/ 1449815 h 1667527"/>
                <a:gd name="connsiteX6" fmla="*/ 349016 w 1264748"/>
                <a:gd name="connsiteY6" fmla="*/ 1418478 h 1667527"/>
                <a:gd name="connsiteX7" fmla="*/ 194616 w 1264748"/>
                <a:gd name="connsiteY7" fmla="*/ 1462769 h 1667527"/>
                <a:gd name="connsiteX8" fmla="*/ 4307 w 1264748"/>
                <a:gd name="connsiteY8" fmla="*/ 1259030 h 1667527"/>
                <a:gd name="connsiteX9" fmla="*/ 175090 w 1264748"/>
                <a:gd name="connsiteY9" fmla="*/ 892127 h 1667527"/>
                <a:gd name="connsiteX10" fmla="*/ 174233 w 1264748"/>
                <a:gd name="connsiteY10" fmla="*/ 771349 h 1667527"/>
                <a:gd name="connsiteX11" fmla="*/ 5450 w 1264748"/>
                <a:gd name="connsiteY11" fmla="*/ 408542 h 1667527"/>
                <a:gd name="connsiteX12" fmla="*/ 210713 w 1264748"/>
                <a:gd name="connsiteY12" fmla="*/ 203278 h 1667527"/>
                <a:gd name="connsiteX13" fmla="*/ 368447 w 1264748"/>
                <a:gd name="connsiteY13" fmla="*/ 253856 h 1667527"/>
                <a:gd name="connsiteX14" fmla="*/ 411596 w 1264748"/>
                <a:gd name="connsiteY14" fmla="*/ 237378 h 1667527"/>
                <a:gd name="connsiteX15" fmla="*/ 508846 w 1264748"/>
                <a:gd name="connsiteY15" fmla="*/ 64499 h 1667527"/>
                <a:gd name="connsiteX16" fmla="*/ 757925 w 1264748"/>
                <a:gd name="connsiteY16" fmla="*/ 66309 h 1667527"/>
                <a:gd name="connsiteX17" fmla="*/ 852222 w 1264748"/>
                <a:gd name="connsiteY17" fmla="*/ 235473 h 1667527"/>
                <a:gd name="connsiteX18" fmla="*/ 898609 w 1264748"/>
                <a:gd name="connsiteY18" fmla="*/ 255856 h 1667527"/>
                <a:gd name="connsiteX19" fmla="*/ 1075298 w 1264748"/>
                <a:gd name="connsiteY19" fmla="*/ 203278 h 1667527"/>
                <a:gd name="connsiteX20" fmla="*/ 1262369 w 1264748"/>
                <a:gd name="connsiteY20" fmla="*/ 384444 h 1667527"/>
                <a:gd name="connsiteX21" fmla="*/ 1081870 w 1264748"/>
                <a:gd name="connsiteY21" fmla="*/ 787256 h 1667527"/>
                <a:gd name="connsiteX22" fmla="*/ 1081775 w 1264748"/>
                <a:gd name="connsiteY22" fmla="*/ 876029 h 1667527"/>
                <a:gd name="connsiteX23" fmla="*/ 1253034 w 1264748"/>
                <a:gd name="connsiteY23" fmla="*/ 1217596 h 1667527"/>
                <a:gd name="connsiteX24" fmla="*/ 1264083 w 1264748"/>
                <a:gd name="connsiteY24" fmla="*/ 1287795 h 1667527"/>
                <a:gd name="connsiteX25" fmla="*/ 1095872 w 1264748"/>
                <a:gd name="connsiteY25" fmla="*/ 1461245 h 1667527"/>
                <a:gd name="connsiteX26" fmla="*/ 920231 w 1264748"/>
                <a:gd name="connsiteY26" fmla="*/ 831262 h 1667527"/>
                <a:gd name="connsiteX27" fmla="*/ 888417 w 1264748"/>
                <a:gd name="connsiteY27" fmla="*/ 680290 h 1667527"/>
                <a:gd name="connsiteX28" fmla="*/ 661913 w 1264748"/>
                <a:gd name="connsiteY28" fmla="*/ 470836 h 1667527"/>
                <a:gd name="connsiteX29" fmla="*/ 606382 w 1264748"/>
                <a:gd name="connsiteY29" fmla="*/ 471312 h 1667527"/>
                <a:gd name="connsiteX30" fmla="*/ 373781 w 1264748"/>
                <a:gd name="connsiteY30" fmla="*/ 688006 h 1667527"/>
                <a:gd name="connsiteX31" fmla="*/ 360351 w 1264748"/>
                <a:gd name="connsiteY31" fmla="*/ 960897 h 1667527"/>
                <a:gd name="connsiteX32" fmla="*/ 366447 w 1264748"/>
                <a:gd name="connsiteY32" fmla="*/ 968231 h 1667527"/>
                <a:gd name="connsiteX33" fmla="*/ 609049 w 1264748"/>
                <a:gd name="connsiteY33" fmla="*/ 1195022 h 1667527"/>
                <a:gd name="connsiteX34" fmla="*/ 661055 w 1264748"/>
                <a:gd name="connsiteY34" fmla="*/ 1193402 h 1667527"/>
                <a:gd name="connsiteX35" fmla="*/ 841173 w 1264748"/>
                <a:gd name="connsiteY35" fmla="*/ 1031668 h 1667527"/>
                <a:gd name="connsiteX36" fmla="*/ 920326 w 1264748"/>
                <a:gd name="connsiteY36" fmla="*/ 831262 h 1667527"/>
                <a:gd name="connsiteX37" fmla="*/ 230716 w 1264748"/>
                <a:gd name="connsiteY37" fmla="*/ 859837 h 1667527"/>
                <a:gd name="connsiteX38" fmla="*/ 41264 w 1264748"/>
                <a:gd name="connsiteY38" fmla="*/ 1214357 h 1667527"/>
                <a:gd name="connsiteX39" fmla="*/ 29929 w 1264748"/>
                <a:gd name="connsiteY39" fmla="*/ 1312846 h 1667527"/>
                <a:gd name="connsiteX40" fmla="*/ 154135 w 1264748"/>
                <a:gd name="connsiteY40" fmla="*/ 1437147 h 1667527"/>
                <a:gd name="connsiteX41" fmla="*/ 359208 w 1264748"/>
                <a:gd name="connsiteY41" fmla="*/ 1385236 h 1667527"/>
                <a:gd name="connsiteX42" fmla="*/ 380639 w 1264748"/>
                <a:gd name="connsiteY42" fmla="*/ 1335230 h 1667527"/>
                <a:gd name="connsiteX43" fmla="*/ 332252 w 1264748"/>
                <a:gd name="connsiteY43" fmla="*/ 1070149 h 1667527"/>
                <a:gd name="connsiteX44" fmla="*/ 230621 w 1264748"/>
                <a:gd name="connsiteY44" fmla="*/ 859741 h 1667527"/>
                <a:gd name="connsiteX45" fmla="*/ 30215 w 1264748"/>
                <a:gd name="connsiteY45" fmla="*/ 394826 h 1667527"/>
                <a:gd name="connsiteX46" fmla="*/ 222239 w 1264748"/>
                <a:gd name="connsiteY46" fmla="*/ 792685 h 1667527"/>
                <a:gd name="connsiteX47" fmla="*/ 240050 w 1264748"/>
                <a:gd name="connsiteY47" fmla="*/ 798877 h 1667527"/>
                <a:gd name="connsiteX48" fmla="*/ 322537 w 1264748"/>
                <a:gd name="connsiteY48" fmla="*/ 680671 h 1667527"/>
                <a:gd name="connsiteX49" fmla="*/ 383402 w 1264748"/>
                <a:gd name="connsiteY49" fmla="*/ 320722 h 1667527"/>
                <a:gd name="connsiteX50" fmla="*/ 365114 w 1264748"/>
                <a:gd name="connsiteY50" fmla="*/ 281764 h 1667527"/>
                <a:gd name="connsiteX51" fmla="*/ 179186 w 1264748"/>
                <a:gd name="connsiteY51" fmla="*/ 227377 h 1667527"/>
                <a:gd name="connsiteX52" fmla="*/ 30215 w 1264748"/>
                <a:gd name="connsiteY52" fmla="*/ 394731 h 1667527"/>
                <a:gd name="connsiteX53" fmla="*/ 1100634 w 1264748"/>
                <a:gd name="connsiteY53" fmla="*/ 230044 h 1667527"/>
                <a:gd name="connsiteX54" fmla="*/ 904895 w 1264748"/>
                <a:gd name="connsiteY54" fmla="*/ 281860 h 1667527"/>
                <a:gd name="connsiteX55" fmla="*/ 882988 w 1264748"/>
                <a:gd name="connsiteY55" fmla="*/ 328246 h 1667527"/>
                <a:gd name="connsiteX56" fmla="*/ 933089 w 1264748"/>
                <a:gd name="connsiteY56" fmla="*/ 602852 h 1667527"/>
                <a:gd name="connsiteX57" fmla="*/ 1014147 w 1264748"/>
                <a:gd name="connsiteY57" fmla="*/ 786589 h 1667527"/>
                <a:gd name="connsiteX58" fmla="*/ 1051676 w 1264748"/>
                <a:gd name="connsiteY58" fmla="*/ 783446 h 1667527"/>
                <a:gd name="connsiteX59" fmla="*/ 1204076 w 1264748"/>
                <a:gd name="connsiteY59" fmla="*/ 510936 h 1667527"/>
                <a:gd name="connsiteX60" fmla="*/ 1236937 w 1264748"/>
                <a:gd name="connsiteY60" fmla="*/ 373109 h 1667527"/>
                <a:gd name="connsiteX61" fmla="*/ 1100634 w 1264748"/>
                <a:gd name="connsiteY61" fmla="*/ 230044 h 1667527"/>
                <a:gd name="connsiteX62" fmla="*/ 1034245 w 1264748"/>
                <a:gd name="connsiteY62" fmla="*/ 855836 h 1667527"/>
                <a:gd name="connsiteX63" fmla="*/ 935947 w 1264748"/>
                <a:gd name="connsiteY63" fmla="*/ 1031382 h 1667527"/>
                <a:gd name="connsiteX64" fmla="*/ 884512 w 1264748"/>
                <a:gd name="connsiteY64" fmla="*/ 1335134 h 1667527"/>
                <a:gd name="connsiteX65" fmla="*/ 904514 w 1264748"/>
                <a:gd name="connsiteY65" fmla="*/ 1382093 h 1667527"/>
                <a:gd name="connsiteX66" fmla="*/ 1057962 w 1264748"/>
                <a:gd name="connsiteY66" fmla="*/ 1430670 h 1667527"/>
                <a:gd name="connsiteX67" fmla="*/ 1231508 w 1264748"/>
                <a:gd name="connsiteY67" fmla="*/ 1249695 h 1667527"/>
                <a:gd name="connsiteX68" fmla="*/ 1034340 w 1264748"/>
                <a:gd name="connsiteY68" fmla="*/ 855931 h 1667527"/>
                <a:gd name="connsiteX69" fmla="*/ 635624 w 1264748"/>
                <a:gd name="connsiteY69" fmla="*/ 1638315 h 1667527"/>
                <a:gd name="connsiteX70" fmla="*/ 721730 w 1264748"/>
                <a:gd name="connsiteY70" fmla="*/ 1597357 h 1667527"/>
                <a:gd name="connsiteX71" fmla="*/ 835268 w 1264748"/>
                <a:gd name="connsiteY71" fmla="*/ 1401905 h 1667527"/>
                <a:gd name="connsiteX72" fmla="*/ 818408 w 1264748"/>
                <a:gd name="connsiteY72" fmla="*/ 1369424 h 1667527"/>
                <a:gd name="connsiteX73" fmla="*/ 654959 w 1264748"/>
                <a:gd name="connsiteY73" fmla="*/ 1263887 h 1667527"/>
                <a:gd name="connsiteX74" fmla="*/ 614288 w 1264748"/>
                <a:gd name="connsiteY74" fmla="*/ 1263411 h 1667527"/>
                <a:gd name="connsiteX75" fmla="*/ 446933 w 1264748"/>
                <a:gd name="connsiteY75" fmla="*/ 1371520 h 1667527"/>
                <a:gd name="connsiteX76" fmla="*/ 432360 w 1264748"/>
                <a:gd name="connsiteY76" fmla="*/ 1409239 h 1667527"/>
                <a:gd name="connsiteX77" fmla="*/ 525515 w 1264748"/>
                <a:gd name="connsiteY77" fmla="*/ 1578974 h 1667527"/>
                <a:gd name="connsiteX78" fmla="*/ 635624 w 1264748"/>
                <a:gd name="connsiteY78" fmla="*/ 1638220 h 1667527"/>
                <a:gd name="connsiteX79" fmla="*/ 631623 w 1264748"/>
                <a:gd name="connsiteY79" fmla="*/ 27447 h 1667527"/>
                <a:gd name="connsiteX80" fmla="*/ 547136 w 1264748"/>
                <a:gd name="connsiteY80" fmla="*/ 65452 h 1667527"/>
                <a:gd name="connsiteX81" fmla="*/ 431789 w 1264748"/>
                <a:gd name="connsiteY81" fmla="*/ 259000 h 1667527"/>
                <a:gd name="connsiteX82" fmla="*/ 451029 w 1264748"/>
                <a:gd name="connsiteY82" fmla="*/ 294814 h 1667527"/>
                <a:gd name="connsiteX83" fmla="*/ 609620 w 1264748"/>
                <a:gd name="connsiteY83" fmla="*/ 398065 h 1667527"/>
                <a:gd name="connsiteX84" fmla="*/ 659055 w 1264748"/>
                <a:gd name="connsiteY84" fmla="*/ 397303 h 1667527"/>
                <a:gd name="connsiteX85" fmla="*/ 818122 w 1264748"/>
                <a:gd name="connsiteY85" fmla="*/ 294909 h 1667527"/>
                <a:gd name="connsiteX86" fmla="*/ 833648 w 1264748"/>
                <a:gd name="connsiteY86" fmla="*/ 262238 h 1667527"/>
                <a:gd name="connsiteX87" fmla="*/ 719348 w 1264748"/>
                <a:gd name="connsiteY87" fmla="*/ 68023 h 1667527"/>
                <a:gd name="connsiteX88" fmla="*/ 631433 w 1264748"/>
                <a:gd name="connsiteY88" fmla="*/ 27447 h 1667527"/>
                <a:gd name="connsiteX89" fmla="*/ 609906 w 1264748"/>
                <a:gd name="connsiteY89" fmla="*/ 1231216 h 1667527"/>
                <a:gd name="connsiteX90" fmla="*/ 352160 w 1264748"/>
                <a:gd name="connsiteY90" fmla="*/ 996235 h 1667527"/>
                <a:gd name="connsiteX91" fmla="*/ 406357 w 1264748"/>
                <a:gd name="connsiteY91" fmla="*/ 1329705 h 1667527"/>
                <a:gd name="connsiteX92" fmla="*/ 442266 w 1264748"/>
                <a:gd name="connsiteY92" fmla="*/ 1343040 h 1667527"/>
                <a:gd name="connsiteX93" fmla="*/ 609906 w 1264748"/>
                <a:gd name="connsiteY93" fmla="*/ 1231121 h 1667527"/>
                <a:gd name="connsiteX94" fmla="*/ 610097 w 1264748"/>
                <a:gd name="connsiteY94" fmla="*/ 433688 h 1667527"/>
                <a:gd name="connsiteX95" fmla="*/ 439885 w 1264748"/>
                <a:gd name="connsiteY95" fmla="*/ 320245 h 1667527"/>
                <a:gd name="connsiteX96" fmla="*/ 409119 w 1264748"/>
                <a:gd name="connsiteY96" fmla="*/ 330056 h 1667527"/>
                <a:gd name="connsiteX97" fmla="*/ 352731 w 1264748"/>
                <a:gd name="connsiteY97" fmla="*/ 668765 h 1667527"/>
                <a:gd name="connsiteX98" fmla="*/ 610097 w 1264748"/>
                <a:gd name="connsiteY98" fmla="*/ 433783 h 1667527"/>
                <a:gd name="connsiteX99" fmla="*/ 914325 w 1264748"/>
                <a:gd name="connsiteY99" fmla="*/ 668289 h 1667527"/>
                <a:gd name="connsiteX100" fmla="*/ 858318 w 1264748"/>
                <a:gd name="connsiteY100" fmla="*/ 339391 h 1667527"/>
                <a:gd name="connsiteX101" fmla="*/ 823838 w 1264748"/>
                <a:gd name="connsiteY101" fmla="*/ 323198 h 1667527"/>
                <a:gd name="connsiteX102" fmla="*/ 676391 w 1264748"/>
                <a:gd name="connsiteY102" fmla="*/ 418543 h 1667527"/>
                <a:gd name="connsiteX103" fmla="*/ 673247 w 1264748"/>
                <a:gd name="connsiteY103" fmla="*/ 445880 h 1667527"/>
                <a:gd name="connsiteX104" fmla="*/ 914325 w 1264748"/>
                <a:gd name="connsiteY104" fmla="*/ 668289 h 1667527"/>
                <a:gd name="connsiteX105" fmla="*/ 656864 w 1264748"/>
                <a:gd name="connsiteY105" fmla="*/ 1232931 h 1667527"/>
                <a:gd name="connsiteX106" fmla="*/ 775260 w 1264748"/>
                <a:gd name="connsiteY106" fmla="*/ 1312179 h 1667527"/>
                <a:gd name="connsiteX107" fmla="*/ 872796 w 1264748"/>
                <a:gd name="connsiteY107" fmla="*/ 1271698 h 1667527"/>
                <a:gd name="connsiteX108" fmla="*/ 912515 w 1264748"/>
                <a:gd name="connsiteY108" fmla="*/ 996616 h 1667527"/>
                <a:gd name="connsiteX109" fmla="*/ 656864 w 1264748"/>
                <a:gd name="connsiteY109" fmla="*/ 1232931 h 1667527"/>
                <a:gd name="connsiteX110" fmla="*/ 947853 w 1264748"/>
                <a:gd name="connsiteY110" fmla="*/ 756586 h 1667527"/>
                <a:gd name="connsiteX111" fmla="*/ 947853 w 1264748"/>
                <a:gd name="connsiteY111" fmla="*/ 910986 h 1667527"/>
                <a:gd name="connsiteX112" fmla="*/ 947853 w 1264748"/>
                <a:gd name="connsiteY112" fmla="*/ 756586 h 1667527"/>
                <a:gd name="connsiteX113" fmla="*/ 316346 w 1264748"/>
                <a:gd name="connsiteY113" fmla="*/ 902985 h 1667527"/>
                <a:gd name="connsiteX114" fmla="*/ 314536 w 1264748"/>
                <a:gd name="connsiteY114" fmla="*/ 757729 h 1667527"/>
                <a:gd name="connsiteX115" fmla="*/ 316346 w 1264748"/>
                <a:gd name="connsiteY115" fmla="*/ 902985 h 166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264748" h="1667527">
                  <a:moveTo>
                    <a:pt x="1095681" y="1461245"/>
                  </a:moveTo>
                  <a:cubicBezTo>
                    <a:pt x="1025958" y="1460674"/>
                    <a:pt x="961474" y="1438481"/>
                    <a:pt x="899752" y="1409334"/>
                  </a:cubicBezTo>
                  <a:cubicBezTo>
                    <a:pt x="871177" y="1395809"/>
                    <a:pt x="862795" y="1403238"/>
                    <a:pt x="853079" y="1429622"/>
                  </a:cubicBezTo>
                  <a:cubicBezTo>
                    <a:pt x="827647" y="1498202"/>
                    <a:pt x="796406" y="1564115"/>
                    <a:pt x="742780" y="1616217"/>
                  </a:cubicBezTo>
                  <a:cubicBezTo>
                    <a:pt x="673152" y="1683844"/>
                    <a:pt x="594380" y="1684702"/>
                    <a:pt x="523705" y="1618313"/>
                  </a:cubicBezTo>
                  <a:cubicBezTo>
                    <a:pt x="473984" y="1571640"/>
                    <a:pt x="442171" y="1512585"/>
                    <a:pt x="419882" y="1449815"/>
                  </a:cubicBezTo>
                  <a:cubicBezTo>
                    <a:pt x="405309" y="1408763"/>
                    <a:pt x="393403" y="1394475"/>
                    <a:pt x="349016" y="1418478"/>
                  </a:cubicBezTo>
                  <a:cubicBezTo>
                    <a:pt x="302058" y="1443910"/>
                    <a:pt x="248813" y="1456864"/>
                    <a:pt x="194616" y="1462769"/>
                  </a:cubicBezTo>
                  <a:cubicBezTo>
                    <a:pt x="55646" y="1477724"/>
                    <a:pt x="-19315" y="1397714"/>
                    <a:pt x="4307" y="1259030"/>
                  </a:cubicBezTo>
                  <a:cubicBezTo>
                    <a:pt x="27738" y="1121203"/>
                    <a:pt x="93461" y="1001664"/>
                    <a:pt x="175090" y="892127"/>
                  </a:cubicBezTo>
                  <a:cubicBezTo>
                    <a:pt x="210523" y="844597"/>
                    <a:pt x="206808" y="816212"/>
                    <a:pt x="174233" y="771349"/>
                  </a:cubicBezTo>
                  <a:cubicBezTo>
                    <a:pt x="94889" y="661907"/>
                    <a:pt x="28881" y="544750"/>
                    <a:pt x="5450" y="408542"/>
                  </a:cubicBezTo>
                  <a:cubicBezTo>
                    <a:pt x="-19792" y="262143"/>
                    <a:pt x="64600" y="177466"/>
                    <a:pt x="210713" y="203278"/>
                  </a:cubicBezTo>
                  <a:cubicBezTo>
                    <a:pt x="265482" y="212994"/>
                    <a:pt x="318632" y="228996"/>
                    <a:pt x="368447" y="253856"/>
                  </a:cubicBezTo>
                  <a:cubicBezTo>
                    <a:pt x="391403" y="265286"/>
                    <a:pt x="401594" y="265381"/>
                    <a:pt x="411596" y="237378"/>
                  </a:cubicBezTo>
                  <a:cubicBezTo>
                    <a:pt x="434075" y="174703"/>
                    <a:pt x="463316" y="114696"/>
                    <a:pt x="508846" y="64499"/>
                  </a:cubicBezTo>
                  <a:cubicBezTo>
                    <a:pt x="587427" y="-22083"/>
                    <a:pt x="680963" y="-21512"/>
                    <a:pt x="757925" y="66309"/>
                  </a:cubicBezTo>
                  <a:cubicBezTo>
                    <a:pt x="801359" y="115839"/>
                    <a:pt x="830886" y="173751"/>
                    <a:pt x="852222" y="235473"/>
                  </a:cubicBezTo>
                  <a:cubicBezTo>
                    <a:pt x="861652" y="262810"/>
                    <a:pt x="870986" y="269763"/>
                    <a:pt x="898609" y="255856"/>
                  </a:cubicBezTo>
                  <a:cubicBezTo>
                    <a:pt x="954044" y="227948"/>
                    <a:pt x="1013480" y="211375"/>
                    <a:pt x="1075298" y="203278"/>
                  </a:cubicBezTo>
                  <a:cubicBezTo>
                    <a:pt x="1197694" y="187181"/>
                    <a:pt x="1275418" y="261667"/>
                    <a:pt x="1262369" y="384444"/>
                  </a:cubicBezTo>
                  <a:cubicBezTo>
                    <a:pt x="1246081" y="538177"/>
                    <a:pt x="1168357" y="665336"/>
                    <a:pt x="1081870" y="787256"/>
                  </a:cubicBezTo>
                  <a:cubicBezTo>
                    <a:pt x="1057581" y="821451"/>
                    <a:pt x="1056819" y="841644"/>
                    <a:pt x="1081775" y="876029"/>
                  </a:cubicBezTo>
                  <a:cubicBezTo>
                    <a:pt x="1157308" y="980042"/>
                    <a:pt x="1222649" y="1090437"/>
                    <a:pt x="1253034" y="1217596"/>
                  </a:cubicBezTo>
                  <a:cubicBezTo>
                    <a:pt x="1258559" y="1240551"/>
                    <a:pt x="1262464" y="1264268"/>
                    <a:pt x="1264083" y="1287795"/>
                  </a:cubicBezTo>
                  <a:cubicBezTo>
                    <a:pt x="1271989" y="1399142"/>
                    <a:pt x="1209124" y="1463436"/>
                    <a:pt x="1095872" y="1461245"/>
                  </a:cubicBezTo>
                  <a:close/>
                  <a:moveTo>
                    <a:pt x="920231" y="831262"/>
                  </a:moveTo>
                  <a:cubicBezTo>
                    <a:pt x="908896" y="782113"/>
                    <a:pt x="935375" y="725534"/>
                    <a:pt x="888417" y="680290"/>
                  </a:cubicBezTo>
                  <a:cubicBezTo>
                    <a:pt x="814313" y="608853"/>
                    <a:pt x="741446" y="536368"/>
                    <a:pt x="661913" y="470836"/>
                  </a:cubicBezTo>
                  <a:cubicBezTo>
                    <a:pt x="640577" y="453214"/>
                    <a:pt x="627146" y="454262"/>
                    <a:pt x="606382" y="471312"/>
                  </a:cubicBezTo>
                  <a:cubicBezTo>
                    <a:pt x="524372" y="538844"/>
                    <a:pt x="445981" y="610091"/>
                    <a:pt x="373781" y="688006"/>
                  </a:cubicBezTo>
                  <a:cubicBezTo>
                    <a:pt x="340730" y="723629"/>
                    <a:pt x="331300" y="921368"/>
                    <a:pt x="360351" y="960897"/>
                  </a:cubicBezTo>
                  <a:cubicBezTo>
                    <a:pt x="362256" y="963469"/>
                    <a:pt x="364256" y="965850"/>
                    <a:pt x="366447" y="968231"/>
                  </a:cubicBezTo>
                  <a:cubicBezTo>
                    <a:pt x="442076" y="1049384"/>
                    <a:pt x="523038" y="1124822"/>
                    <a:pt x="609049" y="1195022"/>
                  </a:cubicBezTo>
                  <a:cubicBezTo>
                    <a:pt x="629718" y="1211881"/>
                    <a:pt x="642291" y="1208738"/>
                    <a:pt x="661055" y="1193402"/>
                  </a:cubicBezTo>
                  <a:cubicBezTo>
                    <a:pt x="723730" y="1142253"/>
                    <a:pt x="780118" y="1084246"/>
                    <a:pt x="841173" y="1031668"/>
                  </a:cubicBezTo>
                  <a:cubicBezTo>
                    <a:pt x="904514" y="977089"/>
                    <a:pt x="934328" y="914796"/>
                    <a:pt x="920326" y="831262"/>
                  </a:cubicBezTo>
                  <a:close/>
                  <a:moveTo>
                    <a:pt x="230716" y="859837"/>
                  </a:moveTo>
                  <a:cubicBezTo>
                    <a:pt x="150992" y="967660"/>
                    <a:pt x="79745" y="1082055"/>
                    <a:pt x="41264" y="1214357"/>
                  </a:cubicBezTo>
                  <a:cubicBezTo>
                    <a:pt x="31929" y="1246552"/>
                    <a:pt x="29167" y="1279413"/>
                    <a:pt x="29929" y="1312846"/>
                  </a:cubicBezTo>
                  <a:cubicBezTo>
                    <a:pt x="31739" y="1391522"/>
                    <a:pt x="74601" y="1435337"/>
                    <a:pt x="154135" y="1437147"/>
                  </a:cubicBezTo>
                  <a:cubicBezTo>
                    <a:pt x="227192" y="1438766"/>
                    <a:pt x="293009" y="1412287"/>
                    <a:pt x="359208" y="1385236"/>
                  </a:cubicBezTo>
                  <a:cubicBezTo>
                    <a:pt x="386926" y="1373901"/>
                    <a:pt x="387974" y="1360090"/>
                    <a:pt x="380639" y="1335230"/>
                  </a:cubicBezTo>
                  <a:cubicBezTo>
                    <a:pt x="355112" y="1248647"/>
                    <a:pt x="335015" y="1160160"/>
                    <a:pt x="332252" y="1070149"/>
                  </a:cubicBezTo>
                  <a:cubicBezTo>
                    <a:pt x="329681" y="984043"/>
                    <a:pt x="301106" y="914415"/>
                    <a:pt x="230621" y="859741"/>
                  </a:cubicBezTo>
                  <a:close/>
                  <a:moveTo>
                    <a:pt x="30215" y="394826"/>
                  </a:moveTo>
                  <a:cubicBezTo>
                    <a:pt x="45836" y="529700"/>
                    <a:pt x="130703" y="662669"/>
                    <a:pt x="222239" y="792685"/>
                  </a:cubicBezTo>
                  <a:cubicBezTo>
                    <a:pt x="226144" y="798210"/>
                    <a:pt x="233192" y="808783"/>
                    <a:pt x="240050" y="798877"/>
                  </a:cubicBezTo>
                  <a:cubicBezTo>
                    <a:pt x="267673" y="759348"/>
                    <a:pt x="318346" y="733154"/>
                    <a:pt x="322537" y="680671"/>
                  </a:cubicBezTo>
                  <a:cubicBezTo>
                    <a:pt x="332252" y="558752"/>
                    <a:pt x="349302" y="438260"/>
                    <a:pt x="383402" y="320722"/>
                  </a:cubicBezTo>
                  <a:cubicBezTo>
                    <a:pt x="389879" y="298528"/>
                    <a:pt x="384545" y="290146"/>
                    <a:pt x="365114" y="281764"/>
                  </a:cubicBezTo>
                  <a:cubicBezTo>
                    <a:pt x="305297" y="255856"/>
                    <a:pt x="244908" y="232615"/>
                    <a:pt x="179186" y="227377"/>
                  </a:cubicBezTo>
                  <a:cubicBezTo>
                    <a:pt x="81364" y="219662"/>
                    <a:pt x="29738" y="267763"/>
                    <a:pt x="30215" y="394731"/>
                  </a:cubicBezTo>
                  <a:close/>
                  <a:moveTo>
                    <a:pt x="1100634" y="230044"/>
                  </a:moveTo>
                  <a:cubicBezTo>
                    <a:pt x="1030816" y="230044"/>
                    <a:pt x="968141" y="256714"/>
                    <a:pt x="904895" y="281860"/>
                  </a:cubicBezTo>
                  <a:cubicBezTo>
                    <a:pt x="881273" y="291194"/>
                    <a:pt x="875177" y="302339"/>
                    <a:pt x="882988" y="328246"/>
                  </a:cubicBezTo>
                  <a:cubicBezTo>
                    <a:pt x="910134" y="417781"/>
                    <a:pt x="931089" y="509793"/>
                    <a:pt x="933089" y="602852"/>
                  </a:cubicBezTo>
                  <a:cubicBezTo>
                    <a:pt x="934804" y="678862"/>
                    <a:pt x="965189" y="734488"/>
                    <a:pt x="1014147" y="786589"/>
                  </a:cubicBezTo>
                  <a:cubicBezTo>
                    <a:pt x="1031768" y="805354"/>
                    <a:pt x="1038436" y="802115"/>
                    <a:pt x="1051676" y="783446"/>
                  </a:cubicBezTo>
                  <a:cubicBezTo>
                    <a:pt x="1112445" y="698102"/>
                    <a:pt x="1166357" y="609043"/>
                    <a:pt x="1204076" y="510936"/>
                  </a:cubicBezTo>
                  <a:cubicBezTo>
                    <a:pt x="1221125" y="466454"/>
                    <a:pt x="1234270" y="420829"/>
                    <a:pt x="1236937" y="373109"/>
                  </a:cubicBezTo>
                  <a:cubicBezTo>
                    <a:pt x="1241890" y="281764"/>
                    <a:pt x="1191788" y="229853"/>
                    <a:pt x="1100634" y="230044"/>
                  </a:cubicBezTo>
                  <a:close/>
                  <a:moveTo>
                    <a:pt x="1034245" y="855836"/>
                  </a:moveTo>
                  <a:cubicBezTo>
                    <a:pt x="991001" y="911843"/>
                    <a:pt x="936518" y="952610"/>
                    <a:pt x="935947" y="1031382"/>
                  </a:cubicBezTo>
                  <a:cubicBezTo>
                    <a:pt x="935185" y="1134538"/>
                    <a:pt x="912134" y="1235789"/>
                    <a:pt x="884512" y="1335134"/>
                  </a:cubicBezTo>
                  <a:cubicBezTo>
                    <a:pt x="877559" y="1360090"/>
                    <a:pt x="879464" y="1372282"/>
                    <a:pt x="904514" y="1382093"/>
                  </a:cubicBezTo>
                  <a:cubicBezTo>
                    <a:pt x="954616" y="1401714"/>
                    <a:pt x="1004051" y="1422193"/>
                    <a:pt x="1057962" y="1430670"/>
                  </a:cubicBezTo>
                  <a:cubicBezTo>
                    <a:pt x="1191788" y="1451720"/>
                    <a:pt x="1257701" y="1383902"/>
                    <a:pt x="1231508" y="1249695"/>
                  </a:cubicBezTo>
                  <a:cubicBezTo>
                    <a:pt x="1202456" y="1101200"/>
                    <a:pt x="1121399" y="979185"/>
                    <a:pt x="1034340" y="855931"/>
                  </a:cubicBezTo>
                  <a:close/>
                  <a:moveTo>
                    <a:pt x="635624" y="1638315"/>
                  </a:moveTo>
                  <a:cubicBezTo>
                    <a:pt x="670485" y="1640411"/>
                    <a:pt x="697631" y="1620789"/>
                    <a:pt x="721730" y="1597357"/>
                  </a:cubicBezTo>
                  <a:cubicBezTo>
                    <a:pt x="777737" y="1542970"/>
                    <a:pt x="807359" y="1472961"/>
                    <a:pt x="835268" y="1401905"/>
                  </a:cubicBezTo>
                  <a:cubicBezTo>
                    <a:pt x="842602" y="1383140"/>
                    <a:pt x="831934" y="1376949"/>
                    <a:pt x="818408" y="1369424"/>
                  </a:cubicBezTo>
                  <a:cubicBezTo>
                    <a:pt x="761544" y="1337897"/>
                    <a:pt x="706490" y="1303416"/>
                    <a:pt x="654959" y="1263887"/>
                  </a:cubicBezTo>
                  <a:cubicBezTo>
                    <a:pt x="639815" y="1252267"/>
                    <a:pt x="629909" y="1251505"/>
                    <a:pt x="614288" y="1263411"/>
                  </a:cubicBezTo>
                  <a:cubicBezTo>
                    <a:pt x="561424" y="1303892"/>
                    <a:pt x="505893" y="1340564"/>
                    <a:pt x="446933" y="1371520"/>
                  </a:cubicBezTo>
                  <a:cubicBezTo>
                    <a:pt x="428836" y="1381045"/>
                    <a:pt x="425407" y="1391236"/>
                    <a:pt x="432360" y="1409239"/>
                  </a:cubicBezTo>
                  <a:cubicBezTo>
                    <a:pt x="455792" y="1470103"/>
                    <a:pt x="482366" y="1529444"/>
                    <a:pt x="525515" y="1578974"/>
                  </a:cubicBezTo>
                  <a:cubicBezTo>
                    <a:pt x="553804" y="1611455"/>
                    <a:pt x="585713" y="1640696"/>
                    <a:pt x="635624" y="1638220"/>
                  </a:cubicBezTo>
                  <a:close/>
                  <a:moveTo>
                    <a:pt x="631623" y="27447"/>
                  </a:moveTo>
                  <a:cubicBezTo>
                    <a:pt x="597905" y="27828"/>
                    <a:pt x="570568" y="43258"/>
                    <a:pt x="547136" y="65452"/>
                  </a:cubicBezTo>
                  <a:cubicBezTo>
                    <a:pt x="490558" y="118982"/>
                    <a:pt x="459983" y="188324"/>
                    <a:pt x="431789" y="259000"/>
                  </a:cubicBezTo>
                  <a:cubicBezTo>
                    <a:pt x="423502" y="279764"/>
                    <a:pt x="436361" y="286717"/>
                    <a:pt x="451029" y="294814"/>
                  </a:cubicBezTo>
                  <a:cubicBezTo>
                    <a:pt x="506369" y="325484"/>
                    <a:pt x="560186" y="358631"/>
                    <a:pt x="609620" y="398065"/>
                  </a:cubicBezTo>
                  <a:cubicBezTo>
                    <a:pt x="628194" y="412924"/>
                    <a:pt x="641815" y="410542"/>
                    <a:pt x="659055" y="397303"/>
                  </a:cubicBezTo>
                  <a:cubicBezTo>
                    <a:pt x="709252" y="358822"/>
                    <a:pt x="762782" y="325294"/>
                    <a:pt x="818122" y="294909"/>
                  </a:cubicBezTo>
                  <a:cubicBezTo>
                    <a:pt x="831934" y="287384"/>
                    <a:pt x="840983" y="281002"/>
                    <a:pt x="833648" y="262238"/>
                  </a:cubicBezTo>
                  <a:cubicBezTo>
                    <a:pt x="805835" y="191372"/>
                    <a:pt x="775736" y="122030"/>
                    <a:pt x="719348" y="68023"/>
                  </a:cubicBezTo>
                  <a:cubicBezTo>
                    <a:pt x="694774" y="44497"/>
                    <a:pt x="666866" y="27542"/>
                    <a:pt x="631433" y="27447"/>
                  </a:cubicBezTo>
                  <a:close/>
                  <a:moveTo>
                    <a:pt x="609906" y="1231216"/>
                  </a:moveTo>
                  <a:cubicBezTo>
                    <a:pt x="519228" y="1160541"/>
                    <a:pt x="438932" y="1082055"/>
                    <a:pt x="352160" y="996235"/>
                  </a:cubicBezTo>
                  <a:cubicBezTo>
                    <a:pt x="359113" y="1117298"/>
                    <a:pt x="378830" y="1224073"/>
                    <a:pt x="406357" y="1329705"/>
                  </a:cubicBezTo>
                  <a:cubicBezTo>
                    <a:pt x="413024" y="1355137"/>
                    <a:pt x="423407" y="1354184"/>
                    <a:pt x="442266" y="1343040"/>
                  </a:cubicBezTo>
                  <a:cubicBezTo>
                    <a:pt x="499130" y="1309607"/>
                    <a:pt x="554947" y="1274746"/>
                    <a:pt x="609906" y="1231121"/>
                  </a:cubicBezTo>
                  <a:close/>
                  <a:moveTo>
                    <a:pt x="610097" y="433688"/>
                  </a:moveTo>
                  <a:cubicBezTo>
                    <a:pt x="554185" y="387873"/>
                    <a:pt x="497511" y="353297"/>
                    <a:pt x="439885" y="320245"/>
                  </a:cubicBezTo>
                  <a:cubicBezTo>
                    <a:pt x="426169" y="312435"/>
                    <a:pt x="415596" y="307387"/>
                    <a:pt x="409119" y="330056"/>
                  </a:cubicBezTo>
                  <a:cubicBezTo>
                    <a:pt x="378925" y="436260"/>
                    <a:pt x="359875" y="543988"/>
                    <a:pt x="352731" y="668765"/>
                  </a:cubicBezTo>
                  <a:cubicBezTo>
                    <a:pt x="439409" y="580087"/>
                    <a:pt x="519228" y="504078"/>
                    <a:pt x="610097" y="433783"/>
                  </a:cubicBezTo>
                  <a:close/>
                  <a:moveTo>
                    <a:pt x="914325" y="668289"/>
                  </a:moveTo>
                  <a:cubicBezTo>
                    <a:pt x="902895" y="549512"/>
                    <a:pt x="887750" y="443404"/>
                    <a:pt x="858318" y="339391"/>
                  </a:cubicBezTo>
                  <a:cubicBezTo>
                    <a:pt x="851936" y="317007"/>
                    <a:pt x="845650" y="308815"/>
                    <a:pt x="823838" y="323198"/>
                  </a:cubicBezTo>
                  <a:cubicBezTo>
                    <a:pt x="774974" y="355488"/>
                    <a:pt x="725635" y="387016"/>
                    <a:pt x="676391" y="418543"/>
                  </a:cubicBezTo>
                  <a:cubicBezTo>
                    <a:pt x="663532" y="426735"/>
                    <a:pt x="657531" y="433498"/>
                    <a:pt x="673247" y="445880"/>
                  </a:cubicBezTo>
                  <a:cubicBezTo>
                    <a:pt x="756401" y="511412"/>
                    <a:pt x="833458" y="583898"/>
                    <a:pt x="914325" y="668289"/>
                  </a:cubicBezTo>
                  <a:close/>
                  <a:moveTo>
                    <a:pt x="656864" y="1232931"/>
                  </a:moveTo>
                  <a:cubicBezTo>
                    <a:pt x="699346" y="1261506"/>
                    <a:pt x="736684" y="1287795"/>
                    <a:pt x="775260" y="1312179"/>
                  </a:cubicBezTo>
                  <a:cubicBezTo>
                    <a:pt x="851270" y="1360185"/>
                    <a:pt x="852413" y="1359994"/>
                    <a:pt x="872796" y="1271698"/>
                  </a:cubicBezTo>
                  <a:cubicBezTo>
                    <a:pt x="892989" y="1184258"/>
                    <a:pt x="907086" y="1095961"/>
                    <a:pt x="912515" y="996616"/>
                  </a:cubicBezTo>
                  <a:cubicBezTo>
                    <a:pt x="830219" y="1085389"/>
                    <a:pt x="747542" y="1158065"/>
                    <a:pt x="656864" y="1232931"/>
                  </a:cubicBezTo>
                  <a:close/>
                  <a:moveTo>
                    <a:pt x="947853" y="756586"/>
                  </a:moveTo>
                  <a:lnTo>
                    <a:pt x="947853" y="910986"/>
                  </a:lnTo>
                  <a:cubicBezTo>
                    <a:pt x="1031197" y="822594"/>
                    <a:pt x="1029387" y="837358"/>
                    <a:pt x="947853" y="756586"/>
                  </a:cubicBezTo>
                  <a:close/>
                  <a:moveTo>
                    <a:pt x="316346" y="902985"/>
                  </a:moveTo>
                  <a:cubicBezTo>
                    <a:pt x="319298" y="854027"/>
                    <a:pt x="321870" y="807926"/>
                    <a:pt x="314536" y="757729"/>
                  </a:cubicBezTo>
                  <a:cubicBezTo>
                    <a:pt x="240527" y="836215"/>
                    <a:pt x="240527" y="837929"/>
                    <a:pt x="316346" y="902985"/>
                  </a:cubicBezTo>
                  <a:close/>
                </a:path>
              </a:pathLst>
            </a:custGeom>
            <a:solidFill>
              <a:schemeClr val="tx1"/>
            </a:solidFill>
            <a:ln w="0" cap="flat">
              <a:solidFill>
                <a:schemeClr val="tx1"/>
              </a:solid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8" name="Freeform: Shape 7">
              <a:extLst>
                <a:ext uri="{FF2B5EF4-FFF2-40B4-BE49-F238E27FC236}">
                  <a16:creationId xmlns:a16="http://schemas.microsoft.com/office/drawing/2014/main" id="{CD43B86D-805F-CE38-324B-C1C33AB255B1}"/>
                </a:ext>
              </a:extLst>
            </p:cNvPr>
            <p:cNvSpPr/>
            <p:nvPr/>
          </p:nvSpPr>
          <p:spPr>
            <a:xfrm>
              <a:off x="5809310" y="3048088"/>
              <a:ext cx="580696" cy="748284"/>
            </a:xfrm>
            <a:custGeom>
              <a:avLst/>
              <a:gdLst>
                <a:gd name="connsiteX0" fmla="*/ 577298 w 580696"/>
                <a:gd name="connsiteY0" fmla="*/ 373196 h 748284"/>
                <a:gd name="connsiteX1" fmla="*/ 498145 w 580696"/>
                <a:gd name="connsiteY1" fmla="*/ 573602 h 748284"/>
                <a:gd name="connsiteX2" fmla="*/ 318027 w 580696"/>
                <a:gd name="connsiteY2" fmla="*/ 735336 h 748284"/>
                <a:gd name="connsiteX3" fmla="*/ 266021 w 580696"/>
                <a:gd name="connsiteY3" fmla="*/ 736956 h 748284"/>
                <a:gd name="connsiteX4" fmla="*/ 23419 w 580696"/>
                <a:gd name="connsiteY4" fmla="*/ 510165 h 748284"/>
                <a:gd name="connsiteX5" fmla="*/ 17323 w 580696"/>
                <a:gd name="connsiteY5" fmla="*/ 502831 h 748284"/>
                <a:gd name="connsiteX6" fmla="*/ 30753 w 580696"/>
                <a:gd name="connsiteY6" fmla="*/ 229940 h 748284"/>
                <a:gd name="connsiteX7" fmla="*/ 263354 w 580696"/>
                <a:gd name="connsiteY7" fmla="*/ 13246 h 748284"/>
                <a:gd name="connsiteX8" fmla="*/ 318884 w 580696"/>
                <a:gd name="connsiteY8" fmla="*/ 12770 h 748284"/>
                <a:gd name="connsiteX9" fmla="*/ 545389 w 580696"/>
                <a:gd name="connsiteY9" fmla="*/ 222224 h 748284"/>
                <a:gd name="connsiteX10" fmla="*/ 577202 w 580696"/>
                <a:gd name="connsiteY10" fmla="*/ 373196 h 748284"/>
                <a:gd name="connsiteX11" fmla="*/ 363461 w 580696"/>
                <a:gd name="connsiteY11" fmla="*/ 374339 h 748284"/>
                <a:gd name="connsiteX12" fmla="*/ 283261 w 580696"/>
                <a:gd name="connsiteY12" fmla="*/ 298901 h 748284"/>
                <a:gd name="connsiteX13" fmla="*/ 209347 w 580696"/>
                <a:gd name="connsiteY13" fmla="*/ 374434 h 748284"/>
                <a:gd name="connsiteX14" fmla="*/ 285737 w 580696"/>
                <a:gd name="connsiteY14" fmla="*/ 452825 h 748284"/>
                <a:gd name="connsiteX15" fmla="*/ 363461 w 580696"/>
                <a:gd name="connsiteY15" fmla="*/ 374434 h 74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0696" h="748284">
                  <a:moveTo>
                    <a:pt x="577298" y="373196"/>
                  </a:moveTo>
                  <a:cubicBezTo>
                    <a:pt x="591299" y="456730"/>
                    <a:pt x="561486" y="519024"/>
                    <a:pt x="498145" y="573602"/>
                  </a:cubicBezTo>
                  <a:cubicBezTo>
                    <a:pt x="437090" y="626180"/>
                    <a:pt x="380702" y="684187"/>
                    <a:pt x="318027" y="735336"/>
                  </a:cubicBezTo>
                  <a:cubicBezTo>
                    <a:pt x="299263" y="750672"/>
                    <a:pt x="286690" y="753815"/>
                    <a:pt x="266021" y="736956"/>
                  </a:cubicBezTo>
                  <a:cubicBezTo>
                    <a:pt x="180010" y="666756"/>
                    <a:pt x="99047" y="591318"/>
                    <a:pt x="23419" y="510165"/>
                  </a:cubicBezTo>
                  <a:cubicBezTo>
                    <a:pt x="21228" y="507879"/>
                    <a:pt x="19228" y="505403"/>
                    <a:pt x="17323" y="502831"/>
                  </a:cubicBezTo>
                  <a:cubicBezTo>
                    <a:pt x="-11728" y="463398"/>
                    <a:pt x="-2203" y="265563"/>
                    <a:pt x="30753" y="229940"/>
                  </a:cubicBezTo>
                  <a:cubicBezTo>
                    <a:pt x="103048" y="152025"/>
                    <a:pt x="181343" y="80778"/>
                    <a:pt x="263354" y="13246"/>
                  </a:cubicBezTo>
                  <a:cubicBezTo>
                    <a:pt x="284118" y="-3804"/>
                    <a:pt x="297548" y="-4851"/>
                    <a:pt x="318884" y="12770"/>
                  </a:cubicBezTo>
                  <a:cubicBezTo>
                    <a:pt x="398513" y="78302"/>
                    <a:pt x="471380" y="150787"/>
                    <a:pt x="545389" y="222224"/>
                  </a:cubicBezTo>
                  <a:cubicBezTo>
                    <a:pt x="592347" y="267468"/>
                    <a:pt x="565772" y="324047"/>
                    <a:pt x="577202" y="373196"/>
                  </a:cubicBezTo>
                  <a:close/>
                  <a:moveTo>
                    <a:pt x="363461" y="374339"/>
                  </a:moveTo>
                  <a:cubicBezTo>
                    <a:pt x="362985" y="331381"/>
                    <a:pt x="327362" y="297948"/>
                    <a:pt x="283261" y="298901"/>
                  </a:cubicBezTo>
                  <a:cubicBezTo>
                    <a:pt x="240398" y="299853"/>
                    <a:pt x="209823" y="331095"/>
                    <a:pt x="209347" y="374434"/>
                  </a:cubicBezTo>
                  <a:cubicBezTo>
                    <a:pt x="208871" y="419106"/>
                    <a:pt x="241827" y="452920"/>
                    <a:pt x="285737" y="452825"/>
                  </a:cubicBezTo>
                  <a:cubicBezTo>
                    <a:pt x="329076" y="452729"/>
                    <a:pt x="363938" y="417487"/>
                    <a:pt x="363461" y="374434"/>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9" name="Freeform: Shape 8">
              <a:extLst>
                <a:ext uri="{FF2B5EF4-FFF2-40B4-BE49-F238E27FC236}">
                  <a16:creationId xmlns:a16="http://schemas.microsoft.com/office/drawing/2014/main" id="{F1F57358-50BB-7010-6FF5-13E31DCCE667}"/>
                </a:ext>
              </a:extLst>
            </p:cNvPr>
            <p:cNvSpPr/>
            <p:nvPr/>
          </p:nvSpPr>
          <p:spPr>
            <a:xfrm>
              <a:off x="5496281" y="3449859"/>
              <a:ext cx="354697" cy="577475"/>
            </a:xfrm>
            <a:custGeom>
              <a:avLst/>
              <a:gdLst>
                <a:gd name="connsiteX0" fmla="*/ 200812 w 354697"/>
                <a:gd name="connsiteY0" fmla="*/ 0 h 577475"/>
                <a:gd name="connsiteX1" fmla="*/ 302443 w 354697"/>
                <a:gd name="connsiteY1" fmla="*/ 210407 h 577475"/>
                <a:gd name="connsiteX2" fmla="*/ 350830 w 354697"/>
                <a:gd name="connsiteY2" fmla="*/ 475488 h 577475"/>
                <a:gd name="connsiteX3" fmla="*/ 329399 w 354697"/>
                <a:gd name="connsiteY3" fmla="*/ 525494 h 577475"/>
                <a:gd name="connsiteX4" fmla="*/ 124326 w 354697"/>
                <a:gd name="connsiteY4" fmla="*/ 577405 h 577475"/>
                <a:gd name="connsiteX5" fmla="*/ 120 w 354697"/>
                <a:gd name="connsiteY5" fmla="*/ 453104 h 577475"/>
                <a:gd name="connsiteX6" fmla="*/ 11455 w 354697"/>
                <a:gd name="connsiteY6" fmla="*/ 354616 h 577475"/>
                <a:gd name="connsiteX7" fmla="*/ 200907 w 354697"/>
                <a:gd name="connsiteY7" fmla="*/ 95 h 577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4697" h="577475">
                  <a:moveTo>
                    <a:pt x="200812" y="0"/>
                  </a:moveTo>
                  <a:cubicBezTo>
                    <a:pt x="271201" y="54673"/>
                    <a:pt x="299872" y="124301"/>
                    <a:pt x="302443" y="210407"/>
                  </a:cubicBezTo>
                  <a:cubicBezTo>
                    <a:pt x="305110" y="300418"/>
                    <a:pt x="325303" y="388906"/>
                    <a:pt x="350830" y="475488"/>
                  </a:cubicBezTo>
                  <a:cubicBezTo>
                    <a:pt x="358165" y="500348"/>
                    <a:pt x="357117" y="514159"/>
                    <a:pt x="329399" y="525494"/>
                  </a:cubicBezTo>
                  <a:cubicBezTo>
                    <a:pt x="263200" y="552450"/>
                    <a:pt x="197383" y="579025"/>
                    <a:pt x="124326" y="577405"/>
                  </a:cubicBezTo>
                  <a:cubicBezTo>
                    <a:pt x="44792" y="575596"/>
                    <a:pt x="1930" y="531781"/>
                    <a:pt x="120" y="453104"/>
                  </a:cubicBezTo>
                  <a:cubicBezTo>
                    <a:pt x="-642" y="419671"/>
                    <a:pt x="2120" y="386810"/>
                    <a:pt x="11455" y="354616"/>
                  </a:cubicBezTo>
                  <a:cubicBezTo>
                    <a:pt x="49840" y="222313"/>
                    <a:pt x="121183" y="107918"/>
                    <a:pt x="200907" y="95"/>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10" name="Freeform: Shape 9">
              <a:extLst>
                <a:ext uri="{FF2B5EF4-FFF2-40B4-BE49-F238E27FC236}">
                  <a16:creationId xmlns:a16="http://schemas.microsoft.com/office/drawing/2014/main" id="{F1223EF2-D110-7FD3-7145-C9B8A7F2AE9B}"/>
                </a:ext>
              </a:extLst>
            </p:cNvPr>
            <p:cNvSpPr/>
            <p:nvPr/>
          </p:nvSpPr>
          <p:spPr>
            <a:xfrm>
              <a:off x="5496683" y="2816701"/>
              <a:ext cx="355767" cy="576309"/>
            </a:xfrm>
            <a:custGeom>
              <a:avLst/>
              <a:gdLst>
                <a:gd name="connsiteX0" fmla="*/ 3 w 355767"/>
                <a:gd name="connsiteY0" fmla="*/ 168148 h 576309"/>
                <a:gd name="connsiteX1" fmla="*/ 148974 w 355767"/>
                <a:gd name="connsiteY1" fmla="*/ 794 h 576309"/>
                <a:gd name="connsiteX2" fmla="*/ 334902 w 355767"/>
                <a:gd name="connsiteY2" fmla="*/ 55181 h 576309"/>
                <a:gd name="connsiteX3" fmla="*/ 353190 w 355767"/>
                <a:gd name="connsiteY3" fmla="*/ 94139 h 576309"/>
                <a:gd name="connsiteX4" fmla="*/ 292325 w 355767"/>
                <a:gd name="connsiteY4" fmla="*/ 454088 h 576309"/>
                <a:gd name="connsiteX5" fmla="*/ 209839 w 355767"/>
                <a:gd name="connsiteY5" fmla="*/ 572294 h 576309"/>
                <a:gd name="connsiteX6" fmla="*/ 192027 w 355767"/>
                <a:gd name="connsiteY6" fmla="*/ 566102 h 576309"/>
                <a:gd name="connsiteX7" fmla="*/ 3 w 355767"/>
                <a:gd name="connsiteY7" fmla="*/ 168243 h 576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5767" h="576309">
                  <a:moveTo>
                    <a:pt x="3" y="168148"/>
                  </a:moveTo>
                  <a:cubicBezTo>
                    <a:pt x="-473" y="41084"/>
                    <a:pt x="51152" y="-6922"/>
                    <a:pt x="148974" y="794"/>
                  </a:cubicBezTo>
                  <a:cubicBezTo>
                    <a:pt x="214697" y="5937"/>
                    <a:pt x="275085" y="29178"/>
                    <a:pt x="334902" y="55181"/>
                  </a:cubicBezTo>
                  <a:cubicBezTo>
                    <a:pt x="354333" y="63563"/>
                    <a:pt x="359572" y="71945"/>
                    <a:pt x="353190" y="94139"/>
                  </a:cubicBezTo>
                  <a:cubicBezTo>
                    <a:pt x="319091" y="211677"/>
                    <a:pt x="302041" y="332073"/>
                    <a:pt x="292325" y="454088"/>
                  </a:cubicBezTo>
                  <a:cubicBezTo>
                    <a:pt x="288135" y="506571"/>
                    <a:pt x="237462" y="532765"/>
                    <a:pt x="209839" y="572294"/>
                  </a:cubicBezTo>
                  <a:cubicBezTo>
                    <a:pt x="202981" y="582104"/>
                    <a:pt x="195837" y="571532"/>
                    <a:pt x="192027" y="566102"/>
                  </a:cubicBezTo>
                  <a:cubicBezTo>
                    <a:pt x="100492" y="436181"/>
                    <a:pt x="15624" y="303117"/>
                    <a:pt x="3" y="168243"/>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11" name="Freeform: Shape 10">
              <a:extLst>
                <a:ext uri="{FF2B5EF4-FFF2-40B4-BE49-F238E27FC236}">
                  <a16:creationId xmlns:a16="http://schemas.microsoft.com/office/drawing/2014/main" id="{7502BDA1-48D9-CCC8-A5ED-60F6774325EF}"/>
                </a:ext>
              </a:extLst>
            </p:cNvPr>
            <p:cNvSpPr/>
            <p:nvPr/>
          </p:nvSpPr>
          <p:spPr>
            <a:xfrm>
              <a:off x="6346205" y="2820066"/>
              <a:ext cx="357539" cy="569113"/>
            </a:xfrm>
            <a:custGeom>
              <a:avLst/>
              <a:gdLst>
                <a:gd name="connsiteX0" fmla="*/ 220901 w 357539"/>
                <a:gd name="connsiteY0" fmla="*/ 1 h 569113"/>
                <a:gd name="connsiteX1" fmla="*/ 357204 w 357539"/>
                <a:gd name="connsiteY1" fmla="*/ 143066 h 569113"/>
                <a:gd name="connsiteX2" fmla="*/ 324343 w 357539"/>
                <a:gd name="connsiteY2" fmla="*/ 280893 h 569113"/>
                <a:gd name="connsiteX3" fmla="*/ 171943 w 357539"/>
                <a:gd name="connsiteY3" fmla="*/ 553403 h 569113"/>
                <a:gd name="connsiteX4" fmla="*/ 134414 w 357539"/>
                <a:gd name="connsiteY4" fmla="*/ 556546 h 569113"/>
                <a:gd name="connsiteX5" fmla="*/ 53357 w 357539"/>
                <a:gd name="connsiteY5" fmla="*/ 372809 h 569113"/>
                <a:gd name="connsiteX6" fmla="*/ 3255 w 357539"/>
                <a:gd name="connsiteY6" fmla="*/ 98203 h 569113"/>
                <a:gd name="connsiteX7" fmla="*/ 25163 w 357539"/>
                <a:gd name="connsiteY7" fmla="*/ 51817 h 569113"/>
                <a:gd name="connsiteX8" fmla="*/ 220901 w 357539"/>
                <a:gd name="connsiteY8" fmla="*/ 1 h 569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7539" h="569113">
                  <a:moveTo>
                    <a:pt x="220901" y="1"/>
                  </a:moveTo>
                  <a:cubicBezTo>
                    <a:pt x="312056" y="-190"/>
                    <a:pt x="362157" y="51721"/>
                    <a:pt x="357204" y="143066"/>
                  </a:cubicBezTo>
                  <a:cubicBezTo>
                    <a:pt x="354632" y="190786"/>
                    <a:pt x="341488" y="236411"/>
                    <a:pt x="324343" y="280893"/>
                  </a:cubicBezTo>
                  <a:cubicBezTo>
                    <a:pt x="286624" y="379000"/>
                    <a:pt x="232808" y="468059"/>
                    <a:pt x="171943" y="553403"/>
                  </a:cubicBezTo>
                  <a:cubicBezTo>
                    <a:pt x="158703" y="572072"/>
                    <a:pt x="151940" y="575311"/>
                    <a:pt x="134414" y="556546"/>
                  </a:cubicBezTo>
                  <a:cubicBezTo>
                    <a:pt x="85456" y="504349"/>
                    <a:pt x="54976" y="448723"/>
                    <a:pt x="53357" y="372809"/>
                  </a:cubicBezTo>
                  <a:cubicBezTo>
                    <a:pt x="51261" y="279750"/>
                    <a:pt x="30401" y="187643"/>
                    <a:pt x="3255" y="98203"/>
                  </a:cubicBezTo>
                  <a:cubicBezTo>
                    <a:pt x="-4651" y="72295"/>
                    <a:pt x="1541" y="61246"/>
                    <a:pt x="25163" y="51817"/>
                  </a:cubicBezTo>
                  <a:cubicBezTo>
                    <a:pt x="88409" y="26671"/>
                    <a:pt x="151083" y="1"/>
                    <a:pt x="220901" y="1"/>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12" name="Freeform: Shape 11">
              <a:extLst>
                <a:ext uri="{FF2B5EF4-FFF2-40B4-BE49-F238E27FC236}">
                  <a16:creationId xmlns:a16="http://schemas.microsoft.com/office/drawing/2014/main" id="{270ECC3E-96DA-F462-4206-0AC511192EC8}"/>
                </a:ext>
              </a:extLst>
            </p:cNvPr>
            <p:cNvSpPr/>
            <p:nvPr/>
          </p:nvSpPr>
          <p:spPr>
            <a:xfrm>
              <a:off x="6347306" y="3445763"/>
              <a:ext cx="356177" cy="578611"/>
            </a:xfrm>
            <a:custGeom>
              <a:avLst/>
              <a:gdLst>
                <a:gd name="connsiteX0" fmla="*/ 153316 w 356177"/>
                <a:gd name="connsiteY0" fmla="*/ 95 h 578611"/>
                <a:gd name="connsiteX1" fmla="*/ 350483 w 356177"/>
                <a:gd name="connsiteY1" fmla="*/ 393859 h 578611"/>
                <a:gd name="connsiteX2" fmla="*/ 176938 w 356177"/>
                <a:gd name="connsiteY2" fmla="*/ 574834 h 578611"/>
                <a:gd name="connsiteX3" fmla="*/ 23490 w 356177"/>
                <a:gd name="connsiteY3" fmla="*/ 526256 h 578611"/>
                <a:gd name="connsiteX4" fmla="*/ 3487 w 356177"/>
                <a:gd name="connsiteY4" fmla="*/ 479298 h 578611"/>
                <a:gd name="connsiteX5" fmla="*/ 54922 w 356177"/>
                <a:gd name="connsiteY5" fmla="*/ 175546 h 578611"/>
                <a:gd name="connsiteX6" fmla="*/ 153220 w 356177"/>
                <a:gd name="connsiteY6" fmla="*/ 0 h 578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177" h="578611">
                  <a:moveTo>
                    <a:pt x="153316" y="95"/>
                  </a:moveTo>
                  <a:cubicBezTo>
                    <a:pt x="240374" y="123349"/>
                    <a:pt x="321432" y="245459"/>
                    <a:pt x="350483" y="393859"/>
                  </a:cubicBezTo>
                  <a:cubicBezTo>
                    <a:pt x="376772" y="528066"/>
                    <a:pt x="310859" y="595884"/>
                    <a:pt x="176938" y="574834"/>
                  </a:cubicBezTo>
                  <a:cubicBezTo>
                    <a:pt x="123026" y="566357"/>
                    <a:pt x="73591" y="545973"/>
                    <a:pt x="23490" y="526256"/>
                  </a:cubicBezTo>
                  <a:cubicBezTo>
                    <a:pt x="-1561" y="516446"/>
                    <a:pt x="-3466" y="504158"/>
                    <a:pt x="3487" y="479298"/>
                  </a:cubicBezTo>
                  <a:cubicBezTo>
                    <a:pt x="31110" y="379952"/>
                    <a:pt x="54161" y="278702"/>
                    <a:pt x="54922" y="175546"/>
                  </a:cubicBezTo>
                  <a:cubicBezTo>
                    <a:pt x="55494" y="96774"/>
                    <a:pt x="109977" y="56007"/>
                    <a:pt x="153220" y="0"/>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13" name="Freeform: Shape 12">
              <a:extLst>
                <a:ext uri="{FF2B5EF4-FFF2-40B4-BE49-F238E27FC236}">
                  <a16:creationId xmlns:a16="http://schemas.microsoft.com/office/drawing/2014/main" id="{49BB7A8F-D19B-9F3C-FFB1-BC174513F437}"/>
                </a:ext>
              </a:extLst>
            </p:cNvPr>
            <p:cNvSpPr/>
            <p:nvPr/>
          </p:nvSpPr>
          <p:spPr>
            <a:xfrm>
              <a:off x="5895390" y="3844938"/>
              <a:ext cx="408642" cy="383635"/>
            </a:xfrm>
            <a:custGeom>
              <a:avLst/>
              <a:gdLst>
                <a:gd name="connsiteX0" fmla="*/ 206610 w 408642"/>
                <a:gd name="connsiteY0" fmla="*/ 383399 h 383635"/>
                <a:gd name="connsiteX1" fmla="*/ 96501 w 408642"/>
                <a:gd name="connsiteY1" fmla="*/ 324154 h 383635"/>
                <a:gd name="connsiteX2" fmla="*/ 3346 w 408642"/>
                <a:gd name="connsiteY2" fmla="*/ 154418 h 383635"/>
                <a:gd name="connsiteX3" fmla="*/ 17920 w 408642"/>
                <a:gd name="connsiteY3" fmla="*/ 116699 h 383635"/>
                <a:gd name="connsiteX4" fmla="*/ 185274 w 408642"/>
                <a:gd name="connsiteY4" fmla="*/ 8591 h 383635"/>
                <a:gd name="connsiteX5" fmla="*/ 225946 w 408642"/>
                <a:gd name="connsiteY5" fmla="*/ 9067 h 383635"/>
                <a:gd name="connsiteX6" fmla="*/ 389395 w 408642"/>
                <a:gd name="connsiteY6" fmla="*/ 114604 h 383635"/>
                <a:gd name="connsiteX7" fmla="*/ 406254 w 408642"/>
                <a:gd name="connsiteY7" fmla="*/ 147084 h 383635"/>
                <a:gd name="connsiteX8" fmla="*/ 292716 w 408642"/>
                <a:gd name="connsiteY8" fmla="*/ 342537 h 383635"/>
                <a:gd name="connsiteX9" fmla="*/ 206610 w 408642"/>
                <a:gd name="connsiteY9" fmla="*/ 383494 h 38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8642" h="383635">
                  <a:moveTo>
                    <a:pt x="206610" y="383399"/>
                  </a:moveTo>
                  <a:cubicBezTo>
                    <a:pt x="156604" y="385876"/>
                    <a:pt x="124695" y="356539"/>
                    <a:pt x="96501" y="324154"/>
                  </a:cubicBezTo>
                  <a:cubicBezTo>
                    <a:pt x="53257" y="274624"/>
                    <a:pt x="26778" y="215188"/>
                    <a:pt x="3346" y="154418"/>
                  </a:cubicBezTo>
                  <a:cubicBezTo>
                    <a:pt x="-3607" y="136416"/>
                    <a:pt x="-178" y="126224"/>
                    <a:pt x="17920" y="116699"/>
                  </a:cubicBezTo>
                  <a:cubicBezTo>
                    <a:pt x="76879" y="85743"/>
                    <a:pt x="132410" y="49072"/>
                    <a:pt x="185274" y="8591"/>
                  </a:cubicBezTo>
                  <a:cubicBezTo>
                    <a:pt x="200895" y="-3316"/>
                    <a:pt x="210801" y="-2554"/>
                    <a:pt x="225946" y="9067"/>
                  </a:cubicBezTo>
                  <a:cubicBezTo>
                    <a:pt x="277476" y="48691"/>
                    <a:pt x="332530" y="83076"/>
                    <a:pt x="389395" y="114604"/>
                  </a:cubicBezTo>
                  <a:cubicBezTo>
                    <a:pt x="402920" y="122129"/>
                    <a:pt x="413588" y="128320"/>
                    <a:pt x="406254" y="147084"/>
                  </a:cubicBezTo>
                  <a:cubicBezTo>
                    <a:pt x="378346" y="218141"/>
                    <a:pt x="348723" y="288149"/>
                    <a:pt x="292716" y="342537"/>
                  </a:cubicBezTo>
                  <a:cubicBezTo>
                    <a:pt x="268618" y="365968"/>
                    <a:pt x="241471" y="385495"/>
                    <a:pt x="206610" y="383494"/>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14" name="Freeform: Shape 13">
              <a:extLst>
                <a:ext uri="{FF2B5EF4-FFF2-40B4-BE49-F238E27FC236}">
                  <a16:creationId xmlns:a16="http://schemas.microsoft.com/office/drawing/2014/main" id="{DD8B2149-EE7D-1440-BFDC-571D0DC30C25}"/>
                </a:ext>
              </a:extLst>
            </p:cNvPr>
            <p:cNvSpPr/>
            <p:nvPr/>
          </p:nvSpPr>
          <p:spPr>
            <a:xfrm>
              <a:off x="5895751" y="2617469"/>
              <a:ext cx="407076" cy="380806"/>
            </a:xfrm>
            <a:custGeom>
              <a:avLst/>
              <a:gdLst>
                <a:gd name="connsiteX0" fmla="*/ 202249 w 407076"/>
                <a:gd name="connsiteY0" fmla="*/ 0 h 380806"/>
                <a:gd name="connsiteX1" fmla="*/ 290165 w 407076"/>
                <a:gd name="connsiteY1" fmla="*/ 40577 h 380806"/>
                <a:gd name="connsiteX2" fmla="*/ 404465 w 407076"/>
                <a:gd name="connsiteY2" fmla="*/ 234791 h 380806"/>
                <a:gd name="connsiteX3" fmla="*/ 388939 w 407076"/>
                <a:gd name="connsiteY3" fmla="*/ 267462 h 380806"/>
                <a:gd name="connsiteX4" fmla="*/ 229872 w 407076"/>
                <a:gd name="connsiteY4" fmla="*/ 369856 h 380806"/>
                <a:gd name="connsiteX5" fmla="*/ 180437 w 407076"/>
                <a:gd name="connsiteY5" fmla="*/ 370618 h 380806"/>
                <a:gd name="connsiteX6" fmla="*/ 21846 w 407076"/>
                <a:gd name="connsiteY6" fmla="*/ 267367 h 380806"/>
                <a:gd name="connsiteX7" fmla="*/ 2605 w 407076"/>
                <a:gd name="connsiteY7" fmla="*/ 231553 h 380806"/>
                <a:gd name="connsiteX8" fmla="*/ 117953 w 407076"/>
                <a:gd name="connsiteY8" fmla="*/ 38005 h 380806"/>
                <a:gd name="connsiteX9" fmla="*/ 202440 w 407076"/>
                <a:gd name="connsiteY9" fmla="*/ 0 h 380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76" h="380806">
                  <a:moveTo>
                    <a:pt x="202249" y="0"/>
                  </a:moveTo>
                  <a:cubicBezTo>
                    <a:pt x="237682" y="95"/>
                    <a:pt x="265495" y="17050"/>
                    <a:pt x="290165" y="40577"/>
                  </a:cubicBezTo>
                  <a:cubicBezTo>
                    <a:pt x="346553" y="94488"/>
                    <a:pt x="376652" y="163830"/>
                    <a:pt x="404465" y="234791"/>
                  </a:cubicBezTo>
                  <a:cubicBezTo>
                    <a:pt x="411799" y="253460"/>
                    <a:pt x="402750" y="259842"/>
                    <a:pt x="388939" y="267462"/>
                  </a:cubicBezTo>
                  <a:cubicBezTo>
                    <a:pt x="333504" y="297847"/>
                    <a:pt x="279973" y="331375"/>
                    <a:pt x="229872" y="369856"/>
                  </a:cubicBezTo>
                  <a:cubicBezTo>
                    <a:pt x="212536" y="383095"/>
                    <a:pt x="199011" y="385477"/>
                    <a:pt x="180437" y="370618"/>
                  </a:cubicBezTo>
                  <a:cubicBezTo>
                    <a:pt x="131002" y="331184"/>
                    <a:pt x="77091" y="298037"/>
                    <a:pt x="21846" y="267367"/>
                  </a:cubicBezTo>
                  <a:cubicBezTo>
                    <a:pt x="7177" y="259270"/>
                    <a:pt x="-5682" y="252317"/>
                    <a:pt x="2605" y="231553"/>
                  </a:cubicBezTo>
                  <a:cubicBezTo>
                    <a:pt x="30704" y="160877"/>
                    <a:pt x="61279" y="91535"/>
                    <a:pt x="117953" y="38005"/>
                  </a:cubicBezTo>
                  <a:cubicBezTo>
                    <a:pt x="141384" y="15811"/>
                    <a:pt x="168816" y="381"/>
                    <a:pt x="202440" y="0"/>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15" name="Freeform: Shape 14">
              <a:extLst>
                <a:ext uri="{FF2B5EF4-FFF2-40B4-BE49-F238E27FC236}">
                  <a16:creationId xmlns:a16="http://schemas.microsoft.com/office/drawing/2014/main" id="{AE1F4257-1AE9-67C7-EF8F-A13B144DB3BA}"/>
                </a:ext>
              </a:extLst>
            </p:cNvPr>
            <p:cNvSpPr/>
            <p:nvPr/>
          </p:nvSpPr>
          <p:spPr>
            <a:xfrm>
              <a:off x="5818536" y="3586257"/>
              <a:ext cx="257746" cy="354216"/>
            </a:xfrm>
            <a:custGeom>
              <a:avLst/>
              <a:gdLst>
                <a:gd name="connsiteX0" fmla="*/ 257746 w 257746"/>
                <a:gd name="connsiteY0" fmla="*/ 234887 h 354216"/>
                <a:gd name="connsiteX1" fmla="*/ 90106 w 257746"/>
                <a:gd name="connsiteY1" fmla="*/ 346805 h 354216"/>
                <a:gd name="connsiteX2" fmla="*/ 54197 w 257746"/>
                <a:gd name="connsiteY2" fmla="*/ 333470 h 354216"/>
                <a:gd name="connsiteX3" fmla="*/ 0 w 257746"/>
                <a:gd name="connsiteY3" fmla="*/ 0 h 354216"/>
                <a:gd name="connsiteX4" fmla="*/ 257746 w 257746"/>
                <a:gd name="connsiteY4" fmla="*/ 234982 h 354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746" h="354216">
                  <a:moveTo>
                    <a:pt x="257746" y="234887"/>
                  </a:moveTo>
                  <a:cubicBezTo>
                    <a:pt x="202787" y="278416"/>
                    <a:pt x="146971" y="313373"/>
                    <a:pt x="90106" y="346805"/>
                  </a:cubicBezTo>
                  <a:cubicBezTo>
                    <a:pt x="71247" y="357854"/>
                    <a:pt x="60865" y="358902"/>
                    <a:pt x="54197" y="333470"/>
                  </a:cubicBezTo>
                  <a:cubicBezTo>
                    <a:pt x="26670" y="227838"/>
                    <a:pt x="6953" y="121063"/>
                    <a:pt x="0" y="0"/>
                  </a:cubicBezTo>
                  <a:cubicBezTo>
                    <a:pt x="86677" y="85820"/>
                    <a:pt x="167069" y="164306"/>
                    <a:pt x="257746" y="234982"/>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16" name="Freeform: Shape 15">
              <a:extLst>
                <a:ext uri="{FF2B5EF4-FFF2-40B4-BE49-F238E27FC236}">
                  <a16:creationId xmlns:a16="http://schemas.microsoft.com/office/drawing/2014/main" id="{BDA04F06-5FF5-CCF1-C897-DF25F3DCA43D}"/>
                </a:ext>
              </a:extLst>
            </p:cNvPr>
            <p:cNvSpPr/>
            <p:nvPr/>
          </p:nvSpPr>
          <p:spPr>
            <a:xfrm>
              <a:off x="5819203" y="2903577"/>
              <a:ext cx="257365" cy="355115"/>
            </a:xfrm>
            <a:custGeom>
              <a:avLst/>
              <a:gdLst>
                <a:gd name="connsiteX0" fmla="*/ 257366 w 257365"/>
                <a:gd name="connsiteY0" fmla="*/ 120134 h 355115"/>
                <a:gd name="connsiteX1" fmla="*/ 0 w 257365"/>
                <a:gd name="connsiteY1" fmla="*/ 355116 h 355115"/>
                <a:gd name="connsiteX2" fmla="*/ 56388 w 257365"/>
                <a:gd name="connsiteY2" fmla="*/ 16407 h 355115"/>
                <a:gd name="connsiteX3" fmla="*/ 87154 w 257365"/>
                <a:gd name="connsiteY3" fmla="*/ 6596 h 355115"/>
                <a:gd name="connsiteX4" fmla="*/ 257366 w 257365"/>
                <a:gd name="connsiteY4" fmla="*/ 120039 h 3551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365" h="355115">
                  <a:moveTo>
                    <a:pt x="257366" y="120134"/>
                  </a:moveTo>
                  <a:cubicBezTo>
                    <a:pt x="166497" y="190428"/>
                    <a:pt x="86677" y="266438"/>
                    <a:pt x="0" y="355116"/>
                  </a:cubicBezTo>
                  <a:cubicBezTo>
                    <a:pt x="7048" y="230338"/>
                    <a:pt x="26194" y="122610"/>
                    <a:pt x="56388" y="16407"/>
                  </a:cubicBezTo>
                  <a:cubicBezTo>
                    <a:pt x="62865" y="-6263"/>
                    <a:pt x="73438" y="-1215"/>
                    <a:pt x="87154" y="6596"/>
                  </a:cubicBezTo>
                  <a:cubicBezTo>
                    <a:pt x="144875" y="39648"/>
                    <a:pt x="201454" y="74223"/>
                    <a:pt x="257366" y="120039"/>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17" name="Freeform: Shape 16">
              <a:extLst>
                <a:ext uri="{FF2B5EF4-FFF2-40B4-BE49-F238E27FC236}">
                  <a16:creationId xmlns:a16="http://schemas.microsoft.com/office/drawing/2014/main" id="{C098FECC-986F-5408-90CD-311F76D3971F}"/>
                </a:ext>
              </a:extLst>
            </p:cNvPr>
            <p:cNvSpPr/>
            <p:nvPr/>
          </p:nvSpPr>
          <p:spPr>
            <a:xfrm>
              <a:off x="6130308" y="2906050"/>
              <a:ext cx="250488" cy="352261"/>
            </a:xfrm>
            <a:custGeom>
              <a:avLst/>
              <a:gdLst>
                <a:gd name="connsiteX0" fmla="*/ 250489 w 250488"/>
                <a:gd name="connsiteY0" fmla="*/ 352262 h 352261"/>
                <a:gd name="connsiteX1" fmla="*/ 9411 w 250488"/>
                <a:gd name="connsiteY1" fmla="*/ 129853 h 352261"/>
                <a:gd name="connsiteX2" fmla="*/ 12554 w 250488"/>
                <a:gd name="connsiteY2" fmla="*/ 102516 h 352261"/>
                <a:gd name="connsiteX3" fmla="*/ 160001 w 250488"/>
                <a:gd name="connsiteY3" fmla="*/ 7171 h 352261"/>
                <a:gd name="connsiteX4" fmla="*/ 194482 w 250488"/>
                <a:gd name="connsiteY4" fmla="*/ 23364 h 352261"/>
                <a:gd name="connsiteX5" fmla="*/ 250489 w 250488"/>
                <a:gd name="connsiteY5" fmla="*/ 352262 h 352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0488" h="352261">
                  <a:moveTo>
                    <a:pt x="250489" y="352262"/>
                  </a:moveTo>
                  <a:cubicBezTo>
                    <a:pt x="169622" y="267775"/>
                    <a:pt x="92564" y="195385"/>
                    <a:pt x="9411" y="129853"/>
                  </a:cubicBezTo>
                  <a:cubicBezTo>
                    <a:pt x="-6305" y="117471"/>
                    <a:pt x="-304" y="110803"/>
                    <a:pt x="12554" y="102516"/>
                  </a:cubicBezTo>
                  <a:cubicBezTo>
                    <a:pt x="61894" y="70989"/>
                    <a:pt x="111233" y="39461"/>
                    <a:pt x="160001" y="7171"/>
                  </a:cubicBezTo>
                  <a:cubicBezTo>
                    <a:pt x="181814" y="-7212"/>
                    <a:pt x="188100" y="980"/>
                    <a:pt x="194482" y="23364"/>
                  </a:cubicBezTo>
                  <a:cubicBezTo>
                    <a:pt x="223914" y="127281"/>
                    <a:pt x="239059" y="233485"/>
                    <a:pt x="250489" y="352262"/>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18" name="Freeform: Shape 17">
              <a:extLst>
                <a:ext uri="{FF2B5EF4-FFF2-40B4-BE49-F238E27FC236}">
                  <a16:creationId xmlns:a16="http://schemas.microsoft.com/office/drawing/2014/main" id="{0752FDC7-1D59-31E2-82A1-E9A21AF4E880}"/>
                </a:ext>
              </a:extLst>
            </p:cNvPr>
            <p:cNvSpPr/>
            <p:nvPr/>
          </p:nvSpPr>
          <p:spPr>
            <a:xfrm>
              <a:off x="6123336" y="3586638"/>
              <a:ext cx="255651" cy="347591"/>
            </a:xfrm>
            <a:custGeom>
              <a:avLst/>
              <a:gdLst>
                <a:gd name="connsiteX0" fmla="*/ 0 w 255651"/>
                <a:gd name="connsiteY0" fmla="*/ 236315 h 347591"/>
                <a:gd name="connsiteX1" fmla="*/ 255651 w 255651"/>
                <a:gd name="connsiteY1" fmla="*/ 0 h 347591"/>
                <a:gd name="connsiteX2" fmla="*/ 215932 w 255651"/>
                <a:gd name="connsiteY2" fmla="*/ 275082 h 347591"/>
                <a:gd name="connsiteX3" fmla="*/ 118396 w 255651"/>
                <a:gd name="connsiteY3" fmla="*/ 315563 h 347591"/>
                <a:gd name="connsiteX4" fmla="*/ 0 w 255651"/>
                <a:gd name="connsiteY4" fmla="*/ 236315 h 347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651" h="347591">
                  <a:moveTo>
                    <a:pt x="0" y="236315"/>
                  </a:moveTo>
                  <a:cubicBezTo>
                    <a:pt x="90678" y="161449"/>
                    <a:pt x="173450" y="88773"/>
                    <a:pt x="255651" y="0"/>
                  </a:cubicBezTo>
                  <a:cubicBezTo>
                    <a:pt x="250222" y="99346"/>
                    <a:pt x="236125" y="187642"/>
                    <a:pt x="215932" y="275082"/>
                  </a:cubicBezTo>
                  <a:cubicBezTo>
                    <a:pt x="195548" y="363379"/>
                    <a:pt x="194405" y="363569"/>
                    <a:pt x="118396" y="315563"/>
                  </a:cubicBezTo>
                  <a:cubicBezTo>
                    <a:pt x="79820" y="291179"/>
                    <a:pt x="42482" y="264795"/>
                    <a:pt x="0" y="236315"/>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19" name="Freeform: Shape 18">
              <a:extLst>
                <a:ext uri="{FF2B5EF4-FFF2-40B4-BE49-F238E27FC236}">
                  <a16:creationId xmlns:a16="http://schemas.microsoft.com/office/drawing/2014/main" id="{3FE8AD3A-9755-F4E2-09CD-97E6B541E3C2}"/>
                </a:ext>
              </a:extLst>
            </p:cNvPr>
            <p:cNvSpPr/>
            <p:nvPr/>
          </p:nvSpPr>
          <p:spPr>
            <a:xfrm>
              <a:off x="6414325" y="3346513"/>
              <a:ext cx="61831" cy="154400"/>
            </a:xfrm>
            <a:custGeom>
              <a:avLst/>
              <a:gdLst>
                <a:gd name="connsiteX0" fmla="*/ 0 w 61831"/>
                <a:gd name="connsiteY0" fmla="*/ 0 h 154400"/>
                <a:gd name="connsiteX1" fmla="*/ 0 w 61831"/>
                <a:gd name="connsiteY1" fmla="*/ 154400 h 154400"/>
                <a:gd name="connsiteX2" fmla="*/ 0 w 61831"/>
                <a:gd name="connsiteY2" fmla="*/ 0 h 154400"/>
              </a:gdLst>
              <a:ahLst/>
              <a:cxnLst>
                <a:cxn ang="0">
                  <a:pos x="connsiteX0" y="connsiteY0"/>
                </a:cxn>
                <a:cxn ang="0">
                  <a:pos x="connsiteX1" y="connsiteY1"/>
                </a:cxn>
                <a:cxn ang="0">
                  <a:pos x="connsiteX2" y="connsiteY2"/>
                </a:cxn>
              </a:cxnLst>
              <a:rect l="l" t="t" r="r" b="b"/>
              <a:pathLst>
                <a:path w="61831" h="154400">
                  <a:moveTo>
                    <a:pt x="0" y="0"/>
                  </a:moveTo>
                  <a:cubicBezTo>
                    <a:pt x="81534" y="80867"/>
                    <a:pt x="83344" y="66104"/>
                    <a:pt x="0" y="154400"/>
                  </a:cubicBezTo>
                  <a:lnTo>
                    <a:pt x="0" y="0"/>
                  </a:ln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20" name="Freeform: Shape 19">
              <a:extLst>
                <a:ext uri="{FF2B5EF4-FFF2-40B4-BE49-F238E27FC236}">
                  <a16:creationId xmlns:a16="http://schemas.microsoft.com/office/drawing/2014/main" id="{C7B801A4-D858-9B34-0467-008DE1DF80A6}"/>
                </a:ext>
              </a:extLst>
            </p:cNvPr>
            <p:cNvSpPr/>
            <p:nvPr/>
          </p:nvSpPr>
          <p:spPr>
            <a:xfrm>
              <a:off x="5725689" y="3347751"/>
              <a:ext cx="60086" cy="145256"/>
            </a:xfrm>
            <a:custGeom>
              <a:avLst/>
              <a:gdLst>
                <a:gd name="connsiteX0" fmla="*/ 57128 w 60086"/>
                <a:gd name="connsiteY0" fmla="*/ 145256 h 145256"/>
                <a:gd name="connsiteX1" fmla="*/ 55319 w 60086"/>
                <a:gd name="connsiteY1" fmla="*/ 0 h 145256"/>
                <a:gd name="connsiteX2" fmla="*/ 57128 w 60086"/>
                <a:gd name="connsiteY2" fmla="*/ 145256 h 145256"/>
              </a:gdLst>
              <a:ahLst/>
              <a:cxnLst>
                <a:cxn ang="0">
                  <a:pos x="connsiteX0" y="connsiteY0"/>
                </a:cxn>
                <a:cxn ang="0">
                  <a:pos x="connsiteX1" y="connsiteY1"/>
                </a:cxn>
                <a:cxn ang="0">
                  <a:pos x="connsiteX2" y="connsiteY2"/>
                </a:cxn>
              </a:cxnLst>
              <a:rect l="l" t="t" r="r" b="b"/>
              <a:pathLst>
                <a:path w="60086" h="145256">
                  <a:moveTo>
                    <a:pt x="57128" y="145256"/>
                  </a:moveTo>
                  <a:cubicBezTo>
                    <a:pt x="-18691" y="80200"/>
                    <a:pt x="-18786" y="78486"/>
                    <a:pt x="55319" y="0"/>
                  </a:cubicBezTo>
                  <a:cubicBezTo>
                    <a:pt x="62653" y="50197"/>
                    <a:pt x="60081" y="96298"/>
                    <a:pt x="57128" y="145256"/>
                  </a:cubicBezTo>
                  <a:close/>
                </a:path>
              </a:pathLst>
            </a:custGeom>
            <a:solidFill>
              <a:srgbClr val="FFC000"/>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21" name="Freeform: Shape 20">
              <a:extLst>
                <a:ext uri="{FF2B5EF4-FFF2-40B4-BE49-F238E27FC236}">
                  <a16:creationId xmlns:a16="http://schemas.microsoft.com/office/drawing/2014/main" id="{3D8D17AC-9008-BD9E-8551-B620424C6691}"/>
                </a:ext>
              </a:extLst>
            </p:cNvPr>
            <p:cNvSpPr/>
            <p:nvPr/>
          </p:nvSpPr>
          <p:spPr>
            <a:xfrm>
              <a:off x="6018651" y="3346874"/>
              <a:ext cx="154124" cy="153943"/>
            </a:xfrm>
            <a:custGeom>
              <a:avLst/>
              <a:gdLst>
                <a:gd name="connsiteX0" fmla="*/ 154120 w 154124"/>
                <a:gd name="connsiteY0" fmla="*/ 75553 h 153943"/>
                <a:gd name="connsiteX1" fmla="*/ 76395 w 154124"/>
                <a:gd name="connsiteY1" fmla="*/ 153944 h 153943"/>
                <a:gd name="connsiteX2" fmla="*/ 5 w 154124"/>
                <a:gd name="connsiteY2" fmla="*/ 75553 h 153943"/>
                <a:gd name="connsiteX3" fmla="*/ 73919 w 154124"/>
                <a:gd name="connsiteY3" fmla="*/ 20 h 153943"/>
                <a:gd name="connsiteX4" fmla="*/ 154120 w 154124"/>
                <a:gd name="connsiteY4" fmla="*/ 75458 h 153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124" h="153943">
                  <a:moveTo>
                    <a:pt x="154120" y="75553"/>
                  </a:moveTo>
                  <a:cubicBezTo>
                    <a:pt x="154596" y="118606"/>
                    <a:pt x="119734" y="153849"/>
                    <a:pt x="76395" y="153944"/>
                  </a:cubicBezTo>
                  <a:cubicBezTo>
                    <a:pt x="32485" y="154039"/>
                    <a:pt x="-471" y="120225"/>
                    <a:pt x="5" y="75553"/>
                  </a:cubicBezTo>
                  <a:cubicBezTo>
                    <a:pt x="481" y="32214"/>
                    <a:pt x="30961" y="972"/>
                    <a:pt x="73919" y="20"/>
                  </a:cubicBezTo>
                  <a:cubicBezTo>
                    <a:pt x="118020" y="-933"/>
                    <a:pt x="153548" y="32500"/>
                    <a:pt x="154120" y="75458"/>
                  </a:cubicBezTo>
                  <a:close/>
                </a:path>
              </a:pathLst>
            </a:custGeom>
            <a:solidFill>
              <a:srgbClr val="060605"/>
            </a:solidFill>
            <a:ln w="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G"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grpSp>
      <p:sp>
        <p:nvSpPr>
          <p:cNvPr id="22" name="TextBox 21">
            <a:extLst>
              <a:ext uri="{FF2B5EF4-FFF2-40B4-BE49-F238E27FC236}">
                <a16:creationId xmlns:a16="http://schemas.microsoft.com/office/drawing/2014/main" id="{9286C207-E6E5-1141-592C-B5EB0D963C52}"/>
              </a:ext>
            </a:extLst>
          </p:cNvPr>
          <p:cNvSpPr txBox="1"/>
          <p:nvPr/>
        </p:nvSpPr>
        <p:spPr>
          <a:xfrm>
            <a:off x="10264182" y="235739"/>
            <a:ext cx="1616306"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opperplate Gothic Bold" panose="020E0705020206020404" pitchFamily="34" charset="0"/>
                <a:ea typeface="+mn-ea"/>
                <a:cs typeface="+mn-cs"/>
              </a:rPr>
              <a:t>Busitema</a:t>
            </a:r>
            <a:endParaRPr kumimoji="0" lang="en-UG" sz="2000" b="0" i="0" u="none" strike="noStrike" kern="1200" cap="none" spc="0" normalizeH="0" baseline="0" noProof="0" dirty="0">
              <a:ln>
                <a:noFill/>
              </a:ln>
              <a:solidFill>
                <a:prstClr val="black"/>
              </a:solidFill>
              <a:effectLst/>
              <a:uLnTx/>
              <a:uFillTx/>
              <a:latin typeface="Copperplate Gothic Bold" panose="020E0705020206020404" pitchFamily="34" charset="0"/>
              <a:ea typeface="+mn-ea"/>
              <a:cs typeface="+mn-cs"/>
            </a:endParaRPr>
          </a:p>
        </p:txBody>
      </p:sp>
      <p:sp>
        <p:nvSpPr>
          <p:cNvPr id="23" name="TextBox 22">
            <a:extLst>
              <a:ext uri="{FF2B5EF4-FFF2-40B4-BE49-F238E27FC236}">
                <a16:creationId xmlns:a16="http://schemas.microsoft.com/office/drawing/2014/main" id="{E3DFE1C0-1FB3-1A50-42A9-A6BFD3DFB410}"/>
              </a:ext>
            </a:extLst>
          </p:cNvPr>
          <p:cNvSpPr txBox="1"/>
          <p:nvPr/>
        </p:nvSpPr>
        <p:spPr>
          <a:xfrm>
            <a:off x="10269878" y="451103"/>
            <a:ext cx="1802322"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opperplate Gothic Bold" panose="020E0705020206020404" pitchFamily="34" charset="0"/>
                <a:ea typeface="+mn-ea"/>
                <a:cs typeface="+mn-cs"/>
              </a:rPr>
              <a:t>University</a:t>
            </a:r>
            <a:endParaRPr kumimoji="0" lang="en-UG" sz="2000" b="0" i="0" u="none" strike="noStrike" kern="1200" cap="none" spc="0" normalizeH="0" baseline="0" noProof="0" dirty="0">
              <a:ln>
                <a:noFill/>
              </a:ln>
              <a:solidFill>
                <a:prstClr val="black"/>
              </a:solidFill>
              <a:effectLst/>
              <a:uLnTx/>
              <a:uFillTx/>
              <a:latin typeface="Copperplate Gothic Bold" panose="020E0705020206020404" pitchFamily="34" charset="0"/>
              <a:ea typeface="+mn-ea"/>
              <a:cs typeface="+mn-cs"/>
            </a:endParaRPr>
          </a:p>
        </p:txBody>
      </p:sp>
      <p:sp>
        <p:nvSpPr>
          <p:cNvPr id="24" name="TextBox 23">
            <a:extLst>
              <a:ext uri="{FF2B5EF4-FFF2-40B4-BE49-F238E27FC236}">
                <a16:creationId xmlns:a16="http://schemas.microsoft.com/office/drawing/2014/main" id="{BD22E899-7407-4287-9602-043CB387A03D}"/>
              </a:ext>
            </a:extLst>
          </p:cNvPr>
          <p:cNvSpPr txBox="1"/>
          <p:nvPr/>
        </p:nvSpPr>
        <p:spPr>
          <a:xfrm>
            <a:off x="10272589" y="760679"/>
            <a:ext cx="2164804"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70C0"/>
                </a:solidFill>
                <a:effectLst/>
                <a:uLnTx/>
                <a:uFillTx/>
                <a:latin typeface="Segoe Script" panose="030B0504020000000003" pitchFamily="66" charset="0"/>
                <a:ea typeface="+mn-ea"/>
                <a:cs typeface="+mn-cs"/>
              </a:rPr>
              <a:t>Pursuing excellence</a:t>
            </a:r>
          </a:p>
        </p:txBody>
      </p:sp>
      <p:graphicFrame>
        <p:nvGraphicFramePr>
          <p:cNvPr id="26" name="Table 25">
            <a:extLst>
              <a:ext uri="{FF2B5EF4-FFF2-40B4-BE49-F238E27FC236}">
                <a16:creationId xmlns:a16="http://schemas.microsoft.com/office/drawing/2014/main" id="{15AB31FE-E8DA-9615-AE13-231D718D62BB}"/>
              </a:ext>
            </a:extLst>
          </p:cNvPr>
          <p:cNvGraphicFramePr>
            <a:graphicFrameLocks noGrp="1"/>
          </p:cNvGraphicFramePr>
          <p:nvPr/>
        </p:nvGraphicFramePr>
        <p:xfrm>
          <a:off x="1037922" y="1764645"/>
          <a:ext cx="10317069" cy="4134394"/>
        </p:xfrm>
        <a:graphic>
          <a:graphicData uri="http://schemas.openxmlformats.org/drawingml/2006/table">
            <a:tbl>
              <a:tblPr firstRow="1" bandRow="1">
                <a:tableStyleId>{5FD0F851-EC5A-4D38-B0AD-8093EC10F338}</a:tableStyleId>
              </a:tblPr>
              <a:tblGrid>
                <a:gridCol w="3439023">
                  <a:extLst>
                    <a:ext uri="{9D8B030D-6E8A-4147-A177-3AD203B41FA5}">
                      <a16:colId xmlns:a16="http://schemas.microsoft.com/office/drawing/2014/main" val="398328718"/>
                    </a:ext>
                  </a:extLst>
                </a:gridCol>
                <a:gridCol w="3439023">
                  <a:extLst>
                    <a:ext uri="{9D8B030D-6E8A-4147-A177-3AD203B41FA5}">
                      <a16:colId xmlns:a16="http://schemas.microsoft.com/office/drawing/2014/main" val="4041727275"/>
                    </a:ext>
                  </a:extLst>
                </a:gridCol>
                <a:gridCol w="3439023">
                  <a:extLst>
                    <a:ext uri="{9D8B030D-6E8A-4147-A177-3AD203B41FA5}">
                      <a16:colId xmlns:a16="http://schemas.microsoft.com/office/drawing/2014/main" val="2081885097"/>
                    </a:ext>
                  </a:extLst>
                </a:gridCol>
              </a:tblGrid>
              <a:tr h="375854">
                <a:tc>
                  <a:txBody>
                    <a:bodyPr/>
                    <a:lstStyle/>
                    <a:p>
                      <a:r>
                        <a:rPr lang="en-US" b="0" dirty="0">
                          <a:latin typeface="Segoe UI Semibold" panose="020B0702040204020203" pitchFamily="34" charset="0"/>
                          <a:cs typeface="Segoe UI Semibold" panose="020B0702040204020203" pitchFamily="34" charset="0"/>
                        </a:rPr>
                        <a:t>Name</a:t>
                      </a:r>
                      <a:endParaRPr lang="en-UG" b="0" dirty="0">
                        <a:latin typeface="Segoe UI Semibold" panose="020B0702040204020203" pitchFamily="34" charset="0"/>
                        <a:cs typeface="Segoe UI Semibold" panose="020B0702040204020203" pitchFamily="34" charset="0"/>
                      </a:endParaRPr>
                    </a:p>
                  </a:txBody>
                  <a:tcPr/>
                </a:tc>
                <a:tc>
                  <a:txBody>
                    <a:bodyPr/>
                    <a:lstStyle/>
                    <a:p>
                      <a:r>
                        <a:rPr lang="en-US" b="0" dirty="0">
                          <a:latin typeface="Segoe UI Semibold" panose="020B0702040204020203" pitchFamily="34" charset="0"/>
                          <a:cs typeface="Segoe UI Semibold" panose="020B0702040204020203" pitchFamily="34" charset="0"/>
                        </a:rPr>
                        <a:t>Reg Number</a:t>
                      </a:r>
                      <a:endParaRPr lang="en-UG" b="0" dirty="0">
                        <a:latin typeface="Segoe UI Semibold" panose="020B0702040204020203" pitchFamily="34" charset="0"/>
                        <a:cs typeface="Segoe UI Semibold" panose="020B0702040204020203" pitchFamily="34" charset="0"/>
                      </a:endParaRPr>
                    </a:p>
                  </a:txBody>
                  <a:tcPr/>
                </a:tc>
                <a:tc>
                  <a:txBody>
                    <a:bodyPr/>
                    <a:lstStyle/>
                    <a:p>
                      <a:r>
                        <a:rPr lang="en-US" b="0" dirty="0">
                          <a:latin typeface="Segoe UI Semibold" panose="020B0702040204020203" pitchFamily="34" charset="0"/>
                          <a:cs typeface="Segoe UI Semibold" panose="020B0702040204020203" pitchFamily="34" charset="0"/>
                        </a:rPr>
                        <a:t>Program</a:t>
                      </a:r>
                      <a:endParaRPr lang="en-UG" b="0" dirty="0">
                        <a:latin typeface="Segoe UI Semibold" panose="020B0702040204020203" pitchFamily="34" charset="0"/>
                        <a:cs typeface="Segoe UI Semibold" panose="020B0702040204020203" pitchFamily="34" charset="0"/>
                      </a:endParaRPr>
                    </a:p>
                  </a:txBody>
                  <a:tcPr/>
                </a:tc>
                <a:extLst>
                  <a:ext uri="{0D108BD9-81ED-4DB2-BD59-A6C34878D82A}">
                    <a16:rowId xmlns:a16="http://schemas.microsoft.com/office/drawing/2014/main" val="1170966684"/>
                  </a:ext>
                </a:extLst>
              </a:tr>
              <a:tr h="375854">
                <a:tc>
                  <a:txBody>
                    <a:bodyPr/>
                    <a:lstStyle/>
                    <a:p>
                      <a:r>
                        <a:rPr lang="en-US" b="0" dirty="0">
                          <a:latin typeface="Segoe UI" panose="020B0502040204020203" pitchFamily="34" charset="0"/>
                          <a:cs typeface="Segoe UI" panose="020B0502040204020203" pitchFamily="34" charset="0"/>
                        </a:rPr>
                        <a:t>AHAISIBWE CHRISTOPHER</a:t>
                      </a:r>
                      <a:endParaRPr lang="en-UG" b="0" dirty="0">
                        <a:latin typeface="Segoe UI" panose="020B0502040204020203" pitchFamily="34" charset="0"/>
                        <a:cs typeface="Segoe UI" panose="020B0502040204020203" pitchFamily="34" charset="0"/>
                      </a:endParaRPr>
                    </a:p>
                  </a:txBody>
                  <a:tcPr/>
                </a:tc>
                <a:tc>
                  <a:txBody>
                    <a:bodyPr/>
                    <a:lstStyle/>
                    <a:p>
                      <a:r>
                        <a:rPr lang="en-US" b="0" dirty="0">
                          <a:latin typeface="Monospac821 BT" panose="020B0609020202020204" pitchFamily="49" charset="0"/>
                          <a:cs typeface="Segoe UI" panose="020B0502040204020203" pitchFamily="34" charset="0"/>
                        </a:rPr>
                        <a:t>BU/UP/2024/0824</a:t>
                      </a:r>
                      <a:endParaRPr lang="en-UG" b="0" dirty="0">
                        <a:latin typeface="Monospac821 BT" panose="020B0609020202020204" pitchFamily="49" charset="0"/>
                        <a:cs typeface="Segoe UI" panose="020B0502040204020203" pitchFamily="34" charset="0"/>
                      </a:endParaRPr>
                    </a:p>
                  </a:txBody>
                  <a:tcPr/>
                </a:tc>
                <a:tc>
                  <a:txBody>
                    <a:bodyPr/>
                    <a:lstStyle/>
                    <a:p>
                      <a:r>
                        <a:rPr lang="en-US" b="0" dirty="0">
                          <a:latin typeface="Segoe UI" panose="020B0502040204020203" pitchFamily="34" charset="0"/>
                          <a:cs typeface="Segoe UI" panose="020B0502040204020203" pitchFamily="34" charset="0"/>
                        </a:rPr>
                        <a:t>AMI</a:t>
                      </a:r>
                      <a:endParaRPr lang="en-UG" b="0"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3064044504"/>
                  </a:ext>
                </a:extLst>
              </a:tr>
              <a:tr h="375854">
                <a:tc>
                  <a:txBody>
                    <a:bodyPr/>
                    <a:lstStyle/>
                    <a:p>
                      <a:r>
                        <a:rPr lang="en-US" b="0" dirty="0">
                          <a:latin typeface="Segoe UI" panose="020B0502040204020203" pitchFamily="34" charset="0"/>
                          <a:cs typeface="Segoe UI" panose="020B0502040204020203" pitchFamily="34" charset="0"/>
                        </a:rPr>
                        <a:t>GIFT EMMANUEL</a:t>
                      </a:r>
                      <a:endParaRPr lang="en-UG" b="0" dirty="0">
                        <a:latin typeface="Segoe UI" panose="020B0502040204020203" pitchFamily="34" charset="0"/>
                        <a:cs typeface="Segoe UI" panose="020B0502040204020203" pitchFamily="34" charset="0"/>
                      </a:endParaRPr>
                    </a:p>
                  </a:txBody>
                  <a:tcPr/>
                </a:tc>
                <a:tc>
                  <a:txBody>
                    <a:bodyPr/>
                    <a:lstStyle/>
                    <a:p>
                      <a:r>
                        <a:rPr lang="en-US" b="0" dirty="0">
                          <a:latin typeface="Monospac821 BT" panose="020B0609020202020204" pitchFamily="49" charset="0"/>
                          <a:cs typeface="Segoe UI" panose="020B0502040204020203" pitchFamily="34" charset="0"/>
                        </a:rPr>
                        <a:t>BU/X/2024/3250</a:t>
                      </a:r>
                      <a:endParaRPr lang="en-UG" b="0" dirty="0">
                        <a:latin typeface="Monospac821 BT" panose="020B0609020202020204" pitchFamily="49" charset="0"/>
                        <a:cs typeface="Segoe UI" panose="020B0502040204020203" pitchFamily="34" charset="0"/>
                      </a:endParaRPr>
                    </a:p>
                  </a:txBody>
                  <a:tcPr/>
                </a:tc>
                <a:tc>
                  <a:txBody>
                    <a:bodyPr/>
                    <a:lstStyle/>
                    <a:p>
                      <a:r>
                        <a:rPr lang="en-US" b="0" dirty="0">
                          <a:latin typeface="Segoe UI" panose="020B0502040204020203" pitchFamily="34" charset="0"/>
                          <a:cs typeface="Segoe UI" panose="020B0502040204020203" pitchFamily="34" charset="0"/>
                        </a:rPr>
                        <a:t>WAR</a:t>
                      </a:r>
                      <a:endParaRPr lang="en-UG" b="0"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2781887770"/>
                  </a:ext>
                </a:extLst>
              </a:tr>
              <a:tr h="375854">
                <a:tc>
                  <a:txBody>
                    <a:bodyPr/>
                    <a:lstStyle/>
                    <a:p>
                      <a:r>
                        <a:rPr lang="en-US" b="0" dirty="0">
                          <a:latin typeface="Segoe UI" panose="020B0502040204020203" pitchFamily="34" charset="0"/>
                          <a:cs typeface="Segoe UI" panose="020B0502040204020203" pitchFamily="34" charset="0"/>
                        </a:rPr>
                        <a:t>ADWONG CALEB</a:t>
                      </a:r>
                      <a:endParaRPr lang="en-UG" b="0" dirty="0">
                        <a:latin typeface="Segoe UI" panose="020B0502040204020203" pitchFamily="34" charset="0"/>
                        <a:cs typeface="Segoe UI" panose="020B0502040204020203" pitchFamily="34" charset="0"/>
                      </a:endParaRPr>
                    </a:p>
                  </a:txBody>
                  <a:tcPr/>
                </a:tc>
                <a:tc>
                  <a:txBody>
                    <a:bodyPr/>
                    <a:lstStyle/>
                    <a:p>
                      <a:r>
                        <a:rPr lang="en-US" b="0" dirty="0">
                          <a:latin typeface="Monospac821 BT" panose="020B0609020202020204" pitchFamily="49" charset="0"/>
                          <a:cs typeface="Segoe UI" panose="020B0502040204020203" pitchFamily="34" charset="0"/>
                        </a:rPr>
                        <a:t>BU/UP/2024/3813</a:t>
                      </a:r>
                      <a:endParaRPr lang="en-UG" b="0" dirty="0">
                        <a:latin typeface="Monospac821 BT" panose="020B0609020202020204" pitchFamily="49" charset="0"/>
                        <a:cs typeface="Segoe UI" panose="020B0502040204020203" pitchFamily="34" charset="0"/>
                      </a:endParaRPr>
                    </a:p>
                  </a:txBody>
                  <a:tcPr/>
                </a:tc>
                <a:tc>
                  <a:txBody>
                    <a:bodyPr/>
                    <a:lstStyle/>
                    <a:p>
                      <a:r>
                        <a:rPr lang="en-US" b="0" dirty="0">
                          <a:latin typeface="Segoe UI" panose="020B0502040204020203" pitchFamily="34" charset="0"/>
                          <a:cs typeface="Segoe UI" panose="020B0502040204020203" pitchFamily="34" charset="0"/>
                        </a:rPr>
                        <a:t>MEB</a:t>
                      </a:r>
                      <a:endParaRPr lang="en-UG" b="0"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579708306"/>
                  </a:ext>
                </a:extLst>
              </a:tr>
              <a:tr h="375854">
                <a:tc>
                  <a:txBody>
                    <a:bodyPr/>
                    <a:lstStyle/>
                    <a:p>
                      <a:r>
                        <a:rPr lang="en-US" sz="1800" kern="1200" dirty="0">
                          <a:solidFill>
                            <a:schemeClr val="tx1"/>
                          </a:solidFill>
                          <a:effectLst/>
                          <a:latin typeface="+mn-lt"/>
                          <a:ea typeface="+mn-ea"/>
                          <a:cs typeface="+mn-cs"/>
                        </a:rPr>
                        <a:t>MUWUBYA WYCLIFFE</a:t>
                      </a:r>
                      <a:endParaRPr lang="en-UG" b="0" dirty="0">
                        <a:latin typeface="Segoe UI" panose="020B0502040204020203" pitchFamily="34" charset="0"/>
                        <a:cs typeface="Segoe UI" panose="020B0502040204020203" pitchFamily="34" charset="0"/>
                      </a:endParaRPr>
                    </a:p>
                  </a:txBody>
                  <a:tcPr/>
                </a:tc>
                <a:tc>
                  <a:txBody>
                    <a:bodyPr/>
                    <a:lstStyle/>
                    <a:p>
                      <a:r>
                        <a:rPr lang="en-US" sz="1800" kern="1200" dirty="0">
                          <a:solidFill>
                            <a:schemeClr val="tx1"/>
                          </a:solidFill>
                          <a:effectLst/>
                          <a:latin typeface="Monospac821 BT" panose="020B0609020202020204" pitchFamily="49" charset="0"/>
                          <a:ea typeface="+mn-ea"/>
                          <a:cs typeface="+mn-cs"/>
                        </a:rPr>
                        <a:t>BU/UP/2024/1045</a:t>
                      </a:r>
                      <a:endParaRPr lang="en-UG" b="0" dirty="0">
                        <a:latin typeface="Monospac821 BT" panose="020B0609020202020204" pitchFamily="49" charset="0"/>
                        <a:cs typeface="Segoe UI" panose="020B0502040204020203" pitchFamily="34" charset="0"/>
                      </a:endParaRPr>
                    </a:p>
                  </a:txBody>
                  <a:tcPr/>
                </a:tc>
                <a:tc>
                  <a:txBody>
                    <a:bodyPr/>
                    <a:lstStyle/>
                    <a:p>
                      <a:r>
                        <a:rPr lang="en-US" b="0" dirty="0">
                          <a:latin typeface="Segoe UI" panose="020B0502040204020203" pitchFamily="34" charset="0"/>
                          <a:cs typeface="Segoe UI" panose="020B0502040204020203" pitchFamily="34" charset="0"/>
                        </a:rPr>
                        <a:t>WAR</a:t>
                      </a:r>
                      <a:endParaRPr lang="en-UG" b="0"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3889697651"/>
                  </a:ext>
                </a:extLst>
              </a:tr>
              <a:tr h="375854">
                <a:tc>
                  <a:txBody>
                    <a:bodyPr/>
                    <a:lstStyle/>
                    <a:p>
                      <a:r>
                        <a:rPr lang="en-US" b="0" dirty="0">
                          <a:latin typeface="Segoe UI" panose="020B0502040204020203" pitchFamily="34" charset="0"/>
                          <a:cs typeface="Segoe UI" panose="020B0502040204020203" pitchFamily="34" charset="0"/>
                        </a:rPr>
                        <a:t>OWINO POSH</a:t>
                      </a:r>
                      <a:endParaRPr lang="en-UG" b="0" dirty="0">
                        <a:latin typeface="Segoe UI" panose="020B0502040204020203" pitchFamily="34" charset="0"/>
                        <a:cs typeface="Segoe UI" panose="020B0502040204020203" pitchFamily="34" charset="0"/>
                      </a:endParaRPr>
                    </a:p>
                  </a:txBody>
                  <a:tcPr/>
                </a:tc>
                <a:tc>
                  <a:txBody>
                    <a:bodyPr/>
                    <a:lstStyle/>
                    <a:p>
                      <a:r>
                        <a:rPr lang="en-US" b="0" dirty="0">
                          <a:latin typeface="Monospac821 BT" panose="020B0609020202020204" pitchFamily="49" charset="0"/>
                          <a:cs typeface="Segoe UI" panose="020B0502040204020203" pitchFamily="34" charset="0"/>
                        </a:rPr>
                        <a:t>BU/UP/2024/1067</a:t>
                      </a:r>
                      <a:endParaRPr lang="en-UG" b="0" dirty="0">
                        <a:latin typeface="Monospac821 BT" panose="020B0609020202020204" pitchFamily="49" charset="0"/>
                        <a:cs typeface="Segoe UI" panose="020B0502040204020203" pitchFamily="34" charset="0"/>
                      </a:endParaRPr>
                    </a:p>
                  </a:txBody>
                  <a:tcPr/>
                </a:tc>
                <a:tc>
                  <a:txBody>
                    <a:bodyPr/>
                    <a:lstStyle/>
                    <a:p>
                      <a:r>
                        <a:rPr lang="en-US" b="0" dirty="0">
                          <a:latin typeface="Segoe UI" panose="020B0502040204020203" pitchFamily="34" charset="0"/>
                          <a:cs typeface="Segoe UI" panose="020B0502040204020203" pitchFamily="34" charset="0"/>
                        </a:rPr>
                        <a:t>WAR</a:t>
                      </a:r>
                      <a:endParaRPr lang="en-UG" b="0"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1978404990"/>
                  </a:ext>
                </a:extLst>
              </a:tr>
              <a:tr h="375854">
                <a:tc>
                  <a:txBody>
                    <a:bodyPr/>
                    <a:lstStyle/>
                    <a:p>
                      <a:r>
                        <a:rPr lang="en-US" sz="1800" kern="1200" dirty="0">
                          <a:solidFill>
                            <a:schemeClr val="tx1"/>
                          </a:solidFill>
                          <a:effectLst/>
                          <a:latin typeface="+mn-lt"/>
                          <a:ea typeface="+mn-ea"/>
                          <a:cs typeface="+mn-cs"/>
                        </a:rPr>
                        <a:t>ATATI EDWINE</a:t>
                      </a:r>
                      <a:endParaRPr lang="en-UG" b="0" dirty="0">
                        <a:latin typeface="Segoe UI" panose="020B0502040204020203" pitchFamily="34" charset="0"/>
                        <a:cs typeface="Segoe UI" panose="020B0502040204020203" pitchFamily="34" charset="0"/>
                      </a:endParaRPr>
                    </a:p>
                  </a:txBody>
                  <a:tcPr/>
                </a:tc>
                <a:tc>
                  <a:txBody>
                    <a:bodyPr/>
                    <a:lstStyle/>
                    <a:p>
                      <a:r>
                        <a:rPr lang="en-US" sz="1800" kern="1200" dirty="0">
                          <a:solidFill>
                            <a:schemeClr val="tx1"/>
                          </a:solidFill>
                          <a:effectLst/>
                          <a:latin typeface="Monospac821 BT" panose="020B0609020202020204" pitchFamily="49" charset="0"/>
                          <a:ea typeface="+mn-ea"/>
                          <a:cs typeface="+mn-cs"/>
                        </a:rPr>
                        <a:t>BU/UP/2024/3730</a:t>
                      </a:r>
                      <a:endParaRPr lang="en-UG" b="0" dirty="0">
                        <a:latin typeface="Monospac821 BT" panose="020B0609020202020204" pitchFamily="49" charset="0"/>
                        <a:cs typeface="Segoe UI" panose="020B0502040204020203" pitchFamily="34" charset="0"/>
                      </a:endParaRPr>
                    </a:p>
                  </a:txBody>
                  <a:tcPr/>
                </a:tc>
                <a:tc>
                  <a:txBody>
                    <a:bodyPr/>
                    <a:lstStyle/>
                    <a:p>
                      <a:r>
                        <a:rPr lang="en-US" b="0" dirty="0">
                          <a:latin typeface="Segoe UI" panose="020B0502040204020203" pitchFamily="34" charset="0"/>
                          <a:cs typeface="Segoe UI" panose="020B0502040204020203" pitchFamily="34" charset="0"/>
                        </a:rPr>
                        <a:t>AMI</a:t>
                      </a:r>
                      <a:endParaRPr lang="en-UG" b="0"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3058719708"/>
                  </a:ext>
                </a:extLst>
              </a:tr>
              <a:tr h="375854">
                <a:tc>
                  <a:txBody>
                    <a:bodyPr/>
                    <a:lstStyle/>
                    <a:p>
                      <a:r>
                        <a:rPr lang="en-US" b="0" dirty="0">
                          <a:latin typeface="Segoe UI" panose="020B0502040204020203" pitchFamily="34" charset="0"/>
                          <a:cs typeface="Segoe UI" panose="020B0502040204020203" pitchFamily="34" charset="0"/>
                        </a:rPr>
                        <a:t>NABUKEERA ANNET RIONAH</a:t>
                      </a:r>
                      <a:endParaRPr lang="en-UG" b="0" dirty="0">
                        <a:latin typeface="Segoe UI" panose="020B0502040204020203" pitchFamily="34" charset="0"/>
                        <a:cs typeface="Segoe UI" panose="020B0502040204020203" pitchFamily="34" charset="0"/>
                      </a:endParaRPr>
                    </a:p>
                  </a:txBody>
                  <a:tcPr/>
                </a:tc>
                <a:tc>
                  <a:txBody>
                    <a:bodyPr/>
                    <a:lstStyle/>
                    <a:p>
                      <a:r>
                        <a:rPr lang="en-US" b="0" dirty="0">
                          <a:latin typeface="Monospac821 BT" panose="020B0609020202020204" pitchFamily="49" charset="0"/>
                          <a:cs typeface="Segoe UI" panose="020B0502040204020203" pitchFamily="34" charset="0"/>
                        </a:rPr>
                        <a:t>BU/UG/2024/2676</a:t>
                      </a:r>
                      <a:endParaRPr lang="en-UG" b="0" dirty="0">
                        <a:latin typeface="Monospac821 BT" panose="020B0609020202020204" pitchFamily="49" charset="0"/>
                        <a:cs typeface="Segoe UI" panose="020B0502040204020203" pitchFamily="34" charset="0"/>
                      </a:endParaRPr>
                    </a:p>
                  </a:txBody>
                  <a:tcPr/>
                </a:tc>
                <a:tc>
                  <a:txBody>
                    <a:bodyPr/>
                    <a:lstStyle/>
                    <a:p>
                      <a:r>
                        <a:rPr lang="en-US" b="0" dirty="0">
                          <a:latin typeface="Segoe UI" panose="020B0502040204020203" pitchFamily="34" charset="0"/>
                          <a:cs typeface="Segoe UI" panose="020B0502040204020203" pitchFamily="34" charset="0"/>
                        </a:rPr>
                        <a:t>AMI</a:t>
                      </a:r>
                      <a:endParaRPr lang="en-UG" b="0"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3041669918"/>
                  </a:ext>
                </a:extLst>
              </a:tr>
              <a:tr h="375854">
                <a:tc>
                  <a:txBody>
                    <a:bodyPr/>
                    <a:lstStyle/>
                    <a:p>
                      <a:r>
                        <a:rPr lang="en-US" b="0" dirty="0">
                          <a:latin typeface="Segoe UI" panose="020B0502040204020203" pitchFamily="34" charset="0"/>
                          <a:cs typeface="Segoe UI" panose="020B0502040204020203" pitchFamily="34" charset="0"/>
                        </a:rPr>
                        <a:t>AHEREZA FAITH</a:t>
                      </a:r>
                      <a:endParaRPr lang="en-UG" b="0" dirty="0">
                        <a:latin typeface="Segoe UI" panose="020B0502040204020203" pitchFamily="34" charset="0"/>
                        <a:cs typeface="Segoe UI" panose="020B0502040204020203" pitchFamily="34" charset="0"/>
                      </a:endParaRPr>
                    </a:p>
                  </a:txBody>
                  <a:tcPr/>
                </a:tc>
                <a:tc>
                  <a:txBody>
                    <a:bodyPr/>
                    <a:lstStyle/>
                    <a:p>
                      <a:r>
                        <a:rPr lang="en-US" b="0" dirty="0">
                          <a:latin typeface="Monospac821 BT" panose="020B0609020202020204" pitchFamily="49" charset="0"/>
                          <a:cs typeface="Segoe UI" panose="020B0502040204020203" pitchFamily="34" charset="0"/>
                        </a:rPr>
                        <a:t>BU/UG/2024/2673</a:t>
                      </a:r>
                      <a:endParaRPr lang="en-UG" b="0" dirty="0">
                        <a:latin typeface="Monospac821 BT" panose="020B0609020202020204" pitchFamily="49" charset="0"/>
                        <a:cs typeface="Segoe UI" panose="020B0502040204020203" pitchFamily="34" charset="0"/>
                      </a:endParaRPr>
                    </a:p>
                  </a:txBody>
                  <a:tcPr/>
                </a:tc>
                <a:tc>
                  <a:txBody>
                    <a:bodyPr/>
                    <a:lstStyle/>
                    <a:p>
                      <a:r>
                        <a:rPr lang="en-US" b="0" dirty="0">
                          <a:latin typeface="Segoe UI" panose="020B0502040204020203" pitchFamily="34" charset="0"/>
                          <a:cs typeface="Segoe UI" panose="020B0502040204020203" pitchFamily="34" charset="0"/>
                        </a:rPr>
                        <a:t>APE</a:t>
                      </a:r>
                      <a:endParaRPr lang="en-UG" b="0"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986820328"/>
                  </a:ext>
                </a:extLst>
              </a:tr>
              <a:tr h="375854">
                <a:tc>
                  <a:txBody>
                    <a:bodyPr/>
                    <a:lstStyle/>
                    <a:p>
                      <a:r>
                        <a:rPr lang="en-US" sz="1800" kern="1200" dirty="0">
                          <a:solidFill>
                            <a:schemeClr val="tx1"/>
                          </a:solidFill>
                          <a:effectLst/>
                          <a:latin typeface="+mn-lt"/>
                          <a:ea typeface="+mn-ea"/>
                          <a:cs typeface="+mn-cs"/>
                        </a:rPr>
                        <a:t>OPOKA VINCENT</a:t>
                      </a:r>
                      <a:endParaRPr lang="en-UG" b="0" dirty="0">
                        <a:latin typeface="Segoe UI" panose="020B0502040204020203" pitchFamily="34" charset="0"/>
                        <a:cs typeface="Segoe UI" panose="020B0502040204020203" pitchFamily="34" charset="0"/>
                      </a:endParaRPr>
                    </a:p>
                  </a:txBody>
                  <a:tcPr/>
                </a:tc>
                <a:tc>
                  <a:txBody>
                    <a:bodyPr/>
                    <a:lstStyle/>
                    <a:p>
                      <a:r>
                        <a:rPr lang="en-US" sz="1800" kern="1200" dirty="0">
                          <a:solidFill>
                            <a:schemeClr val="tx1"/>
                          </a:solidFill>
                          <a:effectLst/>
                          <a:latin typeface="Monospac821 BT" panose="020B0609020202020204" pitchFamily="49" charset="0"/>
                          <a:ea typeface="+mn-ea"/>
                          <a:cs typeface="+mn-cs"/>
                        </a:rPr>
                        <a:t>BU/UG/2024/2675</a:t>
                      </a:r>
                      <a:endParaRPr lang="en-UG" b="0" dirty="0">
                        <a:latin typeface="Monospac821 BT" panose="020B0609020202020204" pitchFamily="49" charset="0"/>
                        <a:cs typeface="Segoe UI" panose="020B0502040204020203" pitchFamily="34" charset="0"/>
                      </a:endParaRPr>
                    </a:p>
                  </a:txBody>
                  <a:tcPr/>
                </a:tc>
                <a:tc>
                  <a:txBody>
                    <a:bodyPr/>
                    <a:lstStyle/>
                    <a:p>
                      <a:r>
                        <a:rPr lang="en-US" b="0" dirty="0">
                          <a:latin typeface="Segoe UI" panose="020B0502040204020203" pitchFamily="34" charset="0"/>
                          <a:cs typeface="Segoe UI" panose="020B0502040204020203" pitchFamily="34" charset="0"/>
                        </a:rPr>
                        <a:t>AMI</a:t>
                      </a:r>
                      <a:endParaRPr lang="en-UG" b="0"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3569424378"/>
                  </a:ext>
                </a:extLst>
              </a:tr>
              <a:tr h="375854">
                <a:tc>
                  <a:txBody>
                    <a:bodyPr/>
                    <a:lstStyle/>
                    <a:p>
                      <a:r>
                        <a:rPr lang="en-US" b="0" dirty="0">
                          <a:latin typeface="Segoe UI" panose="020B0502040204020203" pitchFamily="34" charset="0"/>
                          <a:cs typeface="Segoe UI" panose="020B0502040204020203" pitchFamily="34" charset="0"/>
                        </a:rPr>
                        <a:t>AKELLO BARBRA</a:t>
                      </a:r>
                      <a:endParaRPr lang="en-UG" b="0" dirty="0">
                        <a:latin typeface="Segoe UI" panose="020B0502040204020203" pitchFamily="34" charset="0"/>
                        <a:cs typeface="Segoe UI" panose="020B0502040204020203" pitchFamily="34" charset="0"/>
                      </a:endParaRPr>
                    </a:p>
                  </a:txBody>
                  <a:tcPr/>
                </a:tc>
                <a:tc>
                  <a:txBody>
                    <a:bodyPr/>
                    <a:lstStyle/>
                    <a:p>
                      <a:r>
                        <a:rPr lang="en-US" sz="1800" kern="1200" dirty="0">
                          <a:solidFill>
                            <a:schemeClr val="tx1"/>
                          </a:solidFill>
                          <a:effectLst/>
                          <a:latin typeface="Monospac821 BT" panose="020B0609020202020204" pitchFamily="49" charset="0"/>
                          <a:ea typeface="+mn-ea"/>
                          <a:cs typeface="+mn-cs"/>
                        </a:rPr>
                        <a:t>BU/UP/2024/1001</a:t>
                      </a:r>
                      <a:endParaRPr lang="en-UG" b="0" dirty="0">
                        <a:latin typeface="Monospac821 BT" panose="020B0609020202020204" pitchFamily="49" charset="0"/>
                        <a:cs typeface="Segoe UI" panose="020B0502040204020203" pitchFamily="34" charset="0"/>
                      </a:endParaRPr>
                    </a:p>
                  </a:txBody>
                  <a:tcPr/>
                </a:tc>
                <a:tc>
                  <a:txBody>
                    <a:bodyPr/>
                    <a:lstStyle/>
                    <a:p>
                      <a:r>
                        <a:rPr lang="en-US" b="0" dirty="0">
                          <a:latin typeface="Segoe UI" panose="020B0502040204020203" pitchFamily="34" charset="0"/>
                          <a:cs typeface="Segoe UI" panose="020B0502040204020203" pitchFamily="34" charset="0"/>
                        </a:rPr>
                        <a:t>WAR</a:t>
                      </a:r>
                      <a:endParaRPr lang="en-UG" b="0"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2771744666"/>
                  </a:ext>
                </a:extLst>
              </a:tr>
            </a:tbl>
          </a:graphicData>
        </a:graphic>
      </p:graphicFrame>
    </p:spTree>
    <p:extLst>
      <p:ext uri="{BB962C8B-B14F-4D97-AF65-F5344CB8AC3E}">
        <p14:creationId xmlns:p14="http://schemas.microsoft.com/office/powerpoint/2010/main" val="2420082472"/>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A5316-8ECC-840D-534F-9BE9B3953483}"/>
              </a:ext>
            </a:extLst>
          </p:cNvPr>
          <p:cNvSpPr>
            <a:spLocks noGrp="1"/>
          </p:cNvSpPr>
          <p:nvPr>
            <p:ph type="title"/>
          </p:nvPr>
        </p:nvSpPr>
        <p:spPr/>
        <p:txBody>
          <a:bodyPr/>
          <a:lstStyle/>
          <a:p>
            <a:pPr algn="ctr"/>
            <a:r>
              <a:rPr lang="en-US" dirty="0">
                <a:latin typeface="Bahnschrift SemiBold SemiConden" panose="020B0502040204020203" pitchFamily="34" charset="0"/>
              </a:rPr>
              <a:t>QUESTION 1</a:t>
            </a:r>
          </a:p>
        </p:txBody>
      </p:sp>
      <p:sp>
        <p:nvSpPr>
          <p:cNvPr id="3" name="Content Placeholder 2">
            <a:extLst>
              <a:ext uri="{FF2B5EF4-FFF2-40B4-BE49-F238E27FC236}">
                <a16:creationId xmlns:a16="http://schemas.microsoft.com/office/drawing/2014/main" id="{8117B963-5543-E834-8920-C098177F5738}"/>
              </a:ext>
            </a:extLst>
          </p:cNvPr>
          <p:cNvSpPr>
            <a:spLocks noGrp="1"/>
          </p:cNvSpPr>
          <p:nvPr>
            <p:ph idx="1"/>
          </p:nvPr>
        </p:nvSpPr>
        <p:spPr/>
        <p:txBody>
          <a:bodyPr/>
          <a:lstStyle/>
          <a:p>
            <a:pPr marL="0" indent="0">
              <a:buNone/>
            </a:pPr>
            <a:endParaRPr lang="en-US" dirty="0"/>
          </a:p>
        </p:txBody>
      </p:sp>
      <p:sp>
        <p:nvSpPr>
          <p:cNvPr id="4" name="Rectangle: Rounded Corners 3">
            <a:extLst>
              <a:ext uri="{FF2B5EF4-FFF2-40B4-BE49-F238E27FC236}">
                <a16:creationId xmlns:a16="http://schemas.microsoft.com/office/drawing/2014/main" id="{7ED4E988-6035-AC6A-7D21-B85973088053}"/>
              </a:ext>
            </a:extLst>
          </p:cNvPr>
          <p:cNvSpPr/>
          <p:nvPr/>
        </p:nvSpPr>
        <p:spPr>
          <a:xfrm>
            <a:off x="677334" y="2024742"/>
            <a:ext cx="8596668" cy="382555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57AA2D4E-5553-8190-E2E4-339F2CE440AA}"/>
              </a:ext>
            </a:extLst>
          </p:cNvPr>
          <p:cNvSpPr txBox="1"/>
          <p:nvPr/>
        </p:nvSpPr>
        <p:spPr>
          <a:xfrm>
            <a:off x="1017038" y="2640563"/>
            <a:ext cx="8256964" cy="2862322"/>
          </a:xfrm>
          <a:prstGeom prst="rect">
            <a:avLst/>
          </a:prstGeom>
          <a:noFill/>
        </p:spPr>
        <p:txBody>
          <a:bodyPr wrap="square" rtlCol="0">
            <a:spAutoFit/>
          </a:bodyPr>
          <a:lstStyle/>
          <a:p>
            <a:pPr>
              <a:buFont typeface="+mj-lt"/>
              <a:buAutoNum type="arabicPeriod"/>
            </a:pPr>
            <a:r>
              <a:rPr lang="en-US" dirty="0"/>
              <a:t>While implementing the concepts of classes, </a:t>
            </a:r>
            <a:r>
              <a:rPr lang="en-US" dirty="0" err="1"/>
              <a:t>encaputation</a:t>
            </a:r>
            <a:r>
              <a:rPr lang="en-US" dirty="0"/>
              <a:t>, inheritance, polymorphism and abstraction. </a:t>
            </a:r>
          </a:p>
          <a:p>
            <a:endParaRPr lang="en-US" dirty="0"/>
          </a:p>
          <a:p>
            <a:endParaRPr lang="en-US" dirty="0"/>
          </a:p>
          <a:p>
            <a:pPr>
              <a:buFont typeface="Arial" panose="020B0604020202020204" pitchFamily="34" charset="0"/>
              <a:buChar char="•"/>
            </a:pPr>
            <a:r>
              <a:rPr lang="en-US" dirty="0"/>
              <a:t>Develop and test a high end or high level back end implementation of a numerical methods application for solving computational problems for simplicity. Apply the code developed in the process assignment and ensure the parent class holds all abstract methods with two sub-classes, one differential problems and the other for integral problems.</a:t>
            </a:r>
          </a:p>
          <a:p>
            <a:endParaRPr lang="en-US" dirty="0"/>
          </a:p>
        </p:txBody>
      </p:sp>
    </p:spTree>
    <p:extLst>
      <p:ext uri="{BB962C8B-B14F-4D97-AF65-F5344CB8AC3E}">
        <p14:creationId xmlns:p14="http://schemas.microsoft.com/office/powerpoint/2010/main" val="1614823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77878-BC9B-CF96-3846-CA4BEED23AD3}"/>
              </a:ext>
            </a:extLst>
          </p:cNvPr>
          <p:cNvSpPr>
            <a:spLocks noGrp="1"/>
          </p:cNvSpPr>
          <p:nvPr>
            <p:ph type="title"/>
          </p:nvPr>
        </p:nvSpPr>
        <p:spPr/>
        <p:txBody>
          <a:bodyPr/>
          <a:lstStyle/>
          <a:p>
            <a:pPr algn="ctr"/>
            <a:r>
              <a:rPr lang="en-US" dirty="0">
                <a:latin typeface="Bahnschrift SemiBold SemiConden" panose="020B0502040204020203" pitchFamily="34" charset="0"/>
              </a:rPr>
              <a:t>INTRODUCTION</a:t>
            </a:r>
          </a:p>
        </p:txBody>
      </p:sp>
      <p:sp>
        <p:nvSpPr>
          <p:cNvPr id="3" name="Content Placeholder 2">
            <a:extLst>
              <a:ext uri="{FF2B5EF4-FFF2-40B4-BE49-F238E27FC236}">
                <a16:creationId xmlns:a16="http://schemas.microsoft.com/office/drawing/2014/main" id="{17281C90-9675-89BA-78B7-DA8F943C6C57}"/>
              </a:ext>
            </a:extLst>
          </p:cNvPr>
          <p:cNvSpPr>
            <a:spLocks noGrp="1"/>
          </p:cNvSpPr>
          <p:nvPr>
            <p:ph idx="1"/>
          </p:nvPr>
        </p:nvSpPr>
        <p:spPr>
          <a:xfrm>
            <a:off x="1097211" y="1352939"/>
            <a:ext cx="8596668" cy="4739951"/>
          </a:xfrm>
        </p:spPr>
        <p:txBody>
          <a:bodyPr>
            <a:normAutofit/>
          </a:bodyPr>
          <a:lstStyle/>
          <a:p>
            <a:pPr marL="0" marR="0" indent="0">
              <a:lnSpc>
                <a:spcPct val="114000"/>
              </a:lnSpc>
              <a:spcBef>
                <a:spcPts val="200"/>
              </a:spcBef>
              <a:spcAft>
                <a:spcPts val="0"/>
              </a:spcAft>
              <a:buNone/>
            </a:pP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Background.</a:t>
            </a:r>
          </a:p>
          <a:p>
            <a:pPr marL="0" marR="0" indent="0">
              <a:lnSpc>
                <a:spcPct val="114000"/>
              </a:lnSpc>
              <a:spcBef>
                <a:spcPts val="200"/>
              </a:spcBef>
              <a:spcAft>
                <a:spcPts val="0"/>
              </a:spcAft>
              <a:buNone/>
            </a:pPr>
            <a:endPar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nSpc>
                <a:spcPct val="114000"/>
              </a:lnSpc>
              <a:spcBef>
                <a:spcPts val="200"/>
              </a:spcBef>
              <a:spcAft>
                <a:spcPts val="0"/>
              </a:spcAft>
              <a:buNone/>
            </a:pPr>
            <a:r>
              <a:rPr lang="en-US" sz="1600" dirty="0">
                <a:solidFill>
                  <a:srgbClr val="1B1C1D"/>
                </a:solidFill>
                <a:effectLst/>
                <a:latin typeface="Times New Roman" panose="02020603050405020304" pitchFamily="18" charset="0"/>
                <a:ea typeface="Google Sans Text"/>
              </a:rPr>
              <a:t> </a:t>
            </a:r>
            <a:r>
              <a:rPr lang="en-US" sz="1600" b="1" dirty="0">
                <a:solidFill>
                  <a:srgbClr val="1B1C1D"/>
                </a:solidFill>
                <a:effectLst/>
                <a:latin typeface="Times New Roman" panose="02020603050405020304" pitchFamily="18" charset="0"/>
                <a:ea typeface="Google Sans Text"/>
              </a:rPr>
              <a:t>MATLAB</a:t>
            </a:r>
            <a:r>
              <a:rPr lang="en-US" sz="1600" dirty="0">
                <a:solidFill>
                  <a:srgbClr val="1B1C1D"/>
                </a:solidFill>
                <a:effectLst/>
                <a:latin typeface="Times New Roman" panose="02020603050405020304" pitchFamily="18" charset="0"/>
                <a:ea typeface="Google Sans Text"/>
              </a:rPr>
              <a:t>, which stands for matrix laboratory, is a high-performance programming language and environment designed primarily for technical computing. Its origins trace back to the late 1970s when Cleve </a:t>
            </a:r>
            <a:r>
              <a:rPr lang="en-US" sz="1600" dirty="0" err="1">
                <a:solidFill>
                  <a:srgbClr val="1B1C1D"/>
                </a:solidFill>
                <a:effectLst/>
                <a:latin typeface="Times New Roman" panose="02020603050405020304" pitchFamily="18" charset="0"/>
                <a:ea typeface="Google Sans Text"/>
              </a:rPr>
              <a:t>Moler</a:t>
            </a:r>
            <a:r>
              <a:rPr lang="en-US" sz="1600" dirty="0">
                <a:solidFill>
                  <a:srgbClr val="1B1C1D"/>
                </a:solidFill>
                <a:effectLst/>
                <a:latin typeface="Times New Roman" panose="02020603050405020304" pitchFamily="18" charset="0"/>
                <a:ea typeface="Google Sans Text"/>
              </a:rPr>
              <a:t>, a professor of computer science, developed it to provide his students with easy access to mathematical software libraries without requiring them to learn FORTRAN.</a:t>
            </a:r>
          </a:p>
          <a:p>
            <a:pPr marL="0" marR="0" indent="0">
              <a:lnSpc>
                <a:spcPct val="114000"/>
              </a:lnSpc>
              <a:spcBef>
                <a:spcPts val="200"/>
              </a:spcBef>
              <a:spcAft>
                <a:spcPts val="0"/>
              </a:spcAft>
              <a:buNone/>
            </a:pPr>
            <a:endParaRPr lang="en-US" sz="1600" dirty="0">
              <a:solidFill>
                <a:srgbClr val="1B1C1D"/>
              </a:solidFill>
              <a:effectLst/>
              <a:latin typeface="Times New Roman" panose="02020603050405020304" pitchFamily="18" charset="0"/>
              <a:ea typeface="Google Sans Text"/>
            </a:endParaRPr>
          </a:p>
          <a:p>
            <a:pPr marL="0" marR="0" indent="0">
              <a:lnSpc>
                <a:spcPct val="114000"/>
              </a:lnSpc>
              <a:spcBef>
                <a:spcPts val="200"/>
              </a:spcBef>
              <a:spcAft>
                <a:spcPts val="0"/>
              </a:spcAft>
              <a:buNone/>
            </a:pP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Historical Development</a:t>
            </a:r>
          </a:p>
          <a:p>
            <a:pPr marL="0" marR="0" indent="0">
              <a:lnSpc>
                <a:spcPct val="150000"/>
              </a:lnSpc>
              <a:spcBef>
                <a:spcPts val="0"/>
              </a:spcBef>
              <a:spcAft>
                <a:spcPts val="1200"/>
              </a:spcAft>
              <a:buNone/>
              <a:tabLst>
                <a:tab pos="1295400" algn="l"/>
              </a:tabLst>
            </a:pPr>
            <a:r>
              <a:rPr lang="en-US" sz="1600" b="1" dirty="0">
                <a:solidFill>
                  <a:srgbClr val="1B1C1D"/>
                </a:solidFill>
                <a:effectLst/>
                <a:latin typeface="Times New Roman" panose="02020603050405020304" pitchFamily="18" charset="0"/>
                <a:ea typeface="Google Sans Text"/>
              </a:rPr>
              <a:t> Initial Development</a:t>
            </a:r>
            <a:r>
              <a:rPr lang="en-US" sz="1600" dirty="0">
                <a:solidFill>
                  <a:srgbClr val="1B1C1D"/>
                </a:solidFill>
                <a:effectLst/>
                <a:latin typeface="Times New Roman" panose="02020603050405020304" pitchFamily="18" charset="0"/>
                <a:ea typeface="Google Sans Text"/>
              </a:rPr>
              <a:t>: The first version of MATLAB was created in FORTRAN in the late 1970s as a simple interactive matrix calculator. This early iteration included basic matrix operations and was built on top of two significant mathematical libraries: LINPACK and EISPACK, which were developed for numerical linear algebra and eigenvalue problems, respectively.</a:t>
            </a:r>
          </a:p>
          <a:p>
            <a:pPr marL="0" marR="0" indent="0">
              <a:lnSpc>
                <a:spcPct val="114000"/>
              </a:lnSpc>
              <a:spcBef>
                <a:spcPts val="200"/>
              </a:spcBef>
              <a:spcAft>
                <a:spcPts val="0"/>
              </a:spcAft>
              <a:buNone/>
            </a:pPr>
            <a:endPar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3695811"/>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1B301D-B8D6-585D-9D36-97B19A165756}"/>
              </a:ext>
            </a:extLst>
          </p:cNvPr>
          <p:cNvSpPr txBox="1"/>
          <p:nvPr/>
        </p:nvSpPr>
        <p:spPr>
          <a:xfrm>
            <a:off x="1063689" y="1139739"/>
            <a:ext cx="8584163" cy="3806427"/>
          </a:xfrm>
          <a:prstGeom prst="rect">
            <a:avLst/>
          </a:prstGeom>
          <a:noFill/>
        </p:spPr>
        <p:txBody>
          <a:bodyPr wrap="square">
            <a:spAutoFit/>
          </a:bodyPr>
          <a:lstStyle/>
          <a:p>
            <a:pPr marL="0" marR="0">
              <a:lnSpc>
                <a:spcPct val="114000"/>
              </a:lnSpc>
              <a:spcBef>
                <a:spcPts val="200"/>
              </a:spcBef>
              <a:spcAft>
                <a:spcPts val="0"/>
              </a:spcAft>
            </a:pPr>
            <a:r>
              <a:rPr lang="en-US" sz="1600" b="1" dirty="0">
                <a:solidFill>
                  <a:schemeClr val="accent1"/>
                </a:solidFill>
                <a:effectLst/>
                <a:latin typeface="Bahnschrift SemiBold SemiConden" panose="020B0502040204020203" pitchFamily="34" charset="0"/>
                <a:ea typeface="Times New Roman" panose="02020603050405020304" pitchFamily="18" charset="0"/>
                <a:cs typeface="Times New Roman" panose="02020603050405020304" pitchFamily="18" charset="0"/>
              </a:rPr>
              <a:t>Commercial Launch:</a:t>
            </a:r>
          </a:p>
          <a:p>
            <a:pPr marL="0" marR="0">
              <a:lnSpc>
                <a:spcPct val="150000"/>
              </a:lnSpc>
              <a:spcBef>
                <a:spcPts val="0"/>
              </a:spcBef>
              <a:spcAft>
                <a:spcPts val="1200"/>
              </a:spcAft>
              <a:tabLst>
                <a:tab pos="1295400" algn="l"/>
              </a:tabLst>
            </a:pPr>
            <a:r>
              <a:rPr lang="en-US" sz="1600" dirty="0">
                <a:solidFill>
                  <a:srgbClr val="1B1C1D"/>
                </a:solidFill>
                <a:effectLst/>
                <a:latin typeface="Times New Roman" panose="02020603050405020304" pitchFamily="18" charset="0"/>
                <a:ea typeface="Google Sans Text"/>
              </a:rPr>
              <a:t> MATLAB was officially launched as a commercial product in 1984 by Math Works, a company founded by Moller along with Jack little and Steve </a:t>
            </a:r>
            <a:r>
              <a:rPr lang="en-US" sz="1600" dirty="0" err="1">
                <a:solidFill>
                  <a:srgbClr val="1B1C1D"/>
                </a:solidFill>
                <a:effectLst/>
                <a:latin typeface="Times New Roman" panose="02020603050405020304" pitchFamily="18" charset="0"/>
                <a:ea typeface="Google Sans Text"/>
              </a:rPr>
              <a:t>Bangert</a:t>
            </a:r>
            <a:r>
              <a:rPr lang="en-US" sz="1600" dirty="0">
                <a:solidFill>
                  <a:srgbClr val="1B1C1D"/>
                </a:solidFill>
                <a:effectLst/>
                <a:latin typeface="Times New Roman" panose="02020603050405020304" pitchFamily="18" charset="0"/>
                <a:ea typeface="Google Sans Text"/>
              </a:rPr>
              <a:t>. This marked the transition from a simple calculator to a comprehensive programming environment. The software was implemented in C, enhancing its capabilities with the addition of user defined functions, toolboxes, and graphical interfaces.</a:t>
            </a:r>
            <a:endParaRPr lang="en-US" sz="1600" b="1"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nSpc>
                <a:spcPct val="114000"/>
              </a:lnSpc>
              <a:spcBef>
                <a:spcPts val="200"/>
              </a:spcBef>
              <a:spcAft>
                <a:spcPts val="0"/>
              </a:spcAft>
              <a:buNone/>
            </a:pPr>
            <a:r>
              <a:rPr lang="en-US" sz="1600" b="1" dirty="0">
                <a:solidFill>
                  <a:schemeClr val="accent1"/>
                </a:solidFill>
                <a:effectLst/>
                <a:latin typeface="Bahnschrift SemiBold SemiConden" panose="020B0502040204020203" pitchFamily="34" charset="0"/>
                <a:ea typeface="Times New Roman" panose="02020603050405020304" pitchFamily="18" charset="0"/>
                <a:cs typeface="Times New Roman" panose="02020603050405020304" pitchFamily="18" charset="0"/>
              </a:rPr>
              <a:t>Expansion and Toolboxes:</a:t>
            </a:r>
          </a:p>
          <a:p>
            <a:pPr marL="0" marR="0" indent="0">
              <a:lnSpc>
                <a:spcPct val="114000"/>
              </a:lnSpc>
              <a:spcBef>
                <a:spcPts val="200"/>
              </a:spcBef>
              <a:spcAft>
                <a:spcPts val="0"/>
              </a:spcAft>
              <a:buNone/>
            </a:pPr>
            <a:r>
              <a:rPr lang="en-US" sz="1600" dirty="0">
                <a:solidFill>
                  <a:srgbClr val="1B1C1D"/>
                </a:solidFill>
                <a:effectLst/>
                <a:latin typeface="Times New Roman" panose="02020603050405020304" pitchFamily="18" charset="0"/>
                <a:ea typeface="Google Sans Text"/>
              </a:rPr>
              <a:t> Over the years, MATLAB has expanded significantly. By the late 1980s, it had introduced several specialized toolboxes for various applications, including control systems and signal processing. The introduction of the Simulink environment further allowed users to model and simulate dynamic systems graphically.</a:t>
            </a:r>
          </a:p>
        </p:txBody>
      </p:sp>
    </p:spTree>
    <p:extLst>
      <p:ext uri="{BB962C8B-B14F-4D97-AF65-F5344CB8AC3E}">
        <p14:creationId xmlns:p14="http://schemas.microsoft.com/office/powerpoint/2010/main" val="267126877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C08169-25F1-4A82-ECB1-C6342D3D21C0}"/>
              </a:ext>
            </a:extLst>
          </p:cNvPr>
          <p:cNvSpPr txBox="1"/>
          <p:nvPr/>
        </p:nvSpPr>
        <p:spPr>
          <a:xfrm>
            <a:off x="606490" y="2215735"/>
            <a:ext cx="8546840" cy="2020361"/>
          </a:xfrm>
          <a:prstGeom prst="rect">
            <a:avLst/>
          </a:prstGeom>
          <a:noFill/>
        </p:spPr>
        <p:txBody>
          <a:bodyPr wrap="square">
            <a:spAutoFit/>
          </a:bodyPr>
          <a:lstStyle/>
          <a:p>
            <a:pPr marL="0" marR="0">
              <a:lnSpc>
                <a:spcPct val="114000"/>
              </a:lnSpc>
              <a:spcBef>
                <a:spcPts val="200"/>
              </a:spcBef>
              <a:spcAft>
                <a:spcPts val="0"/>
              </a:spcAft>
            </a:pPr>
            <a:r>
              <a:rPr lang="en-US" sz="1800" b="1" dirty="0">
                <a:solidFill>
                  <a:schemeClr val="accent1"/>
                </a:solidFill>
                <a:effectLst/>
                <a:latin typeface="Bahnschrift SemiBold SemiConden" panose="020B0502040204020203" pitchFamily="34" charset="0"/>
                <a:ea typeface="Times New Roman" panose="02020603050405020304" pitchFamily="18" charset="0"/>
                <a:cs typeface="Times New Roman" panose="02020603050405020304" pitchFamily="18" charset="0"/>
              </a:rPr>
              <a:t>Modern Enhancements: </a:t>
            </a:r>
          </a:p>
          <a:p>
            <a:pPr marL="0" marR="0">
              <a:lnSpc>
                <a:spcPct val="150000"/>
              </a:lnSpc>
              <a:spcBef>
                <a:spcPts val="0"/>
              </a:spcBef>
              <a:spcAft>
                <a:spcPts val="1200"/>
              </a:spcAft>
              <a:tabLst>
                <a:tab pos="1295400" algn="l"/>
              </a:tabLst>
            </a:pPr>
            <a:r>
              <a:rPr lang="en-US" sz="1800" dirty="0">
                <a:solidFill>
                  <a:srgbClr val="1B1C1D"/>
                </a:solidFill>
                <a:effectLst/>
                <a:latin typeface="Times New Roman" panose="02020603050405020304" pitchFamily="18" charset="0"/>
                <a:ea typeface="Google Sans Text"/>
              </a:rPr>
              <a:t>Recent versions of MATLAB have introduced features like the Live Editor, which allows users to create interactive documents that combine code, output, and formatted text. This evolution reflects MATLAB's ongoing adaptation to meet the needs of its diverse user base across academia and industry. </a:t>
            </a:r>
          </a:p>
        </p:txBody>
      </p:sp>
    </p:spTree>
    <p:extLst>
      <p:ext uri="{BB962C8B-B14F-4D97-AF65-F5344CB8AC3E}">
        <p14:creationId xmlns:p14="http://schemas.microsoft.com/office/powerpoint/2010/main" val="4071917727"/>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761AD-DF87-226E-B232-41976941D3A9}"/>
              </a:ext>
            </a:extLst>
          </p:cNvPr>
          <p:cNvSpPr>
            <a:spLocks noGrp="1"/>
          </p:cNvSpPr>
          <p:nvPr>
            <p:ph type="title"/>
          </p:nvPr>
        </p:nvSpPr>
        <p:spPr>
          <a:xfrm>
            <a:off x="677334" y="609600"/>
            <a:ext cx="8596668" cy="892629"/>
          </a:xfrm>
        </p:spPr>
        <p:txBody>
          <a:bodyPr/>
          <a:lstStyle/>
          <a:p>
            <a:pPr algn="ctr"/>
            <a:r>
              <a:rPr lang="en-US" dirty="0">
                <a:latin typeface="Bahnschrift SemiBold SemiConden" panose="020B0502040204020203" pitchFamily="34" charset="0"/>
              </a:rPr>
              <a:t>METHODOLOGY</a:t>
            </a:r>
          </a:p>
        </p:txBody>
      </p:sp>
      <p:sp>
        <p:nvSpPr>
          <p:cNvPr id="3" name="Content Placeholder 2">
            <a:extLst>
              <a:ext uri="{FF2B5EF4-FFF2-40B4-BE49-F238E27FC236}">
                <a16:creationId xmlns:a16="http://schemas.microsoft.com/office/drawing/2014/main" id="{AD72F2A0-0491-3DC8-A060-ADDD114014CE}"/>
              </a:ext>
            </a:extLst>
          </p:cNvPr>
          <p:cNvSpPr>
            <a:spLocks noGrp="1"/>
          </p:cNvSpPr>
          <p:nvPr>
            <p:ph idx="1"/>
          </p:nvPr>
        </p:nvSpPr>
        <p:spPr>
          <a:xfrm>
            <a:off x="677334" y="1259633"/>
            <a:ext cx="8596668" cy="4781729"/>
          </a:xfrm>
        </p:spPr>
        <p:txBody>
          <a:bodyPr/>
          <a:lstStyle/>
          <a:p>
            <a:pPr marL="0" marR="0" indent="0">
              <a:lnSpc>
                <a:spcPct val="150000"/>
              </a:lnSpc>
              <a:spcBef>
                <a:spcPts val="0"/>
              </a:spcBef>
              <a:spcAft>
                <a:spcPts val="1200"/>
              </a:spcAft>
              <a:buNone/>
              <a:tabLst>
                <a:tab pos="1295400" algn="l"/>
              </a:tabLst>
            </a:pPr>
            <a:r>
              <a:rPr lang="en-US" sz="1800" dirty="0">
                <a:solidFill>
                  <a:srgbClr val="1B1C1D"/>
                </a:solidFill>
                <a:effectLst/>
                <a:latin typeface="Times New Roman" panose="02020603050405020304" pitchFamily="18" charset="0"/>
                <a:ea typeface="Google Sans Text"/>
              </a:rPr>
              <a:t> At the start time of the research, we divided ourselves accordingly depending on the previous assignment of numerical methods. At least each member had to look for information;</a:t>
            </a:r>
          </a:p>
          <a:p>
            <a:pPr marL="342900" marR="0" lvl="0" indent="-342900">
              <a:lnSpc>
                <a:spcPct val="150000"/>
              </a:lnSpc>
              <a:spcBef>
                <a:spcPts val="0"/>
              </a:spcBef>
              <a:spcAft>
                <a:spcPts val="1200"/>
              </a:spcAft>
              <a:buFont typeface="+mj-lt"/>
              <a:buAutoNum type="arabicPeriod"/>
              <a:tabLst>
                <a:tab pos="1295400" algn="l"/>
              </a:tabLst>
            </a:pPr>
            <a:r>
              <a:rPr lang="en-US" sz="1800" dirty="0">
                <a:solidFill>
                  <a:srgbClr val="1B1C1D"/>
                </a:solidFill>
                <a:effectLst/>
                <a:latin typeface="Times New Roman" panose="02020603050405020304" pitchFamily="18" charset="0"/>
                <a:ea typeface="Google Sans Text"/>
              </a:rPr>
              <a:t>1.To research on concepts of </a:t>
            </a:r>
            <a:r>
              <a:rPr lang="en-US" sz="1800" dirty="0" err="1">
                <a:solidFill>
                  <a:srgbClr val="1B1C1D"/>
                </a:solidFill>
                <a:effectLst/>
                <a:latin typeface="Times New Roman" panose="02020603050405020304" pitchFamily="18" charset="0"/>
                <a:ea typeface="Google Sans Text"/>
              </a:rPr>
              <a:t>classes,encapsulation,inheritance,polymorphism</a:t>
            </a:r>
            <a:r>
              <a:rPr lang="en-US" sz="1800" dirty="0">
                <a:solidFill>
                  <a:srgbClr val="1B1C1D"/>
                </a:solidFill>
                <a:effectLst/>
                <a:latin typeface="Times New Roman" panose="02020603050405020304" pitchFamily="18" charset="0"/>
                <a:ea typeface="Google Sans Text"/>
              </a:rPr>
              <a:t> and abstract</a:t>
            </a:r>
          </a:p>
          <a:p>
            <a:pPr marL="342900" marR="0" lvl="0" indent="-342900">
              <a:lnSpc>
                <a:spcPct val="150000"/>
              </a:lnSpc>
              <a:spcBef>
                <a:spcPts val="0"/>
              </a:spcBef>
              <a:spcAft>
                <a:spcPts val="1200"/>
              </a:spcAft>
              <a:buFont typeface="+mj-lt"/>
              <a:buAutoNum type="arabicPeriod"/>
              <a:tabLst>
                <a:tab pos="1295400" algn="l"/>
              </a:tabLst>
            </a:pPr>
            <a:r>
              <a:rPr lang="en-US" sz="1800" dirty="0">
                <a:solidFill>
                  <a:srgbClr val="1B1C1D"/>
                </a:solidFill>
                <a:effectLst/>
                <a:latin typeface="Times New Roman" panose="02020603050405020304" pitchFamily="18" charset="0"/>
                <a:ea typeface="Google Sans Text"/>
              </a:rPr>
              <a:t>The numerical methods for solving computational problems</a:t>
            </a:r>
          </a:p>
          <a:p>
            <a:pPr marL="342900" marR="0" lvl="0" indent="-342900">
              <a:lnSpc>
                <a:spcPct val="150000"/>
              </a:lnSpc>
              <a:spcBef>
                <a:spcPts val="0"/>
              </a:spcBef>
              <a:spcAft>
                <a:spcPts val="1200"/>
              </a:spcAft>
              <a:buFont typeface="+mj-lt"/>
              <a:buAutoNum type="arabicPeriod"/>
              <a:tabLst>
                <a:tab pos="1295400" algn="l"/>
              </a:tabLst>
            </a:pPr>
            <a:r>
              <a:rPr lang="en-US" sz="1800" dirty="0">
                <a:solidFill>
                  <a:srgbClr val="1B1C1D"/>
                </a:solidFill>
                <a:effectLst/>
                <a:latin typeface="Times New Roman" panose="02020603050405020304" pitchFamily="18" charset="0"/>
                <a:ea typeface="Google Sans Text"/>
              </a:rPr>
              <a:t> How to develop and test high level backend</a:t>
            </a:r>
          </a:p>
          <a:p>
            <a:endParaRPr lang="en-US" dirty="0"/>
          </a:p>
        </p:txBody>
      </p:sp>
    </p:spTree>
    <p:extLst>
      <p:ext uri="{BB962C8B-B14F-4D97-AF65-F5344CB8AC3E}">
        <p14:creationId xmlns:p14="http://schemas.microsoft.com/office/powerpoint/2010/main" val="1315747759"/>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942FF-B5BB-E9A5-9BC0-9B72C96596ED}"/>
              </a:ext>
            </a:extLst>
          </p:cNvPr>
          <p:cNvSpPr>
            <a:spLocks noGrp="1"/>
          </p:cNvSpPr>
          <p:nvPr>
            <p:ph type="title"/>
          </p:nvPr>
        </p:nvSpPr>
        <p:spPr>
          <a:xfrm>
            <a:off x="677334" y="609600"/>
            <a:ext cx="8596668" cy="594049"/>
          </a:xfrm>
        </p:spPr>
        <p:txBody>
          <a:bodyPr>
            <a:noAutofit/>
          </a:bodyPr>
          <a:lstStyle/>
          <a:p>
            <a:pPr algn="ctr"/>
            <a:r>
              <a:rPr lang="en-US" sz="3200" b="1" dirty="0">
                <a:effectLst/>
                <a:latin typeface="Bahnschrift SemiBold SemiConden" panose="020B0502040204020203" pitchFamily="34" charset="0"/>
                <a:ea typeface="Google Sans Text"/>
              </a:rPr>
              <a:t>Making equivalent code based on implementation of numerical methods</a:t>
            </a:r>
            <a:endParaRPr lang="en-US" sz="3200" b="1" dirty="0">
              <a:latin typeface="Bahnschrift SemiBold SemiConden" panose="020B0502040204020203" pitchFamily="34" charset="0"/>
            </a:endParaRPr>
          </a:p>
        </p:txBody>
      </p:sp>
      <p:sp>
        <p:nvSpPr>
          <p:cNvPr id="3" name="Content Placeholder 2">
            <a:extLst>
              <a:ext uri="{FF2B5EF4-FFF2-40B4-BE49-F238E27FC236}">
                <a16:creationId xmlns:a16="http://schemas.microsoft.com/office/drawing/2014/main" id="{D9022BCB-A731-5E94-098D-DCA3C5573DB2}"/>
              </a:ext>
            </a:extLst>
          </p:cNvPr>
          <p:cNvSpPr>
            <a:spLocks noGrp="1"/>
          </p:cNvSpPr>
          <p:nvPr>
            <p:ph idx="1"/>
          </p:nvPr>
        </p:nvSpPr>
        <p:spPr>
          <a:xfrm>
            <a:off x="677334" y="1632857"/>
            <a:ext cx="8596668" cy="4408505"/>
          </a:xfrm>
        </p:spPr>
        <p:txBody>
          <a:bodyPr/>
          <a:lstStyle/>
          <a:p>
            <a:pPr marL="0" indent="0">
              <a:buNone/>
            </a:pPr>
            <a:r>
              <a:rPr lang="en-US" sz="1800" dirty="0">
                <a:solidFill>
                  <a:srgbClr val="0000FF"/>
                </a:solidFill>
                <a:effectLst/>
                <a:latin typeface="Times New Roman" panose="02020603050405020304" pitchFamily="18" charset="0"/>
                <a:ea typeface="Google Sans Text"/>
              </a:rPr>
              <a:t>for</a:t>
            </a:r>
            <a:r>
              <a:rPr lang="en-US" sz="1800" dirty="0">
                <a:solidFill>
                  <a:srgbClr val="000000"/>
                </a:solidFill>
                <a:effectLst/>
                <a:latin typeface="Times New Roman" panose="02020603050405020304" pitchFamily="18" charset="0"/>
                <a:ea typeface="Google Sans Text"/>
              </a:rPr>
              <a:t> x = 1:10</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err="1">
                <a:solidFill>
                  <a:srgbClr val="000000"/>
                </a:solidFill>
                <a:effectLst/>
                <a:latin typeface="Times New Roman" panose="02020603050405020304" pitchFamily="18" charset="0"/>
                <a:ea typeface="Google Sans Text"/>
              </a:rPr>
              <a:t>disp</a:t>
            </a:r>
            <a:r>
              <a:rPr lang="en-US" sz="1800" dirty="0">
                <a:solidFill>
                  <a:srgbClr val="000000"/>
                </a:solidFill>
                <a:effectLst/>
                <a:latin typeface="Times New Roman" panose="02020603050405020304" pitchFamily="18" charset="0"/>
                <a:ea typeface="Google Sans Text"/>
              </a:rPr>
              <a:t>(x) </a:t>
            </a:r>
            <a:br>
              <a:rPr lang="en-US" sz="1800" dirty="0">
                <a:solidFill>
                  <a:srgbClr val="000000"/>
                </a:solidFill>
                <a:effectLst/>
                <a:latin typeface="Times New Roman" panose="02020603050405020304" pitchFamily="18" charset="0"/>
                <a:ea typeface="Google Sans Text"/>
              </a:rPr>
            </a:br>
            <a:r>
              <a:rPr lang="en-US" sz="1800" dirty="0">
                <a:solidFill>
                  <a:srgbClr val="0000FF"/>
                </a:solidFill>
                <a:effectLst/>
                <a:latin typeface="Times New Roman" panose="02020603050405020304" pitchFamily="18" charset="0"/>
                <a:ea typeface="Google Sans Text"/>
              </a:rPr>
              <a:t>end</a:t>
            </a:r>
          </a:p>
          <a:p>
            <a:pPr marL="0" indent="0">
              <a:buNone/>
            </a:pPr>
            <a:endParaRPr lang="en-US" sz="1800" dirty="0">
              <a:solidFill>
                <a:srgbClr val="1B1C1D"/>
              </a:solidFill>
              <a:effectLst/>
              <a:latin typeface="Times New Roman" panose="02020603050405020304" pitchFamily="18" charset="0"/>
              <a:ea typeface="Google Sans Text"/>
            </a:endParaRPr>
          </a:p>
        </p:txBody>
      </p:sp>
      <p:sp>
        <p:nvSpPr>
          <p:cNvPr id="6" name="Rectangle: Rounded Corners 5">
            <a:extLst>
              <a:ext uri="{FF2B5EF4-FFF2-40B4-BE49-F238E27FC236}">
                <a16:creationId xmlns:a16="http://schemas.microsoft.com/office/drawing/2014/main" id="{14A6A2C8-A0AE-FCBE-161F-76E0CB4C40A3}"/>
              </a:ext>
            </a:extLst>
          </p:cNvPr>
          <p:cNvSpPr/>
          <p:nvPr/>
        </p:nvSpPr>
        <p:spPr>
          <a:xfrm>
            <a:off x="830424" y="2407298"/>
            <a:ext cx="8220270" cy="41148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926CAE8-758B-EEC9-4018-4C3A60616CA5}"/>
              </a:ext>
            </a:extLst>
          </p:cNvPr>
          <p:cNvSpPr txBox="1"/>
          <p:nvPr/>
        </p:nvSpPr>
        <p:spPr>
          <a:xfrm>
            <a:off x="1342070" y="3033537"/>
            <a:ext cx="7196978" cy="2862322"/>
          </a:xfrm>
          <a:prstGeom prst="rect">
            <a:avLst/>
          </a:prstGeom>
          <a:noFill/>
        </p:spPr>
        <p:txBody>
          <a:bodyPr wrap="square" rtlCol="0">
            <a:spAutoFit/>
          </a:bodyPr>
          <a:lstStyle/>
          <a:p>
            <a:r>
              <a:rPr lang="en-US" sz="1800" dirty="0" err="1">
                <a:solidFill>
                  <a:srgbClr val="0000FF"/>
                </a:solidFill>
                <a:effectLst/>
                <a:latin typeface="Times New Roman" panose="02020603050405020304" pitchFamily="18" charset="0"/>
                <a:ea typeface="Google Sans Text"/>
              </a:rPr>
              <a:t>classdef</a:t>
            </a:r>
            <a:r>
              <a:rPr lang="en-US" sz="1800" dirty="0">
                <a:solidFill>
                  <a:srgbClr val="000000"/>
                </a:solidFill>
                <a:effectLst/>
                <a:latin typeface="Times New Roman" panose="02020603050405020304" pitchFamily="18" charset="0"/>
                <a:ea typeface="Google Sans Text"/>
              </a:rPr>
              <a:t> (Abstract) </a:t>
            </a:r>
            <a:r>
              <a:rPr lang="en-US" sz="1800" dirty="0" err="1">
                <a:solidFill>
                  <a:srgbClr val="000000"/>
                </a:solidFill>
                <a:effectLst/>
                <a:latin typeface="Times New Roman" panose="02020603050405020304" pitchFamily="18" charset="0"/>
                <a:ea typeface="Google Sans Text"/>
              </a:rPr>
              <a:t>NumericalSolver</a:t>
            </a:r>
            <a:r>
              <a:rPr lang="en-US" sz="1800" dirty="0">
                <a:solidFill>
                  <a:srgbClr val="000000"/>
                </a:solidFill>
                <a:effectLst/>
                <a:latin typeface="Times New Roman" panose="02020603050405020304" pitchFamily="18" charset="0"/>
                <a:ea typeface="Google Sans Text"/>
              </a:rPr>
              <a:t> &lt; handle</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a:solidFill>
                  <a:srgbClr val="008000"/>
                </a:solidFill>
                <a:effectLst/>
                <a:latin typeface="Times New Roman" panose="02020603050405020304" pitchFamily="18" charset="0"/>
                <a:ea typeface="Google Sans Text"/>
              </a:rPr>
              <a:t>% Simplifies the base class for Inheritance and Abstraction.</a:t>
            </a:r>
            <a:br>
              <a:rPr lang="en-US" sz="1800" dirty="0">
                <a:solidFill>
                  <a:srgbClr val="000000"/>
                </a:solidFill>
                <a:effectLst/>
                <a:latin typeface="Times New Roman" panose="02020603050405020304" pitchFamily="18" charset="0"/>
                <a:ea typeface="Google Sans Text"/>
              </a:rPr>
            </a:b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a:solidFill>
                  <a:srgbClr val="0000FF"/>
                </a:solidFill>
                <a:effectLst/>
                <a:latin typeface="Times New Roman" panose="02020603050405020304" pitchFamily="18" charset="0"/>
                <a:ea typeface="Google Sans Text"/>
              </a:rPr>
              <a:t>properties</a:t>
            </a:r>
            <a:r>
              <a:rPr lang="en-US" sz="1800" dirty="0">
                <a:solidFill>
                  <a:srgbClr val="000000"/>
                </a:solidFill>
                <a:effectLst/>
                <a:latin typeface="Times New Roman" panose="02020603050405020304" pitchFamily="18" charset="0"/>
                <a:ea typeface="Google Sans Text"/>
              </a:rPr>
              <a:t> (Access = protected)</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a:solidFill>
                  <a:srgbClr val="008000"/>
                </a:solidFill>
                <a:effectLst/>
                <a:latin typeface="Times New Roman" panose="02020603050405020304" pitchFamily="18" charset="0"/>
                <a:ea typeface="Google Sans Text"/>
              </a:rPr>
              <a:t>% Encapsulation: Stores the main function and initial data.</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err="1">
                <a:solidFill>
                  <a:srgbClr val="000000"/>
                </a:solidFill>
                <a:effectLst/>
                <a:latin typeface="Times New Roman" panose="02020603050405020304" pitchFamily="18" charset="0"/>
                <a:ea typeface="Google Sans Text"/>
              </a:rPr>
              <a:t>problem_func</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err="1">
                <a:solidFill>
                  <a:srgbClr val="000000"/>
                </a:solidFill>
                <a:effectLst/>
                <a:latin typeface="Times New Roman" panose="02020603050405020304" pitchFamily="18" charset="0"/>
                <a:ea typeface="Google Sans Text"/>
              </a:rPr>
              <a:t>initial_data</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err="1">
                <a:solidFill>
                  <a:srgbClr val="000000"/>
                </a:solidFill>
                <a:effectLst/>
                <a:latin typeface="Times New Roman" panose="02020603050405020304" pitchFamily="18" charset="0"/>
                <a:ea typeface="Google Sans Text"/>
              </a:rPr>
              <a:t>result_value</a:t>
            </a:r>
            <a:r>
              <a:rPr lang="en-US" sz="1800" dirty="0">
                <a:solidFill>
                  <a:srgbClr val="000000"/>
                </a:solidFill>
                <a:effectLst/>
                <a:latin typeface="Times New Roman" panose="02020603050405020304" pitchFamily="18" charset="0"/>
                <a:ea typeface="Google Sans Text"/>
              </a:rPr>
              <a:t> = </a:t>
            </a:r>
            <a:r>
              <a:rPr lang="en-US" sz="1800" dirty="0" err="1">
                <a:solidFill>
                  <a:srgbClr val="000000"/>
                </a:solidFill>
                <a:effectLst/>
                <a:latin typeface="Times New Roman" panose="02020603050405020304" pitchFamily="18" charset="0"/>
                <a:ea typeface="Google Sans Text"/>
              </a:rPr>
              <a:t>NaN</a:t>
            </a:r>
            <a:r>
              <a:rPr lang="en-US" sz="1800" dirty="0">
                <a:solidFill>
                  <a:srgbClr val="000000"/>
                </a:solidFill>
                <a:effectLst/>
                <a:latin typeface="Times New Roman" panose="02020603050405020304" pitchFamily="18" charset="0"/>
                <a:ea typeface="Google Sans Text"/>
              </a:rPr>
              <a:t>;</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a:solidFill>
                  <a:srgbClr val="0000FF"/>
                </a:solidFill>
                <a:effectLst/>
                <a:latin typeface="Times New Roman" panose="02020603050405020304" pitchFamily="18" charset="0"/>
                <a:ea typeface="Google Sans Text"/>
              </a:rPr>
              <a:t>end</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a:solidFill>
                  <a:srgbClr val="0000FF"/>
                </a:solidFill>
                <a:effectLst/>
                <a:latin typeface="Times New Roman" panose="02020603050405020304" pitchFamily="18" charset="0"/>
                <a:ea typeface="Google Sans Text"/>
              </a:rPr>
              <a:t>methods</a:t>
            </a:r>
            <a:endParaRPr lang="en-US" dirty="0"/>
          </a:p>
        </p:txBody>
      </p:sp>
    </p:spTree>
    <p:extLst>
      <p:ext uri="{BB962C8B-B14F-4D97-AF65-F5344CB8AC3E}">
        <p14:creationId xmlns:p14="http://schemas.microsoft.com/office/powerpoint/2010/main" val="3969773366"/>
      </p:ext>
    </p:extLst>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9A0F5A9-4005-2F30-770E-34FAD91BAB07}"/>
              </a:ext>
            </a:extLst>
          </p:cNvPr>
          <p:cNvSpPr/>
          <p:nvPr/>
        </p:nvSpPr>
        <p:spPr>
          <a:xfrm>
            <a:off x="765110" y="569167"/>
            <a:ext cx="8434874" cy="3139223"/>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60876BD-8124-2878-551A-A5D0EA2E829A}"/>
              </a:ext>
            </a:extLst>
          </p:cNvPr>
          <p:cNvSpPr txBox="1"/>
          <p:nvPr/>
        </p:nvSpPr>
        <p:spPr>
          <a:xfrm>
            <a:off x="1744824" y="1110342"/>
            <a:ext cx="6759096" cy="1754326"/>
          </a:xfrm>
          <a:prstGeom prst="rect">
            <a:avLst/>
          </a:prstGeom>
          <a:noFill/>
        </p:spPr>
        <p:txBody>
          <a:bodyPr wrap="square" rtlCol="0">
            <a:spAutoFit/>
          </a:bodyPr>
          <a:lstStyle/>
          <a:p>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function</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obj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NumericalSolver</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func</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initial)</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8000"/>
                </a:solidFill>
                <a:effectLst/>
                <a:latin typeface="Times New Roman" panose="02020603050405020304" pitchFamily="18" charset="0"/>
                <a:ea typeface="Calibri" panose="020F0502020204030204" pitchFamily="34" charset="0"/>
                <a:cs typeface="Times New Roman" panose="02020603050405020304" pitchFamily="18" charset="0"/>
              </a:rPr>
              <a:t>% Constructor</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obj.problem_func</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func</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obj.initial_data</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initial;</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end</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end</a:t>
            </a:r>
            <a:endParaRPr lang="en-US" dirty="0"/>
          </a:p>
        </p:txBody>
      </p:sp>
      <p:cxnSp>
        <p:nvCxnSpPr>
          <p:cNvPr id="5" name="Straight Connector 4">
            <a:extLst>
              <a:ext uri="{FF2B5EF4-FFF2-40B4-BE49-F238E27FC236}">
                <a16:creationId xmlns:a16="http://schemas.microsoft.com/office/drawing/2014/main" id="{8743BAC4-6A62-90C9-323C-6A2B042319D9}"/>
              </a:ext>
            </a:extLst>
          </p:cNvPr>
          <p:cNvCxnSpPr>
            <a:cxnSpLocks/>
          </p:cNvCxnSpPr>
          <p:nvPr/>
        </p:nvCxnSpPr>
        <p:spPr>
          <a:xfrm>
            <a:off x="998375" y="3708390"/>
            <a:ext cx="7819054" cy="0"/>
          </a:xfrm>
          <a:prstGeom prst="line">
            <a:avLst/>
          </a:prstGeom>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D0B8EA77-3488-CAA3-5623-8E142BD85152}"/>
              </a:ext>
            </a:extLst>
          </p:cNvPr>
          <p:cNvSpPr txBox="1"/>
          <p:nvPr/>
        </p:nvSpPr>
        <p:spPr>
          <a:xfrm>
            <a:off x="1744824" y="3576320"/>
            <a:ext cx="242374" cy="369332"/>
          </a:xfrm>
          <a:prstGeom prst="rect">
            <a:avLst/>
          </a:prstGeom>
          <a:noFill/>
        </p:spPr>
        <p:txBody>
          <a:bodyPr wrap="none" rtlCol="0">
            <a:spAutoFit/>
          </a:bodyPr>
          <a:lstStyle/>
          <a:p>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dirty="0"/>
          </a:p>
        </p:txBody>
      </p:sp>
      <p:sp>
        <p:nvSpPr>
          <p:cNvPr id="7" name="Rectangle: Rounded Corners 6">
            <a:extLst>
              <a:ext uri="{FF2B5EF4-FFF2-40B4-BE49-F238E27FC236}">
                <a16:creationId xmlns:a16="http://schemas.microsoft.com/office/drawing/2014/main" id="{6D9970F4-DA64-6939-A6CF-1BF3B1CFD2E2}"/>
              </a:ext>
            </a:extLst>
          </p:cNvPr>
          <p:cNvSpPr/>
          <p:nvPr/>
        </p:nvSpPr>
        <p:spPr>
          <a:xfrm>
            <a:off x="765110" y="3708399"/>
            <a:ext cx="8434874" cy="216868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8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methods</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(Abstract</a:t>
            </a:r>
          </a:p>
          <a:p>
            <a:pPr algn="ctr"/>
            <a:r>
              <a:rPr lang="en-US" sz="1800" dirty="0">
                <a:solidFill>
                  <a:srgbClr val="008000"/>
                </a:solidFill>
                <a:effectLst/>
                <a:latin typeface="Times New Roman" panose="02020603050405020304" pitchFamily="18" charset="0"/>
                <a:ea typeface="Calibri" panose="020F0502020204030204" pitchFamily="34" charset="0"/>
                <a:cs typeface="Times New Roman" panose="02020603050405020304" pitchFamily="18" charset="0"/>
              </a:rPr>
              <a:t>% Abstraction &amp; Polymorphism: Forces subclasses to implement these.</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solve(obj)</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displayResults</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(obj)</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end</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err="1">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end</a:t>
            </a:r>
            <a:endParaRPr lang="en-US" sz="1800" dirty="0">
              <a:effectLst/>
              <a:latin typeface="Lucida Console" panose="020B0609040504020204" pitchFamily="49" charset="0"/>
              <a:ea typeface="Calibri" panose="020F0502020204030204" pitchFamily="34" charset="0"/>
              <a:cs typeface="Times New Roman" panose="02020603050405020304" pitchFamily="18" charset="0"/>
            </a:endParaRPr>
          </a:p>
          <a:p>
            <a:pPr algn="ctr"/>
            <a:endParaRPr lang="en-US" dirty="0"/>
          </a:p>
        </p:txBody>
      </p:sp>
    </p:spTree>
    <p:extLst>
      <p:ext uri="{BB962C8B-B14F-4D97-AF65-F5344CB8AC3E}">
        <p14:creationId xmlns:p14="http://schemas.microsoft.com/office/powerpoint/2010/main" val="3730080816"/>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58F5-277F-A5E2-68BD-78D2CDCA1737}"/>
              </a:ext>
            </a:extLst>
          </p:cNvPr>
          <p:cNvSpPr>
            <a:spLocks noGrp="1"/>
          </p:cNvSpPr>
          <p:nvPr>
            <p:ph type="title"/>
          </p:nvPr>
        </p:nvSpPr>
        <p:spPr/>
        <p:txBody>
          <a:bodyPr/>
          <a:lstStyle/>
          <a:p>
            <a:r>
              <a:rPr lang="en-US" sz="1800" b="1" dirty="0">
                <a:effectLst/>
                <a:latin typeface="Bahnschrift SemiBold SemiConden" panose="020B0502040204020203" pitchFamily="34" charset="0"/>
                <a:ea typeface="Google Sans Text"/>
              </a:rPr>
              <a:t>With the inheritance from the numerical methods the following subclasses are created for solving computational problems</a:t>
            </a:r>
            <a:r>
              <a:rPr lang="en-US" sz="1800" dirty="0">
                <a:effectLst/>
                <a:latin typeface="Bahnschrift SemiBold SemiConden" panose="020B0502040204020203" pitchFamily="34" charset="0"/>
                <a:ea typeface="Google Sans Text"/>
              </a:rPr>
              <a:t> </a:t>
            </a:r>
            <a:br>
              <a:rPr lang="en-US" sz="1800" dirty="0">
                <a:effectLst/>
                <a:latin typeface="Bahnschrift SemiBold SemiConden" panose="020B0502040204020203" pitchFamily="34" charset="0"/>
                <a:ea typeface="Google Sans Text"/>
              </a:rPr>
            </a:br>
            <a:br>
              <a:rPr lang="en-US" sz="1800" dirty="0">
                <a:effectLst/>
                <a:latin typeface="Bahnschrift SemiBold SemiConden" panose="020B0502040204020203" pitchFamily="34" charset="0"/>
                <a:ea typeface="Google Sans Text"/>
              </a:rPr>
            </a:br>
            <a:r>
              <a:rPr lang="en-US" sz="2400" b="1" dirty="0">
                <a:effectLst/>
                <a:latin typeface="Bahnschrift SemiBold SemiConden" panose="020B0502040204020203" pitchFamily="34" charset="0"/>
                <a:ea typeface="Google Sans Text"/>
              </a:rPr>
              <a:t>DIFFERENTIAL SOLVER BY INHERITING FROM NUMERICAL SOLVER</a:t>
            </a:r>
            <a:endParaRPr lang="en-US" sz="2400" b="1" dirty="0">
              <a:latin typeface="Bahnschrift SemiBold SemiConden" panose="020B0502040204020203" pitchFamily="34" charset="0"/>
            </a:endParaRPr>
          </a:p>
        </p:txBody>
      </p:sp>
      <p:sp>
        <p:nvSpPr>
          <p:cNvPr id="4" name="Content Placeholder 3">
            <a:extLst>
              <a:ext uri="{FF2B5EF4-FFF2-40B4-BE49-F238E27FC236}">
                <a16:creationId xmlns:a16="http://schemas.microsoft.com/office/drawing/2014/main" id="{5B542BA1-AC65-ECB1-45D6-0C6053087009}"/>
              </a:ext>
            </a:extLst>
          </p:cNvPr>
          <p:cNvSpPr>
            <a:spLocks noGrp="1"/>
          </p:cNvSpPr>
          <p:nvPr>
            <p:ph sz="half" idx="2"/>
          </p:nvPr>
        </p:nvSpPr>
        <p:spPr>
          <a:xfrm>
            <a:off x="675745" y="1930401"/>
            <a:ext cx="4185623" cy="4795518"/>
          </a:xfrm>
        </p:spPr>
        <p:txBody>
          <a:bodyPr>
            <a:normAutofit fontScale="85000" lnSpcReduction="20000"/>
          </a:bodyPr>
          <a:lstStyle/>
          <a:p>
            <a:pPr marL="0" indent="0">
              <a:buNone/>
            </a:pPr>
            <a:r>
              <a:rPr lang="en-US" sz="1800" dirty="0" err="1">
                <a:solidFill>
                  <a:srgbClr val="0000FF"/>
                </a:solidFill>
                <a:effectLst/>
                <a:latin typeface="Times New Roman" panose="02020603050405020304" pitchFamily="18" charset="0"/>
                <a:ea typeface="Google Sans Text"/>
              </a:rPr>
              <a:t>classdef</a:t>
            </a:r>
            <a:r>
              <a:rPr lang="en-US" sz="1800" dirty="0">
                <a:solidFill>
                  <a:srgbClr val="000000"/>
                </a:solidFill>
                <a:effectLst/>
                <a:latin typeface="Times New Roman" panose="02020603050405020304" pitchFamily="18" charset="0"/>
                <a:ea typeface="Google Sans Text"/>
              </a:rPr>
              <a:t> </a:t>
            </a:r>
            <a:r>
              <a:rPr lang="en-US" sz="1800" dirty="0" err="1">
                <a:solidFill>
                  <a:srgbClr val="000000"/>
                </a:solidFill>
                <a:effectLst/>
                <a:latin typeface="Times New Roman" panose="02020603050405020304" pitchFamily="18" charset="0"/>
                <a:ea typeface="Google Sans Text"/>
              </a:rPr>
              <a:t>DifferentialProblem</a:t>
            </a:r>
            <a:r>
              <a:rPr lang="en-US" sz="1800" dirty="0">
                <a:solidFill>
                  <a:srgbClr val="000000"/>
                </a:solidFill>
                <a:effectLst/>
                <a:latin typeface="Times New Roman" panose="02020603050405020304" pitchFamily="18" charset="0"/>
                <a:ea typeface="Google Sans Text"/>
              </a:rPr>
              <a:t> &lt; </a:t>
            </a:r>
            <a:r>
              <a:rPr lang="en-US" sz="1800" dirty="0" err="1">
                <a:solidFill>
                  <a:srgbClr val="000000"/>
                </a:solidFill>
                <a:effectLst/>
                <a:latin typeface="Times New Roman" panose="02020603050405020304" pitchFamily="18" charset="0"/>
                <a:ea typeface="Google Sans Text"/>
              </a:rPr>
              <a:t>NumericalSolver</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a:solidFill>
                  <a:srgbClr val="008000"/>
                </a:solidFill>
                <a:effectLst/>
                <a:latin typeface="Times New Roman" panose="02020603050405020304" pitchFamily="18" charset="0"/>
                <a:ea typeface="Google Sans Text"/>
              </a:rPr>
              <a:t>% Inherits from </a:t>
            </a:r>
            <a:r>
              <a:rPr lang="en-US" sz="1800" dirty="0" err="1">
                <a:solidFill>
                  <a:srgbClr val="008000"/>
                </a:solidFill>
                <a:effectLst/>
                <a:latin typeface="Times New Roman" panose="02020603050405020304" pitchFamily="18" charset="0"/>
                <a:ea typeface="Google Sans Text"/>
              </a:rPr>
              <a:t>NumericalSolver</a:t>
            </a:r>
            <a:r>
              <a:rPr lang="en-US" sz="1800" dirty="0">
                <a:solidFill>
                  <a:srgbClr val="008000"/>
                </a:solidFill>
                <a:effectLst/>
                <a:latin typeface="Times New Roman" panose="02020603050405020304" pitchFamily="18" charset="0"/>
                <a:ea typeface="Google Sans Text"/>
              </a:rPr>
              <a:t> and implements root-finding methods.</a:t>
            </a:r>
            <a:br>
              <a:rPr lang="en-US" sz="1800" dirty="0">
                <a:solidFill>
                  <a:srgbClr val="000000"/>
                </a:solidFill>
                <a:effectLst/>
                <a:latin typeface="Times New Roman" panose="02020603050405020304" pitchFamily="18" charset="0"/>
                <a:ea typeface="Google Sans Text"/>
              </a:rPr>
            </a:b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a:solidFill>
                  <a:srgbClr val="0000FF"/>
                </a:solidFill>
                <a:effectLst/>
                <a:latin typeface="Times New Roman" panose="02020603050405020304" pitchFamily="18" charset="0"/>
                <a:ea typeface="Google Sans Text"/>
              </a:rPr>
              <a:t>properties</a:t>
            </a:r>
            <a:r>
              <a:rPr lang="en-US" sz="1800" dirty="0">
                <a:solidFill>
                  <a:srgbClr val="000000"/>
                </a:solidFill>
                <a:effectLst/>
                <a:latin typeface="Times New Roman" panose="02020603050405020304" pitchFamily="18" charset="0"/>
                <a:ea typeface="Google Sans Text"/>
              </a:rPr>
              <a:t> (Access = private)</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a:solidFill>
                  <a:srgbClr val="008000"/>
                </a:solidFill>
                <a:effectLst/>
                <a:latin typeface="Times New Roman" panose="02020603050405020304" pitchFamily="18" charset="0"/>
                <a:ea typeface="Google Sans Text"/>
              </a:rPr>
              <a:t>% Encapsulation: Root-finding specific parameters.</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tolerance = 1e-6;</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err="1">
                <a:solidFill>
                  <a:srgbClr val="000000"/>
                </a:solidFill>
                <a:effectLst/>
                <a:latin typeface="Times New Roman" panose="02020603050405020304" pitchFamily="18" charset="0"/>
                <a:ea typeface="Google Sans Text"/>
              </a:rPr>
              <a:t>max_iterations</a:t>
            </a:r>
            <a:r>
              <a:rPr lang="en-US" sz="1800" dirty="0">
                <a:solidFill>
                  <a:srgbClr val="000000"/>
                </a:solidFill>
                <a:effectLst/>
                <a:latin typeface="Times New Roman" panose="02020603050405020304" pitchFamily="18" charset="0"/>
                <a:ea typeface="Google Sans Text"/>
              </a:rPr>
              <a:t> = 50;</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err="1">
                <a:solidFill>
                  <a:srgbClr val="000000"/>
                </a:solidFill>
                <a:effectLst/>
                <a:latin typeface="Times New Roman" panose="02020603050405020304" pitchFamily="18" charset="0"/>
                <a:ea typeface="Google Sans Text"/>
              </a:rPr>
              <a:t>method_used</a:t>
            </a:r>
            <a:r>
              <a:rPr lang="en-US" sz="1800" dirty="0">
                <a:solidFill>
                  <a:srgbClr val="000000"/>
                </a:solidFill>
                <a:effectLst/>
                <a:latin typeface="Times New Roman" panose="02020603050405020304" pitchFamily="18" charset="0"/>
                <a:ea typeface="Google Sans Text"/>
              </a:rPr>
              <a:t> = </a:t>
            </a:r>
            <a:r>
              <a:rPr lang="en-US" sz="1800" dirty="0">
                <a:solidFill>
                  <a:srgbClr val="800000"/>
                </a:solidFill>
                <a:effectLst/>
                <a:latin typeface="Times New Roman" panose="02020603050405020304" pitchFamily="18" charset="0"/>
                <a:ea typeface="Google Sans Text"/>
              </a:rPr>
              <a:t>'None'</a:t>
            </a:r>
            <a:r>
              <a:rPr lang="en-US" sz="1800" dirty="0">
                <a:solidFill>
                  <a:srgbClr val="000000"/>
                </a:solidFill>
                <a:effectLst/>
                <a:latin typeface="Times New Roman" panose="02020603050405020304" pitchFamily="18" charset="0"/>
                <a:ea typeface="Google Sans Text"/>
              </a:rPr>
              <a:t>;</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a:solidFill>
                  <a:srgbClr val="0000FF"/>
                </a:solidFill>
                <a:effectLst/>
                <a:latin typeface="Times New Roman" panose="02020603050405020304" pitchFamily="18" charset="0"/>
                <a:ea typeface="Google Sans Text"/>
              </a:rPr>
              <a:t>end</a:t>
            </a:r>
            <a:br>
              <a:rPr lang="en-US" sz="1800" dirty="0">
                <a:solidFill>
                  <a:srgbClr val="000000"/>
                </a:solidFill>
                <a:effectLst/>
                <a:latin typeface="Times New Roman" panose="02020603050405020304" pitchFamily="18" charset="0"/>
                <a:ea typeface="Google Sans Text"/>
              </a:rPr>
            </a:b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a:solidFill>
                  <a:srgbClr val="0000FF"/>
                </a:solidFill>
                <a:effectLst/>
                <a:latin typeface="Times New Roman" panose="02020603050405020304" pitchFamily="18" charset="0"/>
                <a:ea typeface="Google Sans Text"/>
              </a:rPr>
              <a:t>methods</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a:solidFill>
                  <a:srgbClr val="0000FF"/>
                </a:solidFill>
                <a:effectLst/>
                <a:latin typeface="Times New Roman" panose="02020603050405020304" pitchFamily="18" charset="0"/>
                <a:ea typeface="Google Sans Text"/>
              </a:rPr>
              <a:t>function</a:t>
            </a:r>
            <a:r>
              <a:rPr lang="en-US" sz="1800" dirty="0">
                <a:solidFill>
                  <a:srgbClr val="000000"/>
                </a:solidFill>
                <a:effectLst/>
                <a:latin typeface="Times New Roman" panose="02020603050405020304" pitchFamily="18" charset="0"/>
                <a:ea typeface="Google Sans Text"/>
              </a:rPr>
              <a:t> obj = </a:t>
            </a:r>
            <a:r>
              <a:rPr lang="en-US" sz="1800" dirty="0" err="1">
                <a:solidFill>
                  <a:srgbClr val="000000"/>
                </a:solidFill>
                <a:effectLst/>
                <a:latin typeface="Times New Roman" panose="02020603050405020304" pitchFamily="18" charset="0"/>
                <a:ea typeface="Google Sans Text"/>
              </a:rPr>
              <a:t>DifferentialProblem</a:t>
            </a:r>
            <a:r>
              <a:rPr lang="en-US" sz="1800" dirty="0">
                <a:solidFill>
                  <a:srgbClr val="000000"/>
                </a:solidFill>
                <a:effectLst/>
                <a:latin typeface="Times New Roman" panose="02020603050405020304" pitchFamily="18" charset="0"/>
                <a:ea typeface="Google Sans Text"/>
              </a:rPr>
              <a:t>(</a:t>
            </a:r>
            <a:r>
              <a:rPr lang="en-US" sz="1800" dirty="0" err="1">
                <a:solidFill>
                  <a:srgbClr val="000000"/>
                </a:solidFill>
                <a:effectLst/>
                <a:latin typeface="Times New Roman" panose="02020603050405020304" pitchFamily="18" charset="0"/>
                <a:ea typeface="Google Sans Text"/>
              </a:rPr>
              <a:t>func</a:t>
            </a:r>
            <a:r>
              <a:rPr lang="en-US" sz="1800" dirty="0">
                <a:solidFill>
                  <a:srgbClr val="000000"/>
                </a:solidFill>
                <a:effectLst/>
                <a:latin typeface="Times New Roman" panose="02020603050405020304" pitchFamily="18" charset="0"/>
                <a:ea typeface="Google Sans Text"/>
              </a:rPr>
              <a:t>, </a:t>
            </a:r>
            <a:r>
              <a:rPr lang="en-US" sz="1800" dirty="0" err="1">
                <a:solidFill>
                  <a:srgbClr val="000000"/>
                </a:solidFill>
                <a:effectLst/>
                <a:latin typeface="Times New Roman" panose="02020603050405020304" pitchFamily="18" charset="0"/>
                <a:ea typeface="Google Sans Text"/>
              </a:rPr>
              <a:t>initial_guess</a:t>
            </a:r>
            <a:r>
              <a:rPr lang="en-US" sz="1800" dirty="0">
                <a:solidFill>
                  <a:srgbClr val="000000"/>
                </a:solidFill>
                <a:effectLst/>
                <a:latin typeface="Times New Roman" panose="02020603050405020304" pitchFamily="18" charset="0"/>
                <a:ea typeface="Google Sans Text"/>
              </a:rPr>
              <a:t>)</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a:solidFill>
                  <a:srgbClr val="008000"/>
                </a:solidFill>
                <a:effectLst/>
                <a:latin typeface="Times New Roman" panose="02020603050405020304" pitchFamily="18" charset="0"/>
                <a:ea typeface="Google Sans Text"/>
              </a:rPr>
              <a:t>% Calls Superclass constructor: </a:t>
            </a:r>
            <a:r>
              <a:rPr lang="en-US" sz="1800" dirty="0" err="1">
                <a:solidFill>
                  <a:srgbClr val="008000"/>
                </a:solidFill>
                <a:effectLst/>
                <a:latin typeface="Times New Roman" panose="02020603050405020304" pitchFamily="18" charset="0"/>
                <a:ea typeface="Google Sans Text"/>
              </a:rPr>
              <a:t>RootFinder</a:t>
            </a:r>
            <a:r>
              <a:rPr lang="en-US" sz="1800" dirty="0">
                <a:solidFill>
                  <a:srgbClr val="008000"/>
                </a:solidFill>
                <a:effectLst/>
                <a:latin typeface="Times New Roman" panose="02020603050405020304" pitchFamily="18" charset="0"/>
                <a:ea typeface="Google Sans Text"/>
              </a:rPr>
              <a:t>(@func, x0 or [x0, x1])</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obj = </a:t>
            </a:r>
            <a:r>
              <a:rPr lang="en-US" sz="1800" dirty="0" err="1">
                <a:solidFill>
                  <a:srgbClr val="000000"/>
                </a:solidFill>
                <a:effectLst/>
                <a:latin typeface="Times New Roman" panose="02020603050405020304" pitchFamily="18" charset="0"/>
                <a:ea typeface="Google Sans Text"/>
              </a:rPr>
              <a:t>obj@NumericalSolver</a:t>
            </a:r>
            <a:r>
              <a:rPr lang="en-US" sz="1800" dirty="0">
                <a:solidFill>
                  <a:srgbClr val="000000"/>
                </a:solidFill>
                <a:effectLst/>
                <a:latin typeface="Times New Roman" panose="02020603050405020304" pitchFamily="18" charset="0"/>
                <a:ea typeface="Google Sans Text"/>
              </a:rPr>
              <a:t>(</a:t>
            </a:r>
            <a:r>
              <a:rPr lang="en-US" sz="1800" dirty="0" err="1">
                <a:solidFill>
                  <a:srgbClr val="000000"/>
                </a:solidFill>
                <a:effectLst/>
                <a:latin typeface="Times New Roman" panose="02020603050405020304" pitchFamily="18" charset="0"/>
                <a:ea typeface="Google Sans Text"/>
              </a:rPr>
              <a:t>func</a:t>
            </a:r>
            <a:r>
              <a:rPr lang="en-US" sz="1800" dirty="0">
                <a:solidFill>
                  <a:srgbClr val="000000"/>
                </a:solidFill>
                <a:effectLst/>
                <a:latin typeface="Times New Roman" panose="02020603050405020304" pitchFamily="18" charset="0"/>
                <a:ea typeface="Google Sans Text"/>
              </a:rPr>
              <a:t>, </a:t>
            </a:r>
            <a:r>
              <a:rPr lang="en-US" sz="1800" dirty="0" err="1">
                <a:solidFill>
                  <a:srgbClr val="000000"/>
                </a:solidFill>
                <a:effectLst/>
                <a:latin typeface="Times New Roman" panose="02020603050405020304" pitchFamily="18" charset="0"/>
                <a:ea typeface="Google Sans Text"/>
              </a:rPr>
              <a:t>initial_guess</a:t>
            </a:r>
            <a:r>
              <a:rPr lang="en-US" sz="1800" dirty="0">
                <a:solidFill>
                  <a:srgbClr val="000000"/>
                </a:solidFill>
                <a:effectLst/>
                <a:latin typeface="Times New Roman" panose="02020603050405020304" pitchFamily="18" charset="0"/>
                <a:ea typeface="Google Sans Text"/>
              </a:rPr>
              <a:t>);</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a:solidFill>
                  <a:srgbClr val="0000FF"/>
                </a:solidFill>
                <a:effectLst/>
                <a:latin typeface="Times New Roman" panose="02020603050405020304" pitchFamily="18" charset="0"/>
                <a:ea typeface="Google Sans Text"/>
              </a:rPr>
              <a:t>end</a:t>
            </a:r>
            <a:br>
              <a:rPr lang="en-US" sz="1800" dirty="0">
                <a:solidFill>
                  <a:srgbClr val="000000"/>
                </a:solidFill>
                <a:effectLst/>
                <a:latin typeface="Times New Roman" panose="02020603050405020304" pitchFamily="18" charset="0"/>
                <a:ea typeface="Google Sans Text"/>
              </a:rPr>
            </a:b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a:solidFill>
                  <a:srgbClr val="0000FF"/>
                </a:solidFill>
                <a:effectLst/>
                <a:latin typeface="Times New Roman" panose="02020603050405020304" pitchFamily="18" charset="0"/>
                <a:ea typeface="Google Sans Text"/>
              </a:rPr>
              <a:t>function</a:t>
            </a:r>
            <a:r>
              <a:rPr lang="en-US" sz="1800" dirty="0">
                <a:solidFill>
                  <a:srgbClr val="000000"/>
                </a:solidFill>
                <a:effectLst/>
                <a:latin typeface="Times New Roman" panose="02020603050405020304" pitchFamily="18" charset="0"/>
                <a:ea typeface="Google Sans Text"/>
              </a:rPr>
              <a:t> solve(obj, method)</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a:solidFill>
                  <a:srgbClr val="008000"/>
                </a:solidFill>
                <a:effectLst/>
                <a:latin typeface="Times New Roman" panose="02020603050405020304" pitchFamily="18" charset="0"/>
                <a:ea typeface="Google Sans Text"/>
              </a:rPr>
              <a:t>% Polymorphism: Implements the abstract 'solve' method.</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err="1">
                <a:solidFill>
                  <a:srgbClr val="000000"/>
                </a:solidFill>
                <a:effectLst/>
                <a:latin typeface="Times New Roman" panose="02020603050405020304" pitchFamily="18" charset="0"/>
                <a:ea typeface="Google Sans Text"/>
              </a:rPr>
              <a:t>obj.method_used</a:t>
            </a:r>
            <a:r>
              <a:rPr lang="en-US" sz="1800" dirty="0">
                <a:solidFill>
                  <a:srgbClr val="000000"/>
                </a:solidFill>
                <a:effectLst/>
                <a:latin typeface="Times New Roman" panose="02020603050405020304" pitchFamily="18" charset="0"/>
                <a:ea typeface="Google Sans Text"/>
              </a:rPr>
              <a:t> = lower(method);</a:t>
            </a:r>
            <a:endParaRPr lang="en-US" dirty="0"/>
          </a:p>
        </p:txBody>
      </p:sp>
      <p:sp>
        <p:nvSpPr>
          <p:cNvPr id="6" name="Content Placeholder 5">
            <a:extLst>
              <a:ext uri="{FF2B5EF4-FFF2-40B4-BE49-F238E27FC236}">
                <a16:creationId xmlns:a16="http://schemas.microsoft.com/office/drawing/2014/main" id="{32BDBE6C-3303-780F-885F-57895F3ABDD3}"/>
              </a:ext>
            </a:extLst>
          </p:cNvPr>
          <p:cNvSpPr>
            <a:spLocks noGrp="1"/>
          </p:cNvSpPr>
          <p:nvPr>
            <p:ph sz="quarter" idx="4"/>
          </p:nvPr>
        </p:nvSpPr>
        <p:spPr>
          <a:xfrm>
            <a:off x="5088384" y="1930400"/>
            <a:ext cx="4185617" cy="4795519"/>
          </a:xfrm>
        </p:spPr>
        <p:txBody>
          <a:bodyPr>
            <a:normAutofit fontScale="85000" lnSpcReduction="20000"/>
          </a:bodyPr>
          <a:lstStyle/>
          <a:p>
            <a:r>
              <a:rPr lang="en-US" sz="1800" dirty="0">
                <a:solidFill>
                  <a:srgbClr val="000000"/>
                </a:solidFill>
                <a:effectLst/>
                <a:latin typeface="Times New Roman" panose="02020603050405020304" pitchFamily="18" charset="0"/>
                <a:ea typeface="Google Sans Text"/>
              </a:rPr>
              <a:t> </a:t>
            </a:r>
            <a:endParaRPr lang="en-US" dirty="0"/>
          </a:p>
        </p:txBody>
      </p:sp>
      <p:sp>
        <p:nvSpPr>
          <p:cNvPr id="7" name="Rectangle: Rounded Corners 6">
            <a:extLst>
              <a:ext uri="{FF2B5EF4-FFF2-40B4-BE49-F238E27FC236}">
                <a16:creationId xmlns:a16="http://schemas.microsoft.com/office/drawing/2014/main" id="{B44F46A9-79EA-AFE4-63E5-C31B4109E5BD}"/>
              </a:ext>
            </a:extLst>
          </p:cNvPr>
          <p:cNvSpPr/>
          <p:nvPr/>
        </p:nvSpPr>
        <p:spPr>
          <a:xfrm>
            <a:off x="451955" y="1899921"/>
            <a:ext cx="4462016" cy="498855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6C59DF8A-3F3F-C4EF-39D2-EFF9C9EB51BE}"/>
              </a:ext>
            </a:extLst>
          </p:cNvPr>
          <p:cNvSpPr/>
          <p:nvPr/>
        </p:nvSpPr>
        <p:spPr>
          <a:xfrm>
            <a:off x="4950184" y="1729895"/>
            <a:ext cx="4462016" cy="50800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CBFFAD5-7686-F30B-BFD8-4EC9D1EC481E}"/>
              </a:ext>
            </a:extLst>
          </p:cNvPr>
          <p:cNvSpPr txBox="1"/>
          <p:nvPr/>
        </p:nvSpPr>
        <p:spPr>
          <a:xfrm>
            <a:off x="5488177" y="1686510"/>
            <a:ext cx="4062223" cy="5262979"/>
          </a:xfrm>
          <a:prstGeom prst="rect">
            <a:avLst/>
          </a:prstGeom>
          <a:noFill/>
        </p:spPr>
        <p:txBody>
          <a:bodyPr wrap="square" rtlCol="0">
            <a:spAutoFit/>
          </a:bodyPr>
          <a:lstStyle/>
          <a:p>
            <a:r>
              <a:rPr lang="en-US" sz="1400" dirty="0">
                <a:solidFill>
                  <a:srgbClr val="000000"/>
                </a:solidFill>
                <a:effectLst/>
                <a:latin typeface="Times New Roman" panose="02020603050405020304" pitchFamily="18" charset="0"/>
                <a:ea typeface="Google Sans Text"/>
              </a:rPr>
              <a:t>x0 = </a:t>
            </a:r>
            <a:r>
              <a:rPr lang="en-US" sz="1400" dirty="0" err="1">
                <a:solidFill>
                  <a:srgbClr val="000000"/>
                </a:solidFill>
                <a:effectLst/>
                <a:latin typeface="Times New Roman" panose="02020603050405020304" pitchFamily="18" charset="0"/>
                <a:ea typeface="Google Sans Text"/>
              </a:rPr>
              <a:t>obj.initial_data</a:t>
            </a:r>
            <a:r>
              <a:rPr lang="en-US" sz="1400" dirty="0">
                <a:solidFill>
                  <a:srgbClr val="000000"/>
                </a:solidFill>
                <a:effectLst/>
                <a:latin typeface="Times New Roman" panose="02020603050405020304" pitchFamily="18" charset="0"/>
                <a:ea typeface="Google Sans Text"/>
              </a:rPr>
              <a:t>; </a:t>
            </a:r>
            <a:r>
              <a:rPr lang="en-US" sz="1400" dirty="0">
                <a:solidFill>
                  <a:srgbClr val="008000"/>
                </a:solidFill>
                <a:effectLst/>
                <a:latin typeface="Times New Roman" panose="02020603050405020304" pitchFamily="18" charset="0"/>
                <a:ea typeface="Google Sans Text"/>
              </a:rPr>
              <a:t>% Initial guess(es)</a:t>
            </a:r>
            <a:br>
              <a:rPr lang="en-US" sz="1400" dirty="0">
                <a:solidFill>
                  <a:srgbClr val="000000"/>
                </a:solidFill>
                <a:effectLst/>
                <a:latin typeface="Times New Roman" panose="02020603050405020304" pitchFamily="18" charset="0"/>
                <a:ea typeface="Google Sans Text"/>
              </a:rPr>
            </a:b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a:solidFill>
                  <a:srgbClr val="0000FF"/>
                </a:solidFill>
                <a:effectLst/>
                <a:latin typeface="Times New Roman" panose="02020603050405020304" pitchFamily="18" charset="0"/>
                <a:ea typeface="Google Sans Text"/>
              </a:rPr>
              <a:t>switch</a:t>
            </a:r>
            <a:r>
              <a:rPr lang="en-US" sz="1400" dirty="0">
                <a:solidFill>
                  <a:srgbClr val="000000"/>
                </a:solidFill>
                <a:effectLst/>
                <a:latin typeface="Times New Roman" panose="02020603050405020304" pitchFamily="18" charset="0"/>
                <a:ea typeface="Google Sans Text"/>
              </a:rPr>
              <a:t> </a:t>
            </a:r>
            <a:r>
              <a:rPr lang="en-US" sz="1400" dirty="0" err="1">
                <a:solidFill>
                  <a:srgbClr val="000000"/>
                </a:solidFill>
                <a:effectLst/>
                <a:latin typeface="Times New Roman" panose="02020603050405020304" pitchFamily="18" charset="0"/>
                <a:ea typeface="Google Sans Text"/>
              </a:rPr>
              <a:t>obj.method_used</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a:solidFill>
                  <a:srgbClr val="0000FF"/>
                </a:solidFill>
                <a:effectLst/>
                <a:latin typeface="Times New Roman" panose="02020603050405020304" pitchFamily="18" charset="0"/>
                <a:ea typeface="Google Sans Text"/>
              </a:rPr>
              <a:t>case</a:t>
            </a:r>
            <a:r>
              <a:rPr lang="en-US" sz="1400" dirty="0">
                <a:solidFill>
                  <a:srgbClr val="000000"/>
                </a:solidFill>
                <a:effectLst/>
                <a:latin typeface="Times New Roman" panose="02020603050405020304" pitchFamily="18" charset="0"/>
                <a:ea typeface="Google Sans Text"/>
              </a:rPr>
              <a:t> </a:t>
            </a:r>
            <a:r>
              <a:rPr lang="en-US" sz="1400" dirty="0">
                <a:solidFill>
                  <a:srgbClr val="800000"/>
                </a:solidFill>
                <a:effectLst/>
                <a:latin typeface="Times New Roman" panose="02020603050405020304" pitchFamily="18" charset="0"/>
                <a:ea typeface="Google Sans Text"/>
              </a:rPr>
              <a:t>'</a:t>
            </a:r>
            <a:r>
              <a:rPr lang="en-US" sz="1400" dirty="0" err="1">
                <a:solidFill>
                  <a:srgbClr val="800000"/>
                </a:solidFill>
                <a:effectLst/>
                <a:latin typeface="Times New Roman" panose="02020603050405020304" pitchFamily="18" charset="0"/>
                <a:ea typeface="Google Sans Text"/>
              </a:rPr>
              <a:t>nrm</a:t>
            </a:r>
            <a:r>
              <a:rPr lang="en-US" sz="1400" dirty="0">
                <a:solidFill>
                  <a:srgbClr val="800000"/>
                </a:solidFill>
                <a:effectLst/>
                <a:latin typeface="Times New Roman" panose="02020603050405020304" pitchFamily="18" charset="0"/>
                <a:ea typeface="Google Sans Text"/>
              </a:rPr>
              <a:t>'</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a:solidFill>
                  <a:srgbClr val="008000"/>
                </a:solidFill>
                <a:effectLst/>
                <a:latin typeface="Times New Roman" panose="02020603050405020304" pitchFamily="18" charset="0"/>
                <a:ea typeface="Google Sans Text"/>
              </a:rPr>
              <a:t>% NRM requires one initial guess</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a:solidFill>
                  <a:srgbClr val="0000FF"/>
                </a:solidFill>
                <a:effectLst/>
                <a:latin typeface="Times New Roman" panose="02020603050405020304" pitchFamily="18" charset="0"/>
                <a:ea typeface="Google Sans Text"/>
              </a:rPr>
              <a:t>if</a:t>
            </a:r>
            <a:r>
              <a:rPr lang="en-US" sz="1400" dirty="0">
                <a:solidFill>
                  <a:srgbClr val="000000"/>
                </a:solidFill>
                <a:effectLst/>
                <a:latin typeface="Times New Roman" panose="02020603050405020304" pitchFamily="18" charset="0"/>
                <a:ea typeface="Google Sans Text"/>
              </a:rPr>
              <a:t> length(x0) ~= 1</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error(</a:t>
            </a:r>
            <a:r>
              <a:rPr lang="en-US" sz="1400" dirty="0">
                <a:solidFill>
                  <a:srgbClr val="800000"/>
                </a:solidFill>
                <a:effectLst/>
                <a:latin typeface="Times New Roman" panose="02020603050405020304" pitchFamily="18" charset="0"/>
                <a:ea typeface="Google Sans Text"/>
              </a:rPr>
              <a:t>'NRM requires one initial guess.'</a:t>
            </a:r>
            <a:r>
              <a:rPr lang="en-US" sz="1400" dirty="0">
                <a:solidFill>
                  <a:srgbClr val="000000"/>
                </a:solidFill>
                <a:effectLst/>
                <a:latin typeface="Times New Roman" panose="02020603050405020304" pitchFamily="18" charset="0"/>
                <a:ea typeface="Google Sans Text"/>
              </a:rPr>
              <a:t>);</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a:solidFill>
                  <a:srgbClr val="0000FF"/>
                </a:solidFill>
                <a:effectLst/>
                <a:latin typeface="Times New Roman" panose="02020603050405020304" pitchFamily="18" charset="0"/>
                <a:ea typeface="Google Sans Text"/>
              </a:rPr>
              <a:t>end</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err="1">
                <a:solidFill>
                  <a:srgbClr val="000000"/>
                </a:solidFill>
                <a:effectLst/>
                <a:latin typeface="Times New Roman" panose="02020603050405020304" pitchFamily="18" charset="0"/>
                <a:ea typeface="Google Sans Text"/>
              </a:rPr>
              <a:t>obj.result_value</a:t>
            </a:r>
            <a:r>
              <a:rPr lang="en-US" sz="1400" dirty="0">
                <a:solidFill>
                  <a:srgbClr val="000000"/>
                </a:solidFill>
                <a:effectLst/>
                <a:latin typeface="Times New Roman" panose="02020603050405020304" pitchFamily="18" charset="0"/>
                <a:ea typeface="Google Sans Text"/>
              </a:rPr>
              <a:t> = </a:t>
            </a:r>
            <a:r>
              <a:rPr lang="en-US" sz="1400" dirty="0" err="1">
                <a:solidFill>
                  <a:srgbClr val="000000"/>
                </a:solidFill>
                <a:effectLst/>
                <a:latin typeface="Times New Roman" panose="02020603050405020304" pitchFamily="18" charset="0"/>
                <a:ea typeface="Google Sans Text"/>
              </a:rPr>
              <a:t>obj.newtonRaphson</a:t>
            </a:r>
            <a:r>
              <a:rPr lang="en-US" sz="1400" dirty="0">
                <a:solidFill>
                  <a:srgbClr val="000000"/>
                </a:solidFill>
                <a:effectLst/>
                <a:latin typeface="Times New Roman" panose="02020603050405020304" pitchFamily="18" charset="0"/>
                <a:ea typeface="Google Sans Text"/>
              </a:rPr>
              <a:t>(x0);</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a:solidFill>
                  <a:srgbClr val="0000FF"/>
                </a:solidFill>
                <a:effectLst/>
                <a:latin typeface="Times New Roman" panose="02020603050405020304" pitchFamily="18" charset="0"/>
                <a:ea typeface="Google Sans Text"/>
              </a:rPr>
              <a:t>case</a:t>
            </a:r>
            <a:r>
              <a:rPr lang="en-US" sz="1400" dirty="0">
                <a:solidFill>
                  <a:srgbClr val="000000"/>
                </a:solidFill>
                <a:effectLst/>
                <a:latin typeface="Times New Roman" panose="02020603050405020304" pitchFamily="18" charset="0"/>
                <a:ea typeface="Google Sans Text"/>
              </a:rPr>
              <a:t> </a:t>
            </a:r>
            <a:r>
              <a:rPr lang="en-US" sz="1400" dirty="0">
                <a:solidFill>
                  <a:srgbClr val="800000"/>
                </a:solidFill>
                <a:effectLst/>
                <a:latin typeface="Times New Roman" panose="02020603050405020304" pitchFamily="18" charset="0"/>
                <a:ea typeface="Google Sans Text"/>
              </a:rPr>
              <a:t>'secant'</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a:solidFill>
                  <a:srgbClr val="008000"/>
                </a:solidFill>
                <a:effectLst/>
                <a:latin typeface="Times New Roman" panose="02020603050405020304" pitchFamily="18" charset="0"/>
                <a:ea typeface="Google Sans Text"/>
              </a:rPr>
              <a:t>% Secant requires two initial guesses</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a:solidFill>
                  <a:srgbClr val="0000FF"/>
                </a:solidFill>
                <a:effectLst/>
                <a:latin typeface="Times New Roman" panose="02020603050405020304" pitchFamily="18" charset="0"/>
                <a:ea typeface="Google Sans Text"/>
              </a:rPr>
              <a:t>if</a:t>
            </a:r>
            <a:r>
              <a:rPr lang="en-US" sz="1400" dirty="0">
                <a:solidFill>
                  <a:srgbClr val="000000"/>
                </a:solidFill>
                <a:effectLst/>
                <a:latin typeface="Times New Roman" panose="02020603050405020304" pitchFamily="18" charset="0"/>
                <a:ea typeface="Google Sans Text"/>
              </a:rPr>
              <a:t> length(x0) ~= 2</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error(</a:t>
            </a:r>
            <a:r>
              <a:rPr lang="en-US" sz="1400" dirty="0">
                <a:solidFill>
                  <a:srgbClr val="800000"/>
                </a:solidFill>
                <a:effectLst/>
                <a:latin typeface="Times New Roman" panose="02020603050405020304" pitchFamily="18" charset="0"/>
                <a:ea typeface="Google Sans Text"/>
              </a:rPr>
              <a:t>'Secant requires two initial guesses: [x0, x1].'</a:t>
            </a:r>
            <a:r>
              <a:rPr lang="en-US" sz="1400" dirty="0">
                <a:solidFill>
                  <a:srgbClr val="000000"/>
                </a:solidFill>
                <a:effectLst/>
                <a:latin typeface="Times New Roman" panose="02020603050405020304" pitchFamily="18" charset="0"/>
                <a:ea typeface="Google Sans Text"/>
              </a:rPr>
              <a:t>);</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a:solidFill>
                  <a:srgbClr val="0000FF"/>
                </a:solidFill>
                <a:effectLst/>
                <a:latin typeface="Times New Roman" panose="02020603050405020304" pitchFamily="18" charset="0"/>
                <a:ea typeface="Google Sans Text"/>
              </a:rPr>
              <a:t>end</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err="1">
                <a:solidFill>
                  <a:srgbClr val="000000"/>
                </a:solidFill>
                <a:effectLst/>
                <a:latin typeface="Times New Roman" panose="02020603050405020304" pitchFamily="18" charset="0"/>
                <a:ea typeface="Google Sans Text"/>
              </a:rPr>
              <a:t>obj.result_value</a:t>
            </a:r>
            <a:r>
              <a:rPr lang="en-US" sz="1400" dirty="0">
                <a:solidFill>
                  <a:srgbClr val="000000"/>
                </a:solidFill>
                <a:effectLst/>
                <a:latin typeface="Times New Roman" panose="02020603050405020304" pitchFamily="18" charset="0"/>
                <a:ea typeface="Google Sans Text"/>
              </a:rPr>
              <a:t> = </a:t>
            </a:r>
            <a:r>
              <a:rPr lang="en-US" sz="1400" dirty="0" err="1">
                <a:solidFill>
                  <a:srgbClr val="000000"/>
                </a:solidFill>
                <a:effectLst/>
                <a:latin typeface="Times New Roman" panose="02020603050405020304" pitchFamily="18" charset="0"/>
                <a:ea typeface="Google Sans Text"/>
              </a:rPr>
              <a:t>obj.secantMethod</a:t>
            </a:r>
            <a:r>
              <a:rPr lang="en-US" sz="1400" dirty="0">
                <a:solidFill>
                  <a:srgbClr val="000000"/>
                </a:solidFill>
                <a:effectLst/>
                <a:latin typeface="Times New Roman" panose="02020603050405020304" pitchFamily="18" charset="0"/>
                <a:ea typeface="Google Sans Text"/>
              </a:rPr>
              <a:t>(x0(1), x0(2));</a:t>
            </a:r>
            <a:br>
              <a:rPr lang="en-US" sz="1400" dirty="0">
                <a:solidFill>
                  <a:srgbClr val="000000"/>
                </a:solidFill>
                <a:effectLst/>
                <a:latin typeface="Times New Roman" panose="02020603050405020304" pitchFamily="18" charset="0"/>
                <a:ea typeface="Google Sans Text"/>
              </a:rPr>
            </a:br>
            <a:r>
              <a:rPr lang="en-US" sz="1400" dirty="0">
                <a:solidFill>
                  <a:srgbClr val="0000FF"/>
                </a:solidFill>
                <a:effectLst/>
                <a:latin typeface="Times New Roman" panose="02020603050405020304" pitchFamily="18" charset="0"/>
                <a:ea typeface="Google Sans Text"/>
              </a:rPr>
              <a:t>                    otherwise</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error(</a:t>
            </a:r>
            <a:r>
              <a:rPr lang="en-US" sz="1400" dirty="0">
                <a:solidFill>
                  <a:srgbClr val="800000"/>
                </a:solidFill>
                <a:effectLst/>
                <a:latin typeface="Times New Roman" panose="02020603050405020304" pitchFamily="18" charset="0"/>
                <a:ea typeface="Google Sans Text"/>
              </a:rPr>
              <a:t>'Unsupported root-finding method: %s.'</a:t>
            </a:r>
            <a:r>
              <a:rPr lang="en-US" sz="1400" dirty="0">
                <a:solidFill>
                  <a:srgbClr val="000000"/>
                </a:solidFill>
                <a:effectLst/>
                <a:latin typeface="Times New Roman" panose="02020603050405020304" pitchFamily="18" charset="0"/>
                <a:ea typeface="Google Sans Text"/>
              </a:rPr>
              <a:t>, method);</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a:solidFill>
                  <a:srgbClr val="0000FF"/>
                </a:solidFill>
                <a:effectLst/>
                <a:latin typeface="Times New Roman" panose="02020603050405020304" pitchFamily="18" charset="0"/>
                <a:ea typeface="Google Sans Text"/>
              </a:rPr>
              <a:t>end</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err="1">
                <a:solidFill>
                  <a:srgbClr val="0000FF"/>
                </a:solidFill>
                <a:effectLst/>
                <a:latin typeface="Times New Roman" panose="02020603050405020304" pitchFamily="18" charset="0"/>
                <a:ea typeface="Google Sans Text"/>
              </a:rPr>
              <a:t>end</a:t>
            </a:r>
            <a:endParaRPr lang="en-US" sz="1400" dirty="0"/>
          </a:p>
        </p:txBody>
      </p:sp>
    </p:spTree>
    <p:extLst>
      <p:ext uri="{BB962C8B-B14F-4D97-AF65-F5344CB8AC3E}">
        <p14:creationId xmlns:p14="http://schemas.microsoft.com/office/powerpoint/2010/main" val="965097543"/>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49E679-8514-909A-B23D-3252DEE07930}"/>
              </a:ext>
            </a:extLst>
          </p:cNvPr>
          <p:cNvSpPr>
            <a:spLocks noGrp="1"/>
          </p:cNvSpPr>
          <p:nvPr>
            <p:ph sz="half" idx="1"/>
          </p:nvPr>
        </p:nvSpPr>
        <p:spPr>
          <a:xfrm>
            <a:off x="677334" y="0"/>
            <a:ext cx="4184035" cy="6041361"/>
          </a:xfrm>
        </p:spPr>
        <p:txBody>
          <a:bodyPr>
            <a:normAutofit/>
          </a:bodyPr>
          <a:lstStyle/>
          <a:p>
            <a:endParaRPr lang="en-US" dirty="0"/>
          </a:p>
        </p:txBody>
      </p:sp>
      <p:sp>
        <p:nvSpPr>
          <p:cNvPr id="4" name="Content Placeholder 3">
            <a:extLst>
              <a:ext uri="{FF2B5EF4-FFF2-40B4-BE49-F238E27FC236}">
                <a16:creationId xmlns:a16="http://schemas.microsoft.com/office/drawing/2014/main" id="{CA7E4537-50CC-39E7-BCD5-1CE99AF59898}"/>
              </a:ext>
            </a:extLst>
          </p:cNvPr>
          <p:cNvSpPr>
            <a:spLocks noGrp="1"/>
          </p:cNvSpPr>
          <p:nvPr>
            <p:ph sz="half" idx="2"/>
          </p:nvPr>
        </p:nvSpPr>
        <p:spPr>
          <a:xfrm>
            <a:off x="5089970" y="1"/>
            <a:ext cx="4184034" cy="6041362"/>
          </a:xfrm>
        </p:spPr>
        <p:txBody>
          <a:bodyPr>
            <a:normAutofit/>
          </a:bodyPr>
          <a:lstStyle/>
          <a:p>
            <a:r>
              <a:rPr lang="en-US" sz="1800" dirty="0">
                <a:solidFill>
                  <a:srgbClr val="000000"/>
                </a:solidFill>
                <a:effectLst/>
                <a:latin typeface="Times New Roman" panose="02020603050405020304" pitchFamily="18" charset="0"/>
                <a:ea typeface="Google Sans Text"/>
              </a:rPr>
              <a:t> </a:t>
            </a:r>
          </a:p>
        </p:txBody>
      </p:sp>
      <p:sp>
        <p:nvSpPr>
          <p:cNvPr id="5" name="Rectangle: Rounded Corners 4">
            <a:extLst>
              <a:ext uri="{FF2B5EF4-FFF2-40B4-BE49-F238E27FC236}">
                <a16:creationId xmlns:a16="http://schemas.microsoft.com/office/drawing/2014/main" id="{A14025EB-BB98-5BBB-4C9E-1D3F06D5A541}"/>
              </a:ext>
            </a:extLst>
          </p:cNvPr>
          <p:cNvSpPr/>
          <p:nvPr/>
        </p:nvSpPr>
        <p:spPr>
          <a:xfrm>
            <a:off x="765012" y="596127"/>
            <a:ext cx="4109529" cy="591944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CE0A990D-A265-ADB2-25C1-D1FEFA94C68D}"/>
              </a:ext>
            </a:extLst>
          </p:cNvPr>
          <p:cNvSpPr/>
          <p:nvPr/>
        </p:nvSpPr>
        <p:spPr>
          <a:xfrm>
            <a:off x="5076798" y="680720"/>
            <a:ext cx="4338129" cy="5919441"/>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2A92735-482A-618A-8F1E-C37908480608}"/>
              </a:ext>
            </a:extLst>
          </p:cNvPr>
          <p:cNvSpPr txBox="1"/>
          <p:nvPr/>
        </p:nvSpPr>
        <p:spPr>
          <a:xfrm>
            <a:off x="931709" y="533361"/>
            <a:ext cx="3604164" cy="6340197"/>
          </a:xfrm>
          <a:prstGeom prst="rect">
            <a:avLst/>
          </a:prstGeom>
          <a:noFill/>
        </p:spPr>
        <p:txBody>
          <a:bodyPr wrap="square" rtlCol="0">
            <a:spAutoFit/>
          </a:bodyPr>
          <a:lstStyle/>
          <a:p>
            <a:br>
              <a:rPr lang="en-US" sz="18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00FF"/>
                </a:solidFill>
                <a:effectLst/>
                <a:latin typeface="Times New Roman" panose="02020603050405020304" pitchFamily="18" charset="0"/>
                <a:ea typeface="Google Sans Text"/>
              </a:rPr>
              <a:t>function</a:t>
            </a: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displayResults</a:t>
            </a:r>
            <a:r>
              <a:rPr lang="en-US" sz="1600" dirty="0">
                <a:solidFill>
                  <a:srgbClr val="000000"/>
                </a:solidFill>
                <a:effectLst/>
                <a:latin typeface="Times New Roman" panose="02020603050405020304" pitchFamily="18" charset="0"/>
                <a:ea typeface="Google Sans Text"/>
              </a:rPr>
              <a:t>(obj)</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8000"/>
                </a:solidFill>
                <a:effectLst/>
                <a:latin typeface="Times New Roman" panose="02020603050405020304" pitchFamily="18" charset="0"/>
                <a:ea typeface="Google Sans Text"/>
              </a:rPr>
              <a:t>% Polymorphism: Implements the abstract '</a:t>
            </a:r>
            <a:r>
              <a:rPr lang="en-US" sz="1600" dirty="0" err="1">
                <a:solidFill>
                  <a:srgbClr val="008000"/>
                </a:solidFill>
                <a:effectLst/>
                <a:latin typeface="Times New Roman" panose="02020603050405020304" pitchFamily="18" charset="0"/>
                <a:ea typeface="Google Sans Text"/>
              </a:rPr>
              <a:t>displayResults</a:t>
            </a:r>
            <a:r>
              <a:rPr lang="en-US" sz="1600" dirty="0">
                <a:solidFill>
                  <a:srgbClr val="008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fprintf</a:t>
            </a:r>
            <a:r>
              <a:rPr lang="en-US" sz="1600" dirty="0">
                <a:solidFill>
                  <a:srgbClr val="000000"/>
                </a:solidFill>
                <a:effectLst/>
                <a:latin typeface="Times New Roman" panose="02020603050405020304" pitchFamily="18" charset="0"/>
                <a:ea typeface="Google Sans Text"/>
              </a:rPr>
              <a:t>(</a:t>
            </a:r>
            <a:r>
              <a:rPr lang="en-US" sz="1600" dirty="0">
                <a:solidFill>
                  <a:srgbClr val="800000"/>
                </a:solidFill>
                <a:effectLst/>
                <a:latin typeface="Times New Roman" panose="02020603050405020304" pitchFamily="18" charset="0"/>
                <a:ea typeface="Google Sans Text"/>
              </a:rPr>
              <a:t>'\n Root-Finder (%s) Results:\n'</a:t>
            </a:r>
            <a:r>
              <a:rPr lang="en-US" sz="1600" dirty="0">
                <a:solidFill>
                  <a:srgbClr val="000000"/>
                </a:solidFill>
                <a:effectLst/>
                <a:latin typeface="Times New Roman" panose="02020603050405020304" pitchFamily="18" charset="0"/>
                <a:ea typeface="Google Sans Text"/>
              </a:rPr>
              <a:t>, upper(</a:t>
            </a:r>
            <a:r>
              <a:rPr lang="en-US" sz="1600" dirty="0" err="1">
                <a:solidFill>
                  <a:srgbClr val="000000"/>
                </a:solidFill>
                <a:effectLst/>
                <a:latin typeface="Times New Roman" panose="02020603050405020304" pitchFamily="18" charset="0"/>
                <a:ea typeface="Google Sans Text"/>
              </a:rPr>
              <a:t>obj.method_used</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fprintf</a:t>
            </a:r>
            <a:r>
              <a:rPr lang="en-US" sz="1600" dirty="0">
                <a:solidFill>
                  <a:srgbClr val="000000"/>
                </a:solidFill>
                <a:effectLst/>
                <a:latin typeface="Times New Roman" panose="02020603050405020304" pitchFamily="18" charset="0"/>
                <a:ea typeface="Google Sans Text"/>
              </a:rPr>
              <a:t>(</a:t>
            </a:r>
            <a:r>
              <a:rPr lang="en-US" sz="1600" dirty="0">
                <a:solidFill>
                  <a:srgbClr val="800000"/>
                </a:solidFill>
                <a:effectLst/>
                <a:latin typeface="Times New Roman" panose="02020603050405020304" pitchFamily="18" charset="0"/>
                <a:ea typeface="Google Sans Text"/>
              </a:rPr>
              <a:t>'  Initial Guess(es): [%s]\n'</a:t>
            </a:r>
            <a:r>
              <a:rPr lang="en-US" sz="1600" dirty="0">
                <a:solidFill>
                  <a:srgbClr val="000000"/>
                </a:solidFill>
                <a:effectLst/>
                <a:latin typeface="Times New Roman" panose="02020603050405020304" pitchFamily="18" charset="0"/>
                <a:ea typeface="Google Sans Text"/>
              </a:rPr>
              <a:t>, num2str(</a:t>
            </a:r>
            <a:r>
              <a:rPr lang="en-US" sz="1600" dirty="0" err="1">
                <a:solidFill>
                  <a:srgbClr val="000000"/>
                </a:solidFill>
                <a:effectLst/>
                <a:latin typeface="Times New Roman" panose="02020603050405020304" pitchFamily="18" charset="0"/>
                <a:ea typeface="Google Sans Text"/>
              </a:rPr>
              <a:t>obj.initial_data</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00FF"/>
                </a:solidFill>
                <a:effectLst/>
                <a:latin typeface="Times New Roman" panose="02020603050405020304" pitchFamily="18" charset="0"/>
                <a:ea typeface="Google Sans Text"/>
              </a:rPr>
              <a:t>if</a:t>
            </a: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isnan</a:t>
            </a:r>
            <a:r>
              <a:rPr lang="en-US" sz="1600" dirty="0">
                <a:solidFill>
                  <a:srgbClr val="000000"/>
                </a:solidFill>
                <a:effectLst/>
                <a:latin typeface="Times New Roman" panose="02020603050405020304" pitchFamily="18" charset="0"/>
                <a:ea typeface="Google Sans Text"/>
              </a:rPr>
              <a:t>(</a:t>
            </a:r>
            <a:r>
              <a:rPr lang="en-US" sz="1600" dirty="0" err="1">
                <a:solidFill>
                  <a:srgbClr val="000000"/>
                </a:solidFill>
                <a:effectLst/>
                <a:latin typeface="Times New Roman" panose="02020603050405020304" pitchFamily="18" charset="0"/>
                <a:ea typeface="Google Sans Text"/>
              </a:rPr>
              <a:t>obj.result_value</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fprintf</a:t>
            </a:r>
            <a:r>
              <a:rPr lang="en-US" sz="1600" dirty="0">
                <a:solidFill>
                  <a:srgbClr val="000000"/>
                </a:solidFill>
                <a:effectLst/>
                <a:latin typeface="Times New Roman" panose="02020603050405020304" pitchFamily="18" charset="0"/>
                <a:ea typeface="Google Sans Text"/>
              </a:rPr>
              <a:t>(</a:t>
            </a:r>
            <a:r>
              <a:rPr lang="en-US" sz="1600" dirty="0">
                <a:solidFill>
                  <a:srgbClr val="800000"/>
                </a:solidFill>
                <a:effectLst/>
                <a:latin typeface="Times New Roman" panose="02020603050405020304" pitchFamily="18" charset="0"/>
                <a:ea typeface="Google Sans Text"/>
              </a:rPr>
              <a:t>'  Calculated Root (r): **%.6f**\n'</a:t>
            </a: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obj.result_value</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fprintf</a:t>
            </a:r>
            <a:r>
              <a:rPr lang="en-US" sz="1600" dirty="0">
                <a:solidFill>
                  <a:srgbClr val="000000"/>
                </a:solidFill>
                <a:effectLst/>
                <a:latin typeface="Times New Roman" panose="02020603050405020304" pitchFamily="18" charset="0"/>
                <a:ea typeface="Google Sans Text"/>
              </a:rPr>
              <a:t>(</a:t>
            </a:r>
            <a:r>
              <a:rPr lang="en-US" sz="1600" dirty="0">
                <a:solidFill>
                  <a:srgbClr val="800000"/>
                </a:solidFill>
                <a:effectLst/>
                <a:latin typeface="Times New Roman" panose="02020603050405020304" pitchFamily="18" charset="0"/>
                <a:ea typeface="Google Sans Text"/>
              </a:rPr>
              <a:t>'  Function Value at Root: **%e**\n'</a:t>
            </a: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obj.problem_func</a:t>
            </a:r>
            <a:r>
              <a:rPr lang="en-US" sz="1600" dirty="0">
                <a:solidFill>
                  <a:srgbClr val="000000"/>
                </a:solidFill>
                <a:effectLst/>
                <a:latin typeface="Times New Roman" panose="02020603050405020304" pitchFamily="18" charset="0"/>
                <a:ea typeface="Google Sans Text"/>
              </a:rPr>
              <a:t>(</a:t>
            </a:r>
            <a:r>
              <a:rPr lang="en-US" sz="1600" dirty="0" err="1">
                <a:solidFill>
                  <a:srgbClr val="000000"/>
                </a:solidFill>
                <a:effectLst/>
                <a:latin typeface="Times New Roman" panose="02020603050405020304" pitchFamily="18" charset="0"/>
                <a:ea typeface="Google Sans Text"/>
              </a:rPr>
              <a:t>obj.result_value</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00FF"/>
                </a:solidFill>
                <a:effectLst/>
                <a:latin typeface="Times New Roman" panose="02020603050405020304" pitchFamily="18" charset="0"/>
                <a:ea typeface="Google Sans Text"/>
              </a:rPr>
              <a:t>else</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fprintf</a:t>
            </a:r>
            <a:r>
              <a:rPr lang="en-US" sz="1600" dirty="0">
                <a:solidFill>
                  <a:srgbClr val="000000"/>
                </a:solidFill>
                <a:effectLst/>
                <a:latin typeface="Times New Roman" panose="02020603050405020304" pitchFamily="18" charset="0"/>
                <a:ea typeface="Google Sans Text"/>
              </a:rPr>
              <a:t>(</a:t>
            </a:r>
            <a:r>
              <a:rPr lang="en-US" sz="1600" dirty="0">
                <a:solidFill>
                  <a:srgbClr val="800000"/>
                </a:solidFill>
                <a:effectLst/>
                <a:latin typeface="Times New Roman" panose="02020603050405020304" pitchFamily="18" charset="0"/>
                <a:ea typeface="Google Sans Text"/>
              </a:rPr>
              <a:t>'  Failure: Solver did not converge in %d steps.\n'</a:t>
            </a: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obj.max_iterations</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00FF"/>
                </a:solidFill>
                <a:effectLst/>
                <a:latin typeface="Times New Roman" panose="02020603050405020304" pitchFamily="18" charset="0"/>
                <a:ea typeface="Google Sans Text"/>
              </a:rPr>
              <a:t>end</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fprintf</a:t>
            </a:r>
            <a:r>
              <a:rPr lang="en-US" sz="1600" dirty="0">
                <a:solidFill>
                  <a:srgbClr val="000000"/>
                </a:solidFill>
                <a:effectLst/>
                <a:latin typeface="Times New Roman" panose="02020603050405020304" pitchFamily="18" charset="0"/>
                <a:ea typeface="Google Sans Text"/>
              </a:rPr>
              <a:t>(</a:t>
            </a:r>
            <a:r>
              <a:rPr lang="en-US" sz="1600" dirty="0">
                <a:solidFill>
                  <a:srgbClr val="800000"/>
                </a:solidFill>
                <a:effectLst/>
                <a:latin typeface="Times New Roman" panose="02020603050405020304" pitchFamily="18" charset="0"/>
                <a:ea typeface="Google Sans Text"/>
              </a:rPr>
              <a:t>'-------------------------------------------------\n'</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00FF"/>
                </a:solidFill>
                <a:effectLst/>
                <a:latin typeface="Times New Roman" panose="02020603050405020304" pitchFamily="18" charset="0"/>
                <a:ea typeface="Google Sans Text"/>
              </a:rPr>
              <a:t>end</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FF"/>
                </a:solidFill>
                <a:effectLst/>
                <a:latin typeface="Times New Roman" panose="02020603050405020304" pitchFamily="18" charset="0"/>
                <a:ea typeface="Google Sans Text"/>
              </a:rPr>
              <a:t>end</a:t>
            </a:r>
            <a:br>
              <a:rPr lang="en-US" sz="1800" dirty="0">
                <a:solidFill>
                  <a:srgbClr val="000000"/>
                </a:solidFill>
                <a:effectLst/>
                <a:latin typeface="Times New Roman" panose="02020603050405020304" pitchFamily="18" charset="0"/>
                <a:ea typeface="Google Sans Text"/>
              </a:rPr>
            </a:br>
            <a:br>
              <a:rPr lang="en-US" sz="1800" dirty="0">
                <a:solidFill>
                  <a:srgbClr val="000000"/>
                </a:solidFill>
                <a:effectLst/>
                <a:latin typeface="Times New Roman" panose="02020603050405020304" pitchFamily="18" charset="0"/>
                <a:ea typeface="Google Sans Text"/>
              </a:rPr>
            </a:br>
            <a:endParaRPr lang="en-US" dirty="0"/>
          </a:p>
        </p:txBody>
      </p:sp>
      <p:sp>
        <p:nvSpPr>
          <p:cNvPr id="10" name="TextBox 9">
            <a:extLst>
              <a:ext uri="{FF2B5EF4-FFF2-40B4-BE49-F238E27FC236}">
                <a16:creationId xmlns:a16="http://schemas.microsoft.com/office/drawing/2014/main" id="{001C28C8-100A-A49E-58B9-A838CC232BFD}"/>
              </a:ext>
            </a:extLst>
          </p:cNvPr>
          <p:cNvSpPr txBox="1"/>
          <p:nvPr/>
        </p:nvSpPr>
        <p:spPr>
          <a:xfrm>
            <a:off x="5617722" y="816637"/>
            <a:ext cx="3256280" cy="5478423"/>
          </a:xfrm>
          <a:prstGeom prst="rect">
            <a:avLst/>
          </a:prstGeom>
          <a:noFill/>
        </p:spPr>
        <p:txBody>
          <a:bodyPr wrap="square" rtlCol="0">
            <a:spAutoFit/>
          </a:bodyPr>
          <a:lstStyle/>
          <a:p>
            <a:r>
              <a:rPr lang="en-US" sz="1400" dirty="0">
                <a:solidFill>
                  <a:srgbClr val="0000FF"/>
                </a:solidFill>
                <a:effectLst/>
                <a:latin typeface="Times New Roman" panose="02020603050405020304" pitchFamily="18" charset="0"/>
                <a:ea typeface="Google Sans Text"/>
              </a:rPr>
              <a:t>methods</a:t>
            </a:r>
            <a:r>
              <a:rPr lang="en-US" sz="1400" dirty="0">
                <a:solidFill>
                  <a:srgbClr val="000000"/>
                </a:solidFill>
                <a:effectLst/>
                <a:latin typeface="Times New Roman" panose="02020603050405020304" pitchFamily="18" charset="0"/>
                <a:ea typeface="Google Sans Text"/>
              </a:rPr>
              <a:t> (Access = private)</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a:solidFill>
                  <a:srgbClr val="008000"/>
                </a:solidFill>
                <a:effectLst/>
                <a:latin typeface="Times New Roman" panose="02020603050405020304" pitchFamily="18" charset="0"/>
                <a:ea typeface="Google Sans Text"/>
              </a:rPr>
              <a:t>% Encapsulated methods for the algorithms</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a:solidFill>
                  <a:srgbClr val="0000FF"/>
                </a:solidFill>
                <a:effectLst/>
                <a:latin typeface="Times New Roman" panose="02020603050405020304" pitchFamily="18" charset="0"/>
                <a:ea typeface="Google Sans Text"/>
              </a:rPr>
              <a:t>function</a:t>
            </a:r>
            <a:r>
              <a:rPr lang="en-US" sz="1400" dirty="0">
                <a:solidFill>
                  <a:srgbClr val="000000"/>
                </a:solidFill>
                <a:effectLst/>
                <a:latin typeface="Times New Roman" panose="02020603050405020304" pitchFamily="18" charset="0"/>
                <a:ea typeface="Google Sans Text"/>
              </a:rPr>
              <a:t> </a:t>
            </a:r>
            <a:r>
              <a:rPr lang="en-US" sz="1400" dirty="0" err="1">
                <a:solidFill>
                  <a:srgbClr val="000000"/>
                </a:solidFill>
                <a:effectLst/>
                <a:latin typeface="Times New Roman" panose="02020603050405020304" pitchFamily="18" charset="0"/>
                <a:ea typeface="Google Sans Text"/>
              </a:rPr>
              <a:t>df</a:t>
            </a:r>
            <a:r>
              <a:rPr lang="en-US" sz="1400" dirty="0">
                <a:solidFill>
                  <a:srgbClr val="000000"/>
                </a:solidFill>
                <a:effectLst/>
                <a:latin typeface="Times New Roman" panose="02020603050405020304" pitchFamily="18" charset="0"/>
                <a:ea typeface="Google Sans Text"/>
              </a:rPr>
              <a:t> = derivative(~, </a:t>
            </a:r>
            <a:r>
              <a:rPr lang="en-US" sz="1400" dirty="0" err="1">
                <a:solidFill>
                  <a:srgbClr val="000000"/>
                </a:solidFill>
                <a:effectLst/>
                <a:latin typeface="Times New Roman" panose="02020603050405020304" pitchFamily="18" charset="0"/>
                <a:ea typeface="Google Sans Text"/>
              </a:rPr>
              <a:t>func</a:t>
            </a:r>
            <a:r>
              <a:rPr lang="en-US" sz="1400" dirty="0">
                <a:solidFill>
                  <a:srgbClr val="000000"/>
                </a:solidFill>
                <a:effectLst/>
                <a:latin typeface="Times New Roman" panose="02020603050405020304" pitchFamily="18" charset="0"/>
                <a:ea typeface="Google Sans Text"/>
              </a:rPr>
              <a:t>)</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a:solidFill>
                  <a:srgbClr val="008000"/>
                </a:solidFill>
                <a:effectLst/>
                <a:latin typeface="Times New Roman" panose="02020603050405020304" pitchFamily="18" charset="0"/>
                <a:ea typeface="Google Sans Text"/>
              </a:rPr>
              <a:t>% Numerical approximation of the derivative f'(x)</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h = 1e-9;</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err="1">
                <a:solidFill>
                  <a:srgbClr val="000000"/>
                </a:solidFill>
                <a:effectLst/>
                <a:latin typeface="Times New Roman" panose="02020603050405020304" pitchFamily="18" charset="0"/>
                <a:ea typeface="Google Sans Text"/>
              </a:rPr>
              <a:t>df</a:t>
            </a:r>
            <a:r>
              <a:rPr lang="en-US" sz="1400" dirty="0">
                <a:solidFill>
                  <a:srgbClr val="000000"/>
                </a:solidFill>
                <a:effectLst/>
                <a:latin typeface="Times New Roman" panose="02020603050405020304" pitchFamily="18" charset="0"/>
                <a:ea typeface="Google Sans Text"/>
              </a:rPr>
              <a:t> = @(x) (</a:t>
            </a:r>
            <a:r>
              <a:rPr lang="en-US" sz="1400" dirty="0" err="1">
                <a:solidFill>
                  <a:srgbClr val="000000"/>
                </a:solidFill>
                <a:effectLst/>
                <a:latin typeface="Times New Roman" panose="02020603050405020304" pitchFamily="18" charset="0"/>
                <a:ea typeface="Google Sans Text"/>
              </a:rPr>
              <a:t>func</a:t>
            </a:r>
            <a:r>
              <a:rPr lang="en-US" sz="1400" dirty="0">
                <a:solidFill>
                  <a:srgbClr val="000000"/>
                </a:solidFill>
                <a:effectLst/>
                <a:latin typeface="Times New Roman" panose="02020603050405020304" pitchFamily="18" charset="0"/>
                <a:ea typeface="Google Sans Text"/>
              </a:rPr>
              <a:t>(x + h) - </a:t>
            </a:r>
            <a:r>
              <a:rPr lang="en-US" sz="1400" dirty="0" err="1">
                <a:solidFill>
                  <a:srgbClr val="000000"/>
                </a:solidFill>
                <a:effectLst/>
                <a:latin typeface="Times New Roman" panose="02020603050405020304" pitchFamily="18" charset="0"/>
                <a:ea typeface="Google Sans Text"/>
              </a:rPr>
              <a:t>func</a:t>
            </a:r>
            <a:r>
              <a:rPr lang="en-US" sz="1400" dirty="0">
                <a:solidFill>
                  <a:srgbClr val="000000"/>
                </a:solidFill>
                <a:effectLst/>
                <a:latin typeface="Times New Roman" panose="02020603050405020304" pitchFamily="18" charset="0"/>
                <a:ea typeface="Google Sans Text"/>
              </a:rPr>
              <a:t>(x)) / h;</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a:solidFill>
                  <a:srgbClr val="0000FF"/>
                </a:solidFill>
                <a:effectLst/>
                <a:latin typeface="Times New Roman" panose="02020603050405020304" pitchFamily="18" charset="0"/>
                <a:ea typeface="Google Sans Text"/>
              </a:rPr>
              <a:t>end</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a:solidFill>
                  <a:srgbClr val="0000FF"/>
                </a:solidFill>
                <a:effectLst/>
                <a:latin typeface="Times New Roman" panose="02020603050405020304" pitchFamily="18" charset="0"/>
                <a:ea typeface="Google Sans Text"/>
              </a:rPr>
              <a:t>function</a:t>
            </a:r>
            <a:r>
              <a:rPr lang="en-US" sz="1400" dirty="0">
                <a:solidFill>
                  <a:srgbClr val="000000"/>
                </a:solidFill>
                <a:effectLst/>
                <a:latin typeface="Times New Roman" panose="02020603050405020304" pitchFamily="18" charset="0"/>
                <a:ea typeface="Google Sans Text"/>
              </a:rPr>
              <a:t> root = </a:t>
            </a:r>
            <a:r>
              <a:rPr lang="en-US" sz="1400" dirty="0" err="1">
                <a:solidFill>
                  <a:srgbClr val="000000"/>
                </a:solidFill>
                <a:effectLst/>
                <a:latin typeface="Times New Roman" panose="02020603050405020304" pitchFamily="18" charset="0"/>
                <a:ea typeface="Google Sans Text"/>
              </a:rPr>
              <a:t>newtonRaphson</a:t>
            </a:r>
            <a:r>
              <a:rPr lang="en-US" sz="1400" dirty="0">
                <a:solidFill>
                  <a:srgbClr val="000000"/>
                </a:solidFill>
                <a:effectLst/>
                <a:latin typeface="Times New Roman" panose="02020603050405020304" pitchFamily="18" charset="0"/>
                <a:ea typeface="Google Sans Text"/>
              </a:rPr>
              <a:t>(obj, x0)</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x = x0;</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err="1">
                <a:solidFill>
                  <a:srgbClr val="000000"/>
                </a:solidFill>
                <a:effectLst/>
                <a:latin typeface="Times New Roman" panose="02020603050405020304" pitchFamily="18" charset="0"/>
                <a:ea typeface="Google Sans Text"/>
              </a:rPr>
              <a:t>df</a:t>
            </a:r>
            <a:r>
              <a:rPr lang="en-US" sz="1400" dirty="0">
                <a:solidFill>
                  <a:srgbClr val="000000"/>
                </a:solidFill>
                <a:effectLst/>
                <a:latin typeface="Times New Roman" panose="02020603050405020304" pitchFamily="18" charset="0"/>
                <a:ea typeface="Google Sans Text"/>
              </a:rPr>
              <a:t> = </a:t>
            </a:r>
            <a:r>
              <a:rPr lang="en-US" sz="1400" dirty="0" err="1">
                <a:solidFill>
                  <a:srgbClr val="000000"/>
                </a:solidFill>
                <a:effectLst/>
                <a:latin typeface="Times New Roman" panose="02020603050405020304" pitchFamily="18" charset="0"/>
                <a:ea typeface="Google Sans Text"/>
              </a:rPr>
              <a:t>obj.derivative</a:t>
            </a:r>
            <a:r>
              <a:rPr lang="en-US" sz="1400" dirty="0">
                <a:solidFill>
                  <a:srgbClr val="000000"/>
                </a:solidFill>
                <a:effectLst/>
                <a:latin typeface="Times New Roman" panose="02020603050405020304" pitchFamily="18" charset="0"/>
                <a:ea typeface="Google Sans Text"/>
              </a:rPr>
              <a:t>(</a:t>
            </a:r>
            <a:r>
              <a:rPr lang="en-US" sz="1400" dirty="0" err="1">
                <a:solidFill>
                  <a:srgbClr val="000000"/>
                </a:solidFill>
                <a:effectLst/>
                <a:latin typeface="Times New Roman" panose="02020603050405020304" pitchFamily="18" charset="0"/>
                <a:ea typeface="Google Sans Text"/>
              </a:rPr>
              <a:t>obj.problem_func</a:t>
            </a:r>
            <a:r>
              <a:rPr lang="en-US" sz="1400" dirty="0">
                <a:solidFill>
                  <a:srgbClr val="000000"/>
                </a:solidFill>
                <a:effectLst/>
                <a:latin typeface="Times New Roman" panose="02020603050405020304" pitchFamily="18" charset="0"/>
                <a:ea typeface="Google Sans Text"/>
              </a:rPr>
              <a:t>);</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a:solidFill>
                  <a:srgbClr val="0000FF"/>
                </a:solidFill>
                <a:effectLst/>
                <a:latin typeface="Times New Roman" panose="02020603050405020304" pitchFamily="18" charset="0"/>
                <a:ea typeface="Google Sans Text"/>
              </a:rPr>
              <a:t>for</a:t>
            </a:r>
            <a:r>
              <a:rPr lang="en-US" sz="1400" dirty="0">
                <a:solidFill>
                  <a:srgbClr val="000000"/>
                </a:solidFill>
                <a:effectLst/>
                <a:latin typeface="Times New Roman" panose="02020603050405020304" pitchFamily="18" charset="0"/>
                <a:ea typeface="Google Sans Text"/>
              </a:rPr>
              <a:t> </a:t>
            </a:r>
            <a:r>
              <a:rPr lang="en-US" sz="1400" dirty="0" err="1">
                <a:solidFill>
                  <a:srgbClr val="000000"/>
                </a:solidFill>
                <a:effectLst/>
                <a:latin typeface="Times New Roman" panose="02020603050405020304" pitchFamily="18" charset="0"/>
                <a:ea typeface="Google Sans Text"/>
              </a:rPr>
              <a:t>i</a:t>
            </a:r>
            <a:r>
              <a:rPr lang="en-US" sz="1400" dirty="0">
                <a:solidFill>
                  <a:srgbClr val="000000"/>
                </a:solidFill>
                <a:effectLst/>
                <a:latin typeface="Times New Roman" panose="02020603050405020304" pitchFamily="18" charset="0"/>
                <a:ea typeface="Google Sans Text"/>
              </a:rPr>
              <a:t> = 1:obj.max_iterations</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err="1">
                <a:solidFill>
                  <a:srgbClr val="000000"/>
                </a:solidFill>
                <a:effectLst/>
                <a:latin typeface="Times New Roman" panose="02020603050405020304" pitchFamily="18" charset="0"/>
                <a:ea typeface="Google Sans Text"/>
              </a:rPr>
              <a:t>x_new</a:t>
            </a:r>
            <a:r>
              <a:rPr lang="en-US" sz="1400" dirty="0">
                <a:solidFill>
                  <a:srgbClr val="000000"/>
                </a:solidFill>
                <a:effectLst/>
                <a:latin typeface="Times New Roman" panose="02020603050405020304" pitchFamily="18" charset="0"/>
                <a:ea typeface="Google Sans Text"/>
              </a:rPr>
              <a:t> = x - </a:t>
            </a:r>
            <a:r>
              <a:rPr lang="en-US" sz="1400" dirty="0" err="1">
                <a:solidFill>
                  <a:srgbClr val="000000"/>
                </a:solidFill>
                <a:effectLst/>
                <a:latin typeface="Times New Roman" panose="02020603050405020304" pitchFamily="18" charset="0"/>
                <a:ea typeface="Google Sans Text"/>
              </a:rPr>
              <a:t>obj.problem_func</a:t>
            </a:r>
            <a:r>
              <a:rPr lang="en-US" sz="1400" dirty="0">
                <a:solidFill>
                  <a:srgbClr val="000000"/>
                </a:solidFill>
                <a:effectLst/>
                <a:latin typeface="Times New Roman" panose="02020603050405020304" pitchFamily="18" charset="0"/>
                <a:ea typeface="Google Sans Text"/>
              </a:rPr>
              <a:t>(x) / </a:t>
            </a:r>
            <a:r>
              <a:rPr lang="en-US" sz="1400" dirty="0" err="1">
                <a:solidFill>
                  <a:srgbClr val="000000"/>
                </a:solidFill>
                <a:effectLst/>
                <a:latin typeface="Times New Roman" panose="02020603050405020304" pitchFamily="18" charset="0"/>
                <a:ea typeface="Google Sans Text"/>
              </a:rPr>
              <a:t>df</a:t>
            </a:r>
            <a:r>
              <a:rPr lang="en-US" sz="1400" dirty="0">
                <a:solidFill>
                  <a:srgbClr val="000000"/>
                </a:solidFill>
                <a:effectLst/>
                <a:latin typeface="Times New Roman" panose="02020603050405020304" pitchFamily="18" charset="0"/>
                <a:ea typeface="Google Sans Text"/>
              </a:rPr>
              <a:t>(x);</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a:solidFill>
                  <a:srgbClr val="0000FF"/>
                </a:solidFill>
                <a:effectLst/>
                <a:latin typeface="Times New Roman" panose="02020603050405020304" pitchFamily="18" charset="0"/>
                <a:ea typeface="Google Sans Text"/>
              </a:rPr>
              <a:t>if</a:t>
            </a:r>
            <a:r>
              <a:rPr lang="en-US" sz="1400" dirty="0">
                <a:solidFill>
                  <a:srgbClr val="000000"/>
                </a:solidFill>
                <a:effectLst/>
                <a:latin typeface="Times New Roman" panose="02020603050405020304" pitchFamily="18" charset="0"/>
                <a:ea typeface="Google Sans Text"/>
              </a:rPr>
              <a:t> abs(</a:t>
            </a:r>
            <a:r>
              <a:rPr lang="en-US" sz="1400" dirty="0" err="1">
                <a:solidFill>
                  <a:srgbClr val="000000"/>
                </a:solidFill>
                <a:effectLst/>
                <a:latin typeface="Times New Roman" panose="02020603050405020304" pitchFamily="18" charset="0"/>
                <a:ea typeface="Google Sans Text"/>
              </a:rPr>
              <a:t>x_new</a:t>
            </a:r>
            <a:r>
              <a:rPr lang="en-US" sz="1400" dirty="0">
                <a:solidFill>
                  <a:srgbClr val="000000"/>
                </a:solidFill>
                <a:effectLst/>
                <a:latin typeface="Times New Roman" panose="02020603050405020304" pitchFamily="18" charset="0"/>
                <a:ea typeface="Google Sans Text"/>
              </a:rPr>
              <a:t> - x) &lt; </a:t>
            </a:r>
            <a:r>
              <a:rPr lang="en-US" sz="1400" dirty="0" err="1">
                <a:solidFill>
                  <a:srgbClr val="000000"/>
                </a:solidFill>
                <a:effectLst/>
                <a:latin typeface="Times New Roman" panose="02020603050405020304" pitchFamily="18" charset="0"/>
                <a:ea typeface="Google Sans Text"/>
              </a:rPr>
              <a:t>obj.tolerance</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root = </a:t>
            </a:r>
            <a:r>
              <a:rPr lang="en-US" sz="1400" dirty="0" err="1">
                <a:solidFill>
                  <a:srgbClr val="000000"/>
                </a:solidFill>
                <a:effectLst/>
                <a:latin typeface="Times New Roman" panose="02020603050405020304" pitchFamily="18" charset="0"/>
                <a:ea typeface="Google Sans Text"/>
              </a:rPr>
              <a:t>x_new</a:t>
            </a:r>
            <a:r>
              <a:rPr lang="en-US" sz="1400" dirty="0">
                <a:solidFill>
                  <a:srgbClr val="000000"/>
                </a:solidFill>
                <a:effectLst/>
                <a:latin typeface="Times New Roman" panose="02020603050405020304" pitchFamily="18" charset="0"/>
                <a:ea typeface="Google Sans Text"/>
              </a:rPr>
              <a:t>; </a:t>
            </a:r>
            <a:r>
              <a:rPr lang="en-US" sz="1400" dirty="0">
                <a:solidFill>
                  <a:srgbClr val="0000FF"/>
                </a:solidFill>
                <a:effectLst/>
                <a:latin typeface="Times New Roman" panose="02020603050405020304" pitchFamily="18" charset="0"/>
                <a:ea typeface="Google Sans Text"/>
              </a:rPr>
              <a:t>return</a:t>
            </a:r>
            <a:r>
              <a:rPr lang="en-US" sz="1400" dirty="0">
                <a:solidFill>
                  <a:srgbClr val="000000"/>
                </a:solidFill>
                <a:effectLst/>
                <a:latin typeface="Times New Roman" panose="02020603050405020304" pitchFamily="18" charset="0"/>
                <a:ea typeface="Google Sans Text"/>
              </a:rPr>
              <a:t>;</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a:solidFill>
                  <a:srgbClr val="0000FF"/>
                </a:solidFill>
                <a:effectLst/>
                <a:latin typeface="Times New Roman" panose="02020603050405020304" pitchFamily="18" charset="0"/>
                <a:ea typeface="Google Sans Text"/>
              </a:rPr>
              <a:t>end</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x = </a:t>
            </a:r>
            <a:r>
              <a:rPr lang="en-US" sz="1400" dirty="0" err="1">
                <a:solidFill>
                  <a:srgbClr val="000000"/>
                </a:solidFill>
                <a:effectLst/>
                <a:latin typeface="Times New Roman" panose="02020603050405020304" pitchFamily="18" charset="0"/>
                <a:ea typeface="Google Sans Text"/>
              </a:rPr>
              <a:t>x_new</a:t>
            </a:r>
            <a:r>
              <a:rPr lang="en-US" sz="1400" dirty="0">
                <a:solidFill>
                  <a:srgbClr val="000000"/>
                </a:solidFill>
                <a:effectLst/>
                <a:latin typeface="Times New Roman" panose="02020603050405020304" pitchFamily="18" charset="0"/>
                <a:ea typeface="Google Sans Text"/>
              </a:rPr>
              <a:t>;</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a:solidFill>
                  <a:srgbClr val="0000FF"/>
                </a:solidFill>
                <a:effectLst/>
                <a:latin typeface="Times New Roman" panose="02020603050405020304" pitchFamily="18" charset="0"/>
                <a:ea typeface="Google Sans Text"/>
              </a:rPr>
              <a:t>end</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root = </a:t>
            </a:r>
            <a:r>
              <a:rPr lang="en-US" sz="1400" dirty="0" err="1">
                <a:solidFill>
                  <a:srgbClr val="000000"/>
                </a:solidFill>
                <a:effectLst/>
                <a:latin typeface="Times New Roman" panose="02020603050405020304" pitchFamily="18" charset="0"/>
                <a:ea typeface="Google Sans Text"/>
              </a:rPr>
              <a:t>NaN</a:t>
            </a:r>
            <a:r>
              <a:rPr lang="en-US" sz="1400" dirty="0">
                <a:solidFill>
                  <a:srgbClr val="000000"/>
                </a:solidFill>
                <a:effectLst/>
                <a:latin typeface="Times New Roman" panose="02020603050405020304" pitchFamily="18" charset="0"/>
                <a:ea typeface="Google Sans Text"/>
              </a:rPr>
              <a:t>;</a:t>
            </a:r>
            <a:br>
              <a:rPr lang="en-US" sz="1400" dirty="0">
                <a:solidFill>
                  <a:srgbClr val="000000"/>
                </a:solidFill>
                <a:effectLst/>
                <a:latin typeface="Times New Roman" panose="02020603050405020304" pitchFamily="18" charset="0"/>
                <a:ea typeface="Google Sans Text"/>
              </a:rPr>
            </a:br>
            <a:r>
              <a:rPr lang="en-US" sz="1400" dirty="0">
                <a:solidFill>
                  <a:srgbClr val="000000"/>
                </a:solidFill>
                <a:effectLst/>
                <a:latin typeface="Times New Roman" panose="02020603050405020304" pitchFamily="18" charset="0"/>
                <a:ea typeface="Google Sans Text"/>
              </a:rPr>
              <a:t>        </a:t>
            </a:r>
            <a:r>
              <a:rPr lang="en-US" sz="1400" dirty="0">
                <a:solidFill>
                  <a:srgbClr val="0000FF"/>
                </a:solidFill>
                <a:effectLst/>
                <a:latin typeface="Times New Roman" panose="02020603050405020304" pitchFamily="18" charset="0"/>
                <a:ea typeface="Google Sans Text"/>
              </a:rPr>
              <a:t>end</a:t>
            </a:r>
            <a:endParaRPr lang="en-US" sz="1400" dirty="0"/>
          </a:p>
        </p:txBody>
      </p:sp>
    </p:spTree>
    <p:extLst>
      <p:ext uri="{BB962C8B-B14F-4D97-AF65-F5344CB8AC3E}">
        <p14:creationId xmlns:p14="http://schemas.microsoft.com/office/powerpoint/2010/main" val="1756195633"/>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85C9FA9-C254-D48B-47AD-AF79BD44403E}"/>
              </a:ext>
            </a:extLst>
          </p:cNvPr>
          <p:cNvSpPr/>
          <p:nvPr/>
        </p:nvSpPr>
        <p:spPr>
          <a:xfrm>
            <a:off x="457200" y="182880"/>
            <a:ext cx="8788400" cy="6211431"/>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5FF8D7A-DFE6-16F9-9BA9-74B07CF060C1}"/>
              </a:ext>
            </a:extLst>
          </p:cNvPr>
          <p:cNvSpPr txBox="1"/>
          <p:nvPr/>
        </p:nvSpPr>
        <p:spPr>
          <a:xfrm>
            <a:off x="1046480" y="579120"/>
            <a:ext cx="8331200" cy="5632311"/>
          </a:xfrm>
          <a:prstGeom prst="rect">
            <a:avLst/>
          </a:prstGeom>
          <a:noFill/>
        </p:spPr>
        <p:txBody>
          <a:bodyPr wrap="square" rtlCol="0">
            <a:spAutoFit/>
          </a:bodyPr>
          <a:lstStyle/>
          <a:p>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function</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root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secantMethod</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(obj, x0, x1)</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x_prev</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x0;</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x_curr</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x1;</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for</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1:obj.max_iterations</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fx_prev</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obj.problem_func</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x_prev</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fx_curr</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obj.problem_func</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x_curr</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if</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abs(</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fx_curr</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fx_prev</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&lt; eps</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root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NaN</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return</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end</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x_next</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x_curr</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fx_curr</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x_curr</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x_prev</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fx_curr</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fx_prev</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                if</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abs(</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x_next</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x_curr</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&lt;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obj.tolerance</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root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x_next</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return</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end</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x_prev</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x_curr</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x_curr</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x_next</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end</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root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NaN</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end</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end</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err="1">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end</a:t>
            </a:r>
            <a:endParaRPr lang="en-US" sz="1800" dirty="0">
              <a:effectLst/>
              <a:latin typeface="Lucida Console" panose="020B0609040504020204" pitchFamily="49"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6302454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779E8-9350-6499-44C9-B515812990D3}"/>
              </a:ext>
            </a:extLst>
          </p:cNvPr>
          <p:cNvSpPr>
            <a:spLocks noGrp="1"/>
          </p:cNvSpPr>
          <p:nvPr>
            <p:ph type="title"/>
          </p:nvPr>
        </p:nvSpPr>
        <p:spPr>
          <a:xfrm>
            <a:off x="677334" y="609600"/>
            <a:ext cx="8596668" cy="733063"/>
          </a:xfrm>
        </p:spPr>
        <p:txBody>
          <a:bodyPr/>
          <a:lstStyle/>
          <a:p>
            <a:pPr algn="ct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INHERITS FROM NUMERICAL SOLVER AND IMPLEMENTS ODE INTEGRATION METHOD</a:t>
            </a:r>
            <a:endParaRPr lang="en-US" dirty="0"/>
          </a:p>
        </p:txBody>
      </p:sp>
      <p:sp>
        <p:nvSpPr>
          <p:cNvPr id="3" name="Content Placeholder 2">
            <a:extLst>
              <a:ext uri="{FF2B5EF4-FFF2-40B4-BE49-F238E27FC236}">
                <a16:creationId xmlns:a16="http://schemas.microsoft.com/office/drawing/2014/main" id="{6110BC68-FC28-BD9A-7FEC-CCDE77B6554F}"/>
              </a:ext>
            </a:extLst>
          </p:cNvPr>
          <p:cNvSpPr>
            <a:spLocks noGrp="1"/>
          </p:cNvSpPr>
          <p:nvPr>
            <p:ph idx="1"/>
          </p:nvPr>
        </p:nvSpPr>
        <p:spPr>
          <a:xfrm>
            <a:off x="677334" y="1342663"/>
            <a:ext cx="8596668" cy="4698699"/>
          </a:xfrm>
        </p:spPr>
        <p:txBody>
          <a:bodyPr/>
          <a:lstStyle/>
          <a:p>
            <a:endParaRPr lang="en-US" dirty="0"/>
          </a:p>
        </p:txBody>
      </p:sp>
      <p:sp>
        <p:nvSpPr>
          <p:cNvPr id="4" name="Rectangle: Rounded Corners 3">
            <a:extLst>
              <a:ext uri="{FF2B5EF4-FFF2-40B4-BE49-F238E27FC236}">
                <a16:creationId xmlns:a16="http://schemas.microsoft.com/office/drawing/2014/main" id="{AA7D0650-6273-DE35-B6D4-F752750119CE}"/>
              </a:ext>
            </a:extLst>
          </p:cNvPr>
          <p:cNvSpPr/>
          <p:nvPr/>
        </p:nvSpPr>
        <p:spPr>
          <a:xfrm>
            <a:off x="677334" y="1342663"/>
            <a:ext cx="4461825" cy="551533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AAA03204-9F68-C8E9-0A65-57BA81C5C62C}"/>
              </a:ext>
            </a:extLst>
          </p:cNvPr>
          <p:cNvSpPr/>
          <p:nvPr/>
        </p:nvSpPr>
        <p:spPr>
          <a:xfrm>
            <a:off x="5335929" y="1342663"/>
            <a:ext cx="4713140" cy="551533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00D8DD1F-2F7C-09EB-FBFC-EB19C9063030}"/>
              </a:ext>
            </a:extLst>
          </p:cNvPr>
          <p:cNvSpPr txBox="1"/>
          <p:nvPr/>
        </p:nvSpPr>
        <p:spPr>
          <a:xfrm>
            <a:off x="986092" y="1701478"/>
            <a:ext cx="3784921" cy="5078313"/>
          </a:xfrm>
          <a:prstGeom prst="rect">
            <a:avLst/>
          </a:prstGeom>
          <a:noFill/>
        </p:spPr>
        <p:txBody>
          <a:bodyPr wrap="square" rtlCol="0">
            <a:spAutoFit/>
          </a:bodyPr>
          <a:lstStyle/>
          <a:p>
            <a:r>
              <a:rPr lang="en-US" sz="1800" dirty="0">
                <a:solidFill>
                  <a:srgbClr val="0000FF"/>
                </a:solidFill>
                <a:effectLst/>
                <a:latin typeface="Times New Roman" panose="02020603050405020304" pitchFamily="18" charset="0"/>
                <a:ea typeface="Google Sans Text"/>
              </a:rPr>
              <a:t>1. </a:t>
            </a:r>
            <a:r>
              <a:rPr lang="en-US" sz="1800" dirty="0" err="1">
                <a:solidFill>
                  <a:srgbClr val="0000FF"/>
                </a:solidFill>
                <a:effectLst/>
                <a:latin typeface="Times New Roman" panose="02020603050405020304" pitchFamily="18" charset="0"/>
                <a:ea typeface="Google Sans Text"/>
              </a:rPr>
              <a:t>classdef</a:t>
            </a:r>
            <a:r>
              <a:rPr lang="en-US" sz="1800" dirty="0">
                <a:solidFill>
                  <a:srgbClr val="000000"/>
                </a:solidFill>
                <a:effectLst/>
                <a:latin typeface="Times New Roman" panose="02020603050405020304" pitchFamily="18" charset="0"/>
                <a:ea typeface="Google Sans Text"/>
              </a:rPr>
              <a:t> </a:t>
            </a:r>
            <a:r>
              <a:rPr lang="en-US" sz="1800" dirty="0" err="1">
                <a:solidFill>
                  <a:srgbClr val="000000"/>
                </a:solidFill>
                <a:effectLst/>
                <a:latin typeface="Times New Roman" panose="02020603050405020304" pitchFamily="18" charset="0"/>
                <a:ea typeface="Google Sans Text"/>
              </a:rPr>
              <a:t>IntergrationProblem</a:t>
            </a:r>
            <a:r>
              <a:rPr lang="en-US" sz="1800" dirty="0">
                <a:solidFill>
                  <a:srgbClr val="000000"/>
                </a:solidFill>
                <a:effectLst/>
                <a:latin typeface="Times New Roman" panose="02020603050405020304" pitchFamily="18" charset="0"/>
                <a:ea typeface="Google Sans Text"/>
              </a:rPr>
              <a:t> &lt; </a:t>
            </a:r>
            <a:r>
              <a:rPr lang="en-US" sz="1800" dirty="0" err="1">
                <a:solidFill>
                  <a:srgbClr val="000000"/>
                </a:solidFill>
                <a:effectLst/>
                <a:latin typeface="Times New Roman" panose="02020603050405020304" pitchFamily="18" charset="0"/>
                <a:ea typeface="Google Sans Text"/>
              </a:rPr>
              <a:t>NumericalSolver</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a:solidFill>
                  <a:srgbClr val="008000"/>
                </a:solidFill>
                <a:effectLst/>
                <a:latin typeface="Times New Roman" panose="02020603050405020304" pitchFamily="18" charset="0"/>
                <a:ea typeface="Google Sans Text"/>
              </a:rPr>
              <a:t>% Inherits from </a:t>
            </a:r>
            <a:r>
              <a:rPr lang="en-US" sz="1800" dirty="0" err="1">
                <a:solidFill>
                  <a:srgbClr val="008000"/>
                </a:solidFill>
                <a:effectLst/>
                <a:latin typeface="Times New Roman" panose="02020603050405020304" pitchFamily="18" charset="0"/>
                <a:ea typeface="Google Sans Text"/>
              </a:rPr>
              <a:t>NumericalSolver</a:t>
            </a:r>
            <a:r>
              <a:rPr lang="en-US" sz="1800" dirty="0">
                <a:solidFill>
                  <a:srgbClr val="008000"/>
                </a:solidFill>
                <a:effectLst/>
                <a:latin typeface="Times New Roman" panose="02020603050405020304" pitchFamily="18" charset="0"/>
                <a:ea typeface="Google Sans Text"/>
              </a:rPr>
              <a:t> and implements ODE integration methods.</a:t>
            </a:r>
            <a:br>
              <a:rPr lang="en-US" sz="1800" dirty="0">
                <a:solidFill>
                  <a:srgbClr val="000000"/>
                </a:solidFill>
                <a:effectLst/>
                <a:latin typeface="Times New Roman" panose="02020603050405020304" pitchFamily="18" charset="0"/>
                <a:ea typeface="Google Sans Text"/>
              </a:rPr>
            </a:b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a:solidFill>
                  <a:srgbClr val="0000FF"/>
                </a:solidFill>
                <a:effectLst/>
                <a:latin typeface="Times New Roman" panose="02020603050405020304" pitchFamily="18" charset="0"/>
                <a:ea typeface="Google Sans Text"/>
              </a:rPr>
              <a:t>properties</a:t>
            </a:r>
            <a:r>
              <a:rPr lang="en-US" sz="1800" dirty="0">
                <a:solidFill>
                  <a:srgbClr val="000000"/>
                </a:solidFill>
                <a:effectLst/>
                <a:latin typeface="Times New Roman" panose="02020603050405020304" pitchFamily="18" charset="0"/>
                <a:ea typeface="Google Sans Text"/>
              </a:rPr>
              <a:t> (Access = private)</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a:solidFill>
                  <a:srgbClr val="008000"/>
                </a:solidFill>
                <a:effectLst/>
                <a:latin typeface="Times New Roman" panose="02020603050405020304" pitchFamily="18" charset="0"/>
                <a:ea typeface="Google Sans Text"/>
              </a:rPr>
              <a:t>% Encapsulation: ODE-specific parameters (from the prompt).</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r = 0.1;   </a:t>
            </a:r>
            <a:r>
              <a:rPr lang="en-US" sz="1800" dirty="0">
                <a:solidFill>
                  <a:srgbClr val="008000"/>
                </a:solidFill>
                <a:effectLst/>
                <a:latin typeface="Times New Roman" panose="02020603050405020304" pitchFamily="18" charset="0"/>
                <a:ea typeface="Google Sans Text"/>
              </a:rPr>
              <a:t>% growth rate</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k = 1000;  </a:t>
            </a:r>
            <a:r>
              <a:rPr lang="en-US" sz="1800" dirty="0">
                <a:solidFill>
                  <a:srgbClr val="008000"/>
                </a:solidFill>
                <a:effectLst/>
                <a:latin typeface="Times New Roman" panose="02020603050405020304" pitchFamily="18" charset="0"/>
                <a:ea typeface="Google Sans Text"/>
              </a:rPr>
              <a:t>% carrying capacity</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err="1">
                <a:solidFill>
                  <a:srgbClr val="000000"/>
                </a:solidFill>
                <a:effectLst/>
                <a:latin typeface="Times New Roman" panose="02020603050405020304" pitchFamily="18" charset="0"/>
                <a:ea typeface="Google Sans Text"/>
              </a:rPr>
              <a:t>tspan</a:t>
            </a:r>
            <a:r>
              <a:rPr lang="en-US" sz="1800" dirty="0">
                <a:solidFill>
                  <a:srgbClr val="000000"/>
                </a:solidFill>
                <a:effectLst/>
                <a:latin typeface="Times New Roman" panose="02020603050405020304" pitchFamily="18" charset="0"/>
                <a:ea typeface="Google Sans Text"/>
              </a:rPr>
              <a:t> = [0, 50];</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err="1">
                <a:solidFill>
                  <a:srgbClr val="000000"/>
                </a:solidFill>
                <a:effectLst/>
                <a:latin typeface="Times New Roman" panose="02020603050405020304" pitchFamily="18" charset="0"/>
                <a:ea typeface="Google Sans Text"/>
              </a:rPr>
              <a:t>num_steps</a:t>
            </a:r>
            <a:r>
              <a:rPr lang="en-US" sz="1800" dirty="0">
                <a:solidFill>
                  <a:srgbClr val="000000"/>
                </a:solidFill>
                <a:effectLst/>
                <a:latin typeface="Times New Roman" panose="02020603050405020304" pitchFamily="18" charset="0"/>
                <a:ea typeface="Google Sans Text"/>
              </a:rPr>
              <a:t> = 500;</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err="1">
                <a:solidFill>
                  <a:srgbClr val="000000"/>
                </a:solidFill>
                <a:effectLst/>
                <a:latin typeface="Times New Roman" panose="02020603050405020304" pitchFamily="18" charset="0"/>
                <a:ea typeface="Google Sans Text"/>
              </a:rPr>
              <a:t>time_points</a:t>
            </a:r>
            <a:r>
              <a:rPr lang="en-US" sz="1800" dirty="0">
                <a:solidFill>
                  <a:srgbClr val="000000"/>
                </a:solidFill>
                <a:effectLst/>
                <a:latin typeface="Times New Roman" panose="02020603050405020304" pitchFamily="18" charset="0"/>
                <a:ea typeface="Google Sans Text"/>
              </a:rPr>
              <a:t>;</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err="1">
                <a:solidFill>
                  <a:srgbClr val="000000"/>
                </a:solidFill>
                <a:effectLst/>
                <a:latin typeface="Times New Roman" panose="02020603050405020304" pitchFamily="18" charset="0"/>
                <a:ea typeface="Google Sans Text"/>
              </a:rPr>
              <a:t>solution_y</a:t>
            </a:r>
            <a:r>
              <a:rPr lang="en-US" sz="1800" dirty="0">
                <a:solidFill>
                  <a:srgbClr val="000000"/>
                </a:solidFill>
                <a:effectLst/>
                <a:latin typeface="Times New Roman" panose="02020603050405020304" pitchFamily="18" charset="0"/>
                <a:ea typeface="Google Sans Text"/>
              </a:rPr>
              <a:t>;</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err="1">
                <a:solidFill>
                  <a:srgbClr val="000000"/>
                </a:solidFill>
                <a:effectLst/>
                <a:latin typeface="Times New Roman" panose="02020603050405020304" pitchFamily="18" charset="0"/>
                <a:ea typeface="Google Sans Text"/>
              </a:rPr>
              <a:t>method_used</a:t>
            </a:r>
            <a:r>
              <a:rPr lang="en-US" sz="1800" dirty="0">
                <a:solidFill>
                  <a:srgbClr val="000000"/>
                </a:solidFill>
                <a:effectLst/>
                <a:latin typeface="Times New Roman" panose="02020603050405020304" pitchFamily="18" charset="0"/>
                <a:ea typeface="Google Sans Text"/>
              </a:rPr>
              <a:t> = </a:t>
            </a:r>
            <a:r>
              <a:rPr lang="en-US" sz="1800" dirty="0">
                <a:solidFill>
                  <a:srgbClr val="800000"/>
                </a:solidFill>
                <a:effectLst/>
                <a:latin typeface="Times New Roman" panose="02020603050405020304" pitchFamily="18" charset="0"/>
                <a:ea typeface="Google Sans Text"/>
              </a:rPr>
              <a:t>'None'</a:t>
            </a:r>
            <a:r>
              <a:rPr lang="en-US" sz="1800" dirty="0">
                <a:solidFill>
                  <a:srgbClr val="000000"/>
                </a:solidFill>
                <a:effectLst/>
                <a:latin typeface="Times New Roman" panose="02020603050405020304" pitchFamily="18" charset="0"/>
                <a:ea typeface="Google Sans Text"/>
              </a:rPr>
              <a:t>;</a:t>
            </a:r>
            <a:br>
              <a:rPr lang="en-US" sz="1800" dirty="0">
                <a:solidFill>
                  <a:srgbClr val="000000"/>
                </a:solidFill>
                <a:effectLst/>
                <a:latin typeface="Times New Roman" panose="02020603050405020304" pitchFamily="18" charset="0"/>
                <a:ea typeface="Google Sans Text"/>
              </a:rPr>
            </a:br>
            <a:r>
              <a:rPr lang="en-US" sz="1800" dirty="0">
                <a:solidFill>
                  <a:srgbClr val="000000"/>
                </a:solidFill>
                <a:effectLst/>
                <a:latin typeface="Times New Roman" panose="02020603050405020304" pitchFamily="18" charset="0"/>
                <a:ea typeface="Google Sans Text"/>
              </a:rPr>
              <a:t>    </a:t>
            </a:r>
            <a:r>
              <a:rPr lang="en-US" sz="1800" dirty="0">
                <a:solidFill>
                  <a:srgbClr val="0000FF"/>
                </a:solidFill>
                <a:effectLst/>
                <a:latin typeface="Times New Roman" panose="02020603050405020304" pitchFamily="18" charset="0"/>
                <a:ea typeface="Google Sans Text"/>
              </a:rPr>
              <a:t>end</a:t>
            </a:r>
            <a:br>
              <a:rPr lang="en-US" sz="1800" dirty="0">
                <a:solidFill>
                  <a:srgbClr val="000000"/>
                </a:solidFill>
                <a:effectLst/>
                <a:latin typeface="Times New Roman" panose="02020603050405020304" pitchFamily="18" charset="0"/>
                <a:ea typeface="Google Sans Text"/>
              </a:rPr>
            </a:br>
            <a:endParaRPr lang="en-US" dirty="0"/>
          </a:p>
        </p:txBody>
      </p:sp>
      <p:sp>
        <p:nvSpPr>
          <p:cNvPr id="10" name="TextBox 9">
            <a:extLst>
              <a:ext uri="{FF2B5EF4-FFF2-40B4-BE49-F238E27FC236}">
                <a16:creationId xmlns:a16="http://schemas.microsoft.com/office/drawing/2014/main" id="{F9333638-2707-E893-D4CA-91E59FEF3129}"/>
              </a:ext>
            </a:extLst>
          </p:cNvPr>
          <p:cNvSpPr txBox="1"/>
          <p:nvPr/>
        </p:nvSpPr>
        <p:spPr>
          <a:xfrm>
            <a:off x="5457248" y="1427585"/>
            <a:ext cx="4230763" cy="5509200"/>
          </a:xfrm>
          <a:prstGeom prst="rect">
            <a:avLst/>
          </a:prstGeom>
          <a:noFill/>
        </p:spPr>
        <p:txBody>
          <a:bodyPr wrap="square" rtlCol="0">
            <a:spAutoFit/>
          </a:bodyPr>
          <a:lstStyle/>
          <a:p>
            <a:r>
              <a:rPr lang="en-US" sz="1600" dirty="0">
                <a:solidFill>
                  <a:srgbClr val="000000"/>
                </a:solidFill>
                <a:effectLst/>
                <a:latin typeface="Times New Roman" panose="02020603050405020304" pitchFamily="18" charset="0"/>
                <a:ea typeface="Google Sans Text"/>
              </a:rPr>
              <a:t> 2. </a:t>
            </a:r>
            <a:r>
              <a:rPr lang="en-US" sz="1600" dirty="0">
                <a:solidFill>
                  <a:srgbClr val="0000FF"/>
                </a:solidFill>
                <a:effectLst/>
                <a:latin typeface="Times New Roman" panose="02020603050405020304" pitchFamily="18" charset="0"/>
                <a:ea typeface="Google Sans Text"/>
              </a:rPr>
              <a:t>methods</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00FF"/>
                </a:solidFill>
                <a:effectLst/>
                <a:latin typeface="Times New Roman" panose="02020603050405020304" pitchFamily="18" charset="0"/>
                <a:ea typeface="Google Sans Text"/>
              </a:rPr>
              <a:t>function</a:t>
            </a:r>
            <a:r>
              <a:rPr lang="en-US" sz="1600" dirty="0">
                <a:solidFill>
                  <a:srgbClr val="000000"/>
                </a:solidFill>
                <a:effectLst/>
                <a:latin typeface="Times New Roman" panose="02020603050405020304" pitchFamily="18" charset="0"/>
                <a:ea typeface="Google Sans Text"/>
              </a:rPr>
              <a:t> obj = </a:t>
            </a:r>
            <a:r>
              <a:rPr lang="en-US" sz="1600" dirty="0" err="1">
                <a:solidFill>
                  <a:srgbClr val="000000"/>
                </a:solidFill>
                <a:effectLst/>
                <a:latin typeface="Times New Roman" panose="02020603050405020304" pitchFamily="18" charset="0"/>
                <a:ea typeface="Google Sans Text"/>
              </a:rPr>
              <a:t>IntergrationProblem</a:t>
            </a: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initial_pop</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8000"/>
                </a:solidFill>
                <a:effectLst/>
                <a:latin typeface="Times New Roman" panose="02020603050405020304" pitchFamily="18" charset="0"/>
                <a:ea typeface="Google Sans Text"/>
              </a:rPr>
              <a:t>% Constructor: Pass a dummy </a:t>
            </a:r>
            <a:r>
              <a:rPr lang="en-US" sz="1600" dirty="0" err="1">
                <a:solidFill>
                  <a:srgbClr val="008000"/>
                </a:solidFill>
                <a:effectLst/>
                <a:latin typeface="Times New Roman" panose="02020603050405020304" pitchFamily="18" charset="0"/>
                <a:ea typeface="Google Sans Text"/>
              </a:rPr>
              <a:t>func</a:t>
            </a:r>
            <a:r>
              <a:rPr lang="en-US" sz="1600" dirty="0">
                <a:solidFill>
                  <a:srgbClr val="008000"/>
                </a:solidFill>
                <a:effectLst/>
                <a:latin typeface="Times New Roman" panose="02020603050405020304" pitchFamily="18" charset="0"/>
                <a:ea typeface="Google Sans Text"/>
              </a:rPr>
              <a:t>, use </a:t>
            </a:r>
            <a:r>
              <a:rPr lang="en-US" sz="1600" dirty="0" err="1">
                <a:solidFill>
                  <a:srgbClr val="008000"/>
                </a:solidFill>
                <a:effectLst/>
                <a:latin typeface="Times New Roman" panose="02020603050405020304" pitchFamily="18" charset="0"/>
                <a:ea typeface="Google Sans Text"/>
              </a:rPr>
              <a:t>initial_pop</a:t>
            </a:r>
            <a:r>
              <a:rPr lang="en-US" sz="1600" dirty="0">
                <a:solidFill>
                  <a:srgbClr val="008000"/>
                </a:solidFill>
                <a:effectLst/>
                <a:latin typeface="Times New Roman" panose="02020603050405020304" pitchFamily="18" charset="0"/>
                <a:ea typeface="Google Sans Text"/>
              </a:rPr>
              <a:t> as </a:t>
            </a:r>
            <a:r>
              <a:rPr lang="en-US" sz="1600" dirty="0" err="1">
                <a:solidFill>
                  <a:srgbClr val="008000"/>
                </a:solidFill>
                <a:effectLst/>
                <a:latin typeface="Times New Roman" panose="02020603050405020304" pitchFamily="18" charset="0"/>
                <a:ea typeface="Google Sans Text"/>
              </a:rPr>
              <a:t>initial_data</a:t>
            </a:r>
            <a:r>
              <a:rPr lang="en-US" sz="1600" dirty="0">
                <a:solidFill>
                  <a:srgbClr val="008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8000"/>
                </a:solidFill>
                <a:effectLst/>
                <a:latin typeface="Times New Roman" panose="02020603050405020304" pitchFamily="18" charset="0"/>
                <a:ea typeface="Google Sans Text"/>
              </a:rPr>
              <a:t>% The actual ODE (</a:t>
            </a:r>
            <a:r>
              <a:rPr lang="en-US" sz="1600" dirty="0" err="1">
                <a:solidFill>
                  <a:srgbClr val="008000"/>
                </a:solidFill>
                <a:effectLst/>
                <a:latin typeface="Times New Roman" panose="02020603050405020304" pitchFamily="18" charset="0"/>
                <a:ea typeface="Google Sans Text"/>
              </a:rPr>
              <a:t>dP</a:t>
            </a:r>
            <a:r>
              <a:rPr lang="en-US" sz="1600" dirty="0">
                <a:solidFill>
                  <a:srgbClr val="008000"/>
                </a:solidFill>
                <a:effectLst/>
                <a:latin typeface="Times New Roman" panose="02020603050405020304" pitchFamily="18" charset="0"/>
                <a:ea typeface="Google Sans Text"/>
              </a:rPr>
              <a:t>/dt) is defined within the solver methods.</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obj = </a:t>
            </a:r>
            <a:r>
              <a:rPr lang="en-US" sz="1600" dirty="0" err="1">
                <a:solidFill>
                  <a:srgbClr val="000000"/>
                </a:solidFill>
                <a:effectLst/>
                <a:latin typeface="Times New Roman" panose="02020603050405020304" pitchFamily="18" charset="0"/>
                <a:ea typeface="Google Sans Text"/>
              </a:rPr>
              <a:t>obj@NumericalSolver</a:t>
            </a:r>
            <a:r>
              <a:rPr lang="en-US" sz="1600" dirty="0">
                <a:solidFill>
                  <a:srgbClr val="000000"/>
                </a:solidFill>
                <a:effectLst/>
                <a:latin typeface="Times New Roman" panose="02020603050405020304" pitchFamily="18" charset="0"/>
                <a:ea typeface="Google Sans Text"/>
              </a:rPr>
              <a:t>(@(t, y) 0, </a:t>
            </a:r>
            <a:r>
              <a:rPr lang="en-US" sz="1600" dirty="0" err="1">
                <a:solidFill>
                  <a:srgbClr val="000000"/>
                </a:solidFill>
                <a:effectLst/>
                <a:latin typeface="Times New Roman" panose="02020603050405020304" pitchFamily="18" charset="0"/>
                <a:ea typeface="Google Sans Text"/>
              </a:rPr>
              <a:t>initial_pop</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obj.time_points</a:t>
            </a:r>
            <a:r>
              <a:rPr lang="en-US" sz="1600" dirty="0">
                <a:solidFill>
                  <a:srgbClr val="000000"/>
                </a:solidFill>
                <a:effectLst/>
                <a:latin typeface="Times New Roman" panose="02020603050405020304" pitchFamily="18" charset="0"/>
                <a:ea typeface="Google Sans Text"/>
              </a:rPr>
              <a:t> = </a:t>
            </a:r>
            <a:r>
              <a:rPr lang="en-US" sz="1600" dirty="0" err="1">
                <a:solidFill>
                  <a:srgbClr val="000000"/>
                </a:solidFill>
                <a:effectLst/>
                <a:latin typeface="Times New Roman" panose="02020603050405020304" pitchFamily="18" charset="0"/>
                <a:ea typeface="Google Sans Text"/>
              </a:rPr>
              <a:t>linspace</a:t>
            </a:r>
            <a:r>
              <a:rPr lang="en-US" sz="1600" dirty="0">
                <a:solidFill>
                  <a:srgbClr val="000000"/>
                </a:solidFill>
                <a:effectLst/>
                <a:latin typeface="Times New Roman" panose="02020603050405020304" pitchFamily="18" charset="0"/>
                <a:ea typeface="Google Sans Text"/>
              </a:rPr>
              <a:t>(</a:t>
            </a:r>
            <a:r>
              <a:rPr lang="en-US" sz="1600" dirty="0" err="1">
                <a:solidFill>
                  <a:srgbClr val="000000"/>
                </a:solidFill>
                <a:effectLst/>
                <a:latin typeface="Times New Roman" panose="02020603050405020304" pitchFamily="18" charset="0"/>
                <a:ea typeface="Google Sans Text"/>
              </a:rPr>
              <a:t>obj.tspan</a:t>
            </a:r>
            <a:r>
              <a:rPr lang="en-US" sz="1600" dirty="0">
                <a:solidFill>
                  <a:srgbClr val="000000"/>
                </a:solidFill>
                <a:effectLst/>
                <a:latin typeface="Times New Roman" panose="02020603050405020304" pitchFamily="18" charset="0"/>
                <a:ea typeface="Google Sans Text"/>
              </a:rPr>
              <a:t>(1), </a:t>
            </a:r>
            <a:r>
              <a:rPr lang="en-US" sz="1600" dirty="0" err="1">
                <a:solidFill>
                  <a:srgbClr val="000000"/>
                </a:solidFill>
                <a:effectLst/>
                <a:latin typeface="Times New Roman" panose="02020603050405020304" pitchFamily="18" charset="0"/>
                <a:ea typeface="Google Sans Text"/>
              </a:rPr>
              <a:t>obj.tspan</a:t>
            </a:r>
            <a:r>
              <a:rPr lang="en-US" sz="1600" dirty="0">
                <a:solidFill>
                  <a:srgbClr val="000000"/>
                </a:solidFill>
                <a:effectLst/>
                <a:latin typeface="Times New Roman" panose="02020603050405020304" pitchFamily="18" charset="0"/>
                <a:ea typeface="Google Sans Text"/>
              </a:rPr>
              <a:t>(2), </a:t>
            </a:r>
            <a:r>
              <a:rPr lang="en-US" sz="1600" dirty="0" err="1">
                <a:solidFill>
                  <a:srgbClr val="000000"/>
                </a:solidFill>
                <a:effectLst/>
                <a:latin typeface="Times New Roman" panose="02020603050405020304" pitchFamily="18" charset="0"/>
                <a:ea typeface="Google Sans Text"/>
              </a:rPr>
              <a:t>obj.num_steps</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00FF"/>
                </a:solidFill>
                <a:effectLst/>
                <a:latin typeface="Times New Roman" panose="02020603050405020304" pitchFamily="18" charset="0"/>
                <a:ea typeface="Google Sans Text"/>
              </a:rPr>
              <a:t>end</a:t>
            </a:r>
            <a:br>
              <a:rPr lang="en-US" sz="1600" dirty="0">
                <a:solidFill>
                  <a:srgbClr val="000000"/>
                </a:solidFill>
                <a:effectLst/>
                <a:latin typeface="Times New Roman" panose="02020603050405020304" pitchFamily="18" charset="0"/>
                <a:ea typeface="Google Sans Text"/>
              </a:rPr>
            </a:b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00FF"/>
                </a:solidFill>
                <a:effectLst/>
                <a:latin typeface="Times New Roman" panose="02020603050405020304" pitchFamily="18" charset="0"/>
                <a:ea typeface="Google Sans Text"/>
              </a:rPr>
              <a:t>function</a:t>
            </a:r>
            <a:r>
              <a:rPr lang="en-US" sz="1600" dirty="0">
                <a:solidFill>
                  <a:srgbClr val="000000"/>
                </a:solidFill>
                <a:effectLst/>
                <a:latin typeface="Times New Roman" panose="02020603050405020304" pitchFamily="18" charset="0"/>
                <a:ea typeface="Google Sans Text"/>
              </a:rPr>
              <a:t> solve(obj, method)</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8000"/>
                </a:solidFill>
                <a:effectLst/>
                <a:latin typeface="Times New Roman" panose="02020603050405020304" pitchFamily="18" charset="0"/>
                <a:ea typeface="Google Sans Text"/>
              </a:rPr>
              <a:t>% Polymorphism: Implements the abstract 'solve' method.</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obj.method_used</a:t>
            </a:r>
            <a:r>
              <a:rPr lang="en-US" sz="1600" dirty="0">
                <a:solidFill>
                  <a:srgbClr val="000000"/>
                </a:solidFill>
                <a:effectLst/>
                <a:latin typeface="Times New Roman" panose="02020603050405020304" pitchFamily="18" charset="0"/>
                <a:ea typeface="Google Sans Text"/>
              </a:rPr>
              <a:t> = lower(method);</a:t>
            </a:r>
            <a:br>
              <a:rPr lang="en-US" sz="1600" dirty="0">
                <a:solidFill>
                  <a:srgbClr val="000000"/>
                </a:solidFill>
                <a:effectLst/>
                <a:latin typeface="Times New Roman" panose="02020603050405020304" pitchFamily="18" charset="0"/>
                <a:ea typeface="Google Sans Text"/>
              </a:rPr>
            </a:b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8000"/>
                </a:solidFill>
                <a:effectLst/>
                <a:latin typeface="Times New Roman" panose="02020603050405020304" pitchFamily="18" charset="0"/>
                <a:ea typeface="Google Sans Text"/>
              </a:rPr>
              <a:t>% The core ODE function for the Logistic model</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f_ode</a:t>
            </a:r>
            <a:r>
              <a:rPr lang="en-US" sz="1600" dirty="0">
                <a:solidFill>
                  <a:srgbClr val="000000"/>
                </a:solidFill>
                <a:effectLst/>
                <a:latin typeface="Times New Roman" panose="02020603050405020304" pitchFamily="18" charset="0"/>
                <a:ea typeface="Google Sans Text"/>
              </a:rPr>
              <a:t> = @(P) </a:t>
            </a:r>
            <a:r>
              <a:rPr lang="en-US" sz="1600" dirty="0" err="1">
                <a:solidFill>
                  <a:srgbClr val="000000"/>
                </a:solidFill>
                <a:effectLst/>
                <a:latin typeface="Times New Roman" panose="02020603050405020304" pitchFamily="18" charset="0"/>
                <a:ea typeface="Google Sans Text"/>
              </a:rPr>
              <a:t>obj.r</a:t>
            </a:r>
            <a:r>
              <a:rPr lang="en-US" sz="1600" dirty="0">
                <a:solidFill>
                  <a:srgbClr val="000000"/>
                </a:solidFill>
                <a:effectLst/>
                <a:latin typeface="Times New Roman" panose="02020603050405020304" pitchFamily="18" charset="0"/>
                <a:ea typeface="Google Sans Text"/>
              </a:rPr>
              <a:t> * P * (1 - P / </a:t>
            </a:r>
            <a:r>
              <a:rPr lang="en-US" sz="1600" dirty="0" err="1">
                <a:solidFill>
                  <a:srgbClr val="000000"/>
                </a:solidFill>
                <a:effectLst/>
                <a:latin typeface="Times New Roman" panose="02020603050405020304" pitchFamily="18" charset="0"/>
                <a:ea typeface="Google Sans Text"/>
              </a:rPr>
              <a:t>obj.k</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endParaRPr lang="en-US" sz="1600" dirty="0"/>
          </a:p>
        </p:txBody>
      </p:sp>
    </p:spTree>
    <p:extLst>
      <p:ext uri="{BB962C8B-B14F-4D97-AF65-F5344CB8AC3E}">
        <p14:creationId xmlns:p14="http://schemas.microsoft.com/office/powerpoint/2010/main" val="77297573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5287FEF-0F15-5283-613C-332EA8478A85}"/>
              </a:ext>
            </a:extLst>
          </p:cNvPr>
          <p:cNvSpPr/>
          <p:nvPr/>
        </p:nvSpPr>
        <p:spPr>
          <a:xfrm>
            <a:off x="177281" y="405881"/>
            <a:ext cx="5085184" cy="3023119"/>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215B9B27-E559-9409-F2E2-EA5BE646D166}"/>
              </a:ext>
            </a:extLst>
          </p:cNvPr>
          <p:cNvSpPr/>
          <p:nvPr/>
        </p:nvSpPr>
        <p:spPr>
          <a:xfrm>
            <a:off x="5495732" y="195943"/>
            <a:ext cx="4945224" cy="6568751"/>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E19F16B-213A-D8CD-B34A-D70407359A49}"/>
              </a:ext>
            </a:extLst>
          </p:cNvPr>
          <p:cNvSpPr txBox="1"/>
          <p:nvPr/>
        </p:nvSpPr>
        <p:spPr>
          <a:xfrm>
            <a:off x="821095" y="405881"/>
            <a:ext cx="3946849" cy="3293209"/>
          </a:xfrm>
          <a:prstGeom prst="rect">
            <a:avLst/>
          </a:prstGeom>
          <a:noFill/>
        </p:spPr>
        <p:txBody>
          <a:bodyPr wrap="square" rtlCol="0">
            <a:spAutoFit/>
          </a:bodyPr>
          <a:lstStyle/>
          <a:p>
            <a:r>
              <a:rPr lang="en-US" sz="1600" dirty="0">
                <a:solidFill>
                  <a:srgbClr val="000000"/>
                </a:solidFill>
                <a:latin typeface="Times New Roman" panose="02020603050405020304" pitchFamily="18" charset="0"/>
                <a:ea typeface="Google Sans Text"/>
              </a:rPr>
              <a:t> 1. </a:t>
            </a:r>
            <a:r>
              <a:rPr lang="en-US" sz="1600" dirty="0">
                <a:solidFill>
                  <a:srgbClr val="0000FF"/>
                </a:solidFill>
                <a:effectLst/>
                <a:latin typeface="Times New Roman" panose="02020603050405020304" pitchFamily="18" charset="0"/>
                <a:ea typeface="Google Sans Text"/>
              </a:rPr>
              <a:t>switch</a:t>
            </a: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obj.method_used</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00FF"/>
                </a:solidFill>
                <a:effectLst/>
                <a:latin typeface="Times New Roman" panose="02020603050405020304" pitchFamily="18" charset="0"/>
                <a:ea typeface="Google Sans Text"/>
              </a:rPr>
              <a:t>case</a:t>
            </a:r>
            <a:r>
              <a:rPr lang="en-US" sz="1600" dirty="0">
                <a:solidFill>
                  <a:srgbClr val="000000"/>
                </a:solidFill>
                <a:effectLst/>
                <a:latin typeface="Times New Roman" panose="02020603050405020304" pitchFamily="18" charset="0"/>
                <a:ea typeface="Google Sans Text"/>
              </a:rPr>
              <a:t> </a:t>
            </a:r>
            <a:r>
              <a:rPr lang="en-US" sz="1600" dirty="0">
                <a:solidFill>
                  <a:srgbClr val="800000"/>
                </a:solidFill>
                <a:effectLst/>
                <a:latin typeface="Times New Roman" panose="02020603050405020304" pitchFamily="18" charset="0"/>
                <a:ea typeface="Google Sans Text"/>
              </a:rPr>
              <a:t>'</a:t>
            </a:r>
            <a:r>
              <a:rPr lang="en-US" sz="1600" dirty="0" err="1">
                <a:solidFill>
                  <a:srgbClr val="800000"/>
                </a:solidFill>
                <a:effectLst/>
                <a:latin typeface="Times New Roman" panose="02020603050405020304" pitchFamily="18" charset="0"/>
                <a:ea typeface="Google Sans Text"/>
              </a:rPr>
              <a:t>euler</a:t>
            </a:r>
            <a:r>
              <a:rPr lang="en-US" sz="1600" dirty="0">
                <a:solidFill>
                  <a:srgbClr val="8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obj.time_points</a:t>
            </a: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obj.solution_y</a:t>
            </a:r>
            <a:r>
              <a:rPr lang="en-US" sz="1600" dirty="0">
                <a:solidFill>
                  <a:srgbClr val="000000"/>
                </a:solidFill>
                <a:effectLst/>
                <a:latin typeface="Times New Roman" panose="02020603050405020304" pitchFamily="18" charset="0"/>
                <a:ea typeface="Google Sans Text"/>
              </a:rPr>
              <a:t>] = </a:t>
            </a:r>
            <a:r>
              <a:rPr lang="en-US" sz="1600" dirty="0" err="1">
                <a:solidFill>
                  <a:srgbClr val="000000"/>
                </a:solidFill>
                <a:effectLst/>
                <a:latin typeface="Times New Roman" panose="02020603050405020304" pitchFamily="18" charset="0"/>
                <a:ea typeface="Google Sans Text"/>
              </a:rPr>
              <a:t>obj.eulerMethod</a:t>
            </a:r>
            <a:r>
              <a:rPr lang="en-US" sz="1600" dirty="0">
                <a:solidFill>
                  <a:srgbClr val="000000"/>
                </a:solidFill>
                <a:effectLst/>
                <a:latin typeface="Times New Roman" panose="02020603050405020304" pitchFamily="18" charset="0"/>
                <a:ea typeface="Google Sans Text"/>
              </a:rPr>
              <a:t>(</a:t>
            </a:r>
            <a:r>
              <a:rPr lang="en-US" sz="1600" dirty="0" err="1">
                <a:solidFill>
                  <a:srgbClr val="000000"/>
                </a:solidFill>
                <a:effectLst/>
                <a:latin typeface="Times New Roman" panose="02020603050405020304" pitchFamily="18" charset="0"/>
                <a:ea typeface="Google Sans Text"/>
              </a:rPr>
              <a:t>f_ode</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00FF"/>
                </a:solidFill>
                <a:effectLst/>
                <a:latin typeface="Times New Roman" panose="02020603050405020304" pitchFamily="18" charset="0"/>
                <a:ea typeface="Google Sans Text"/>
              </a:rPr>
              <a:t>case</a:t>
            </a:r>
            <a:r>
              <a:rPr lang="en-US" sz="1600" dirty="0">
                <a:solidFill>
                  <a:srgbClr val="000000"/>
                </a:solidFill>
                <a:effectLst/>
                <a:latin typeface="Times New Roman" panose="02020603050405020304" pitchFamily="18" charset="0"/>
                <a:ea typeface="Google Sans Text"/>
              </a:rPr>
              <a:t> </a:t>
            </a:r>
            <a:r>
              <a:rPr lang="en-US" sz="1600" dirty="0">
                <a:solidFill>
                  <a:srgbClr val="800000"/>
                </a:solidFill>
                <a:effectLst/>
                <a:latin typeface="Times New Roman" panose="02020603050405020304" pitchFamily="18" charset="0"/>
                <a:ea typeface="Google Sans Text"/>
              </a:rPr>
              <a:t>'</a:t>
            </a:r>
            <a:r>
              <a:rPr lang="en-US" sz="1600" dirty="0" err="1">
                <a:solidFill>
                  <a:srgbClr val="800000"/>
                </a:solidFill>
                <a:effectLst/>
                <a:latin typeface="Times New Roman" panose="02020603050405020304" pitchFamily="18" charset="0"/>
                <a:ea typeface="Google Sans Text"/>
              </a:rPr>
              <a:t>rungekutta</a:t>
            </a:r>
            <a:r>
              <a:rPr lang="en-US" sz="1600" dirty="0">
                <a:solidFill>
                  <a:srgbClr val="8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obj.time_points</a:t>
            </a: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obj.solution_y</a:t>
            </a:r>
            <a:r>
              <a:rPr lang="en-US" sz="1600" dirty="0">
                <a:solidFill>
                  <a:srgbClr val="000000"/>
                </a:solidFill>
                <a:effectLst/>
                <a:latin typeface="Times New Roman" panose="02020603050405020304" pitchFamily="18" charset="0"/>
                <a:ea typeface="Google Sans Text"/>
              </a:rPr>
              <a:t>] = obj.rungeKutta4(</a:t>
            </a:r>
            <a:r>
              <a:rPr lang="en-US" sz="1600" dirty="0" err="1">
                <a:solidFill>
                  <a:srgbClr val="000000"/>
                </a:solidFill>
                <a:effectLst/>
                <a:latin typeface="Times New Roman" panose="02020603050405020304" pitchFamily="18" charset="0"/>
                <a:ea typeface="Google Sans Text"/>
              </a:rPr>
              <a:t>f_ode</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00FF"/>
                </a:solidFill>
                <a:effectLst/>
                <a:latin typeface="Times New Roman" panose="02020603050405020304" pitchFamily="18" charset="0"/>
                <a:ea typeface="Google Sans Text"/>
              </a:rPr>
              <a:t>otherwise</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error(</a:t>
            </a:r>
            <a:r>
              <a:rPr lang="en-US" sz="1600" dirty="0">
                <a:solidFill>
                  <a:srgbClr val="800000"/>
                </a:solidFill>
                <a:effectLst/>
                <a:latin typeface="Times New Roman" panose="02020603050405020304" pitchFamily="18" charset="0"/>
                <a:ea typeface="Google Sans Text"/>
              </a:rPr>
              <a:t>'Unsupported ODE solver method: %s.'</a:t>
            </a:r>
            <a:r>
              <a:rPr lang="en-US" sz="1600" dirty="0">
                <a:solidFill>
                  <a:srgbClr val="000000"/>
                </a:solidFill>
                <a:effectLst/>
                <a:latin typeface="Times New Roman" panose="02020603050405020304" pitchFamily="18" charset="0"/>
                <a:ea typeface="Google Sans Text"/>
              </a:rPr>
              <a:t>, method);</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00FF"/>
                </a:solidFill>
                <a:effectLst/>
                <a:latin typeface="Times New Roman" panose="02020603050405020304" pitchFamily="18" charset="0"/>
                <a:ea typeface="Google Sans Text"/>
              </a:rPr>
              <a:t>end</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FF"/>
                </a:solidFill>
                <a:effectLst/>
                <a:latin typeface="Times New Roman" panose="02020603050405020304" pitchFamily="18" charset="0"/>
                <a:ea typeface="Google Sans Text"/>
              </a:rPr>
              <a:t>end</a:t>
            </a:r>
            <a:br>
              <a:rPr lang="en-US" sz="1600" dirty="0">
                <a:solidFill>
                  <a:srgbClr val="000000"/>
                </a:solidFill>
                <a:effectLst/>
                <a:latin typeface="Times New Roman" panose="02020603050405020304" pitchFamily="18" charset="0"/>
                <a:ea typeface="Google Sans Text"/>
              </a:rPr>
            </a:br>
            <a:endParaRPr lang="en-US" sz="1600" dirty="0"/>
          </a:p>
        </p:txBody>
      </p:sp>
      <p:sp>
        <p:nvSpPr>
          <p:cNvPr id="5" name="Rectangle: Rounded Corners 4">
            <a:extLst>
              <a:ext uri="{FF2B5EF4-FFF2-40B4-BE49-F238E27FC236}">
                <a16:creationId xmlns:a16="http://schemas.microsoft.com/office/drawing/2014/main" id="{E25D7886-5717-1563-18A7-FF5E3CB46022}"/>
              </a:ext>
            </a:extLst>
          </p:cNvPr>
          <p:cNvSpPr/>
          <p:nvPr/>
        </p:nvSpPr>
        <p:spPr>
          <a:xfrm>
            <a:off x="270587" y="3573624"/>
            <a:ext cx="4991877" cy="319107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6" name="TextBox 5">
            <a:extLst>
              <a:ext uri="{FF2B5EF4-FFF2-40B4-BE49-F238E27FC236}">
                <a16:creationId xmlns:a16="http://schemas.microsoft.com/office/drawing/2014/main" id="{B37E6BE9-51A9-99C3-DDDC-EDFC78CC605E}"/>
              </a:ext>
            </a:extLst>
          </p:cNvPr>
          <p:cNvSpPr txBox="1"/>
          <p:nvPr/>
        </p:nvSpPr>
        <p:spPr>
          <a:xfrm>
            <a:off x="643813" y="3594122"/>
            <a:ext cx="4301412" cy="3539430"/>
          </a:xfrm>
          <a:prstGeom prst="rect">
            <a:avLst/>
          </a:prstGeom>
          <a:noFill/>
        </p:spPr>
        <p:txBody>
          <a:bodyPr wrap="square" rtlCol="0">
            <a:spAutoFit/>
          </a:bodyPr>
          <a:lstStyle/>
          <a:p>
            <a:r>
              <a:rPr lang="en-US" sz="1600" dirty="0">
                <a:solidFill>
                  <a:srgbClr val="000000"/>
                </a:solidFill>
                <a:effectLst/>
                <a:latin typeface="Times New Roman" panose="02020603050405020304" pitchFamily="18" charset="0"/>
                <a:ea typeface="Google Sans Text"/>
              </a:rPr>
              <a:t> 3. </a:t>
            </a:r>
            <a:r>
              <a:rPr lang="en-US" sz="1600" dirty="0">
                <a:solidFill>
                  <a:srgbClr val="0000FF"/>
                </a:solidFill>
                <a:effectLst/>
                <a:latin typeface="Times New Roman" panose="02020603050405020304" pitchFamily="18" charset="0"/>
                <a:ea typeface="Google Sans Text"/>
              </a:rPr>
              <a:t>methods</a:t>
            </a:r>
            <a:r>
              <a:rPr lang="en-US" sz="1600" dirty="0">
                <a:solidFill>
                  <a:srgbClr val="000000"/>
                </a:solidFill>
                <a:effectLst/>
                <a:latin typeface="Times New Roman" panose="02020603050405020304" pitchFamily="18" charset="0"/>
                <a:ea typeface="Google Sans Text"/>
              </a:rPr>
              <a:t> (Access = private)</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8000"/>
                </a:solidFill>
                <a:effectLst/>
                <a:latin typeface="Times New Roman" panose="02020603050405020304" pitchFamily="18" charset="0"/>
                <a:ea typeface="Google Sans Text"/>
              </a:rPr>
              <a:t>% Encapsulated methods for the algorithms</a:t>
            </a:r>
            <a:br>
              <a:rPr lang="en-US" sz="1600" dirty="0">
                <a:solidFill>
                  <a:srgbClr val="000000"/>
                </a:solidFill>
                <a:effectLst/>
                <a:latin typeface="Times New Roman" panose="02020603050405020304" pitchFamily="18" charset="0"/>
                <a:ea typeface="Google Sans Text"/>
              </a:rPr>
            </a:b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00FF"/>
                </a:solidFill>
                <a:effectLst/>
                <a:latin typeface="Times New Roman" panose="02020603050405020304" pitchFamily="18" charset="0"/>
                <a:ea typeface="Google Sans Text"/>
              </a:rPr>
              <a:t>function</a:t>
            </a:r>
            <a:r>
              <a:rPr lang="en-US" sz="1600" dirty="0">
                <a:solidFill>
                  <a:srgbClr val="000000"/>
                </a:solidFill>
                <a:effectLst/>
                <a:latin typeface="Times New Roman" panose="02020603050405020304" pitchFamily="18" charset="0"/>
                <a:ea typeface="Google Sans Text"/>
              </a:rPr>
              <a:t> [t, y] = </a:t>
            </a:r>
            <a:r>
              <a:rPr lang="en-US" sz="1600" dirty="0" err="1">
                <a:solidFill>
                  <a:srgbClr val="000000"/>
                </a:solidFill>
                <a:effectLst/>
                <a:latin typeface="Times New Roman" panose="02020603050405020304" pitchFamily="18" charset="0"/>
                <a:ea typeface="Google Sans Text"/>
              </a:rPr>
              <a:t>eulerMethod</a:t>
            </a:r>
            <a:r>
              <a:rPr lang="en-US" sz="1600" dirty="0">
                <a:solidFill>
                  <a:srgbClr val="000000"/>
                </a:solidFill>
                <a:effectLst/>
                <a:latin typeface="Times New Roman" panose="02020603050405020304" pitchFamily="18" charset="0"/>
                <a:ea typeface="Google Sans Text"/>
              </a:rPr>
              <a:t>(obj, </a:t>
            </a:r>
            <a:r>
              <a:rPr lang="en-US" sz="1600" dirty="0" err="1">
                <a:solidFill>
                  <a:srgbClr val="000000"/>
                </a:solidFill>
                <a:effectLst/>
                <a:latin typeface="Times New Roman" panose="02020603050405020304" pitchFamily="18" charset="0"/>
                <a:ea typeface="Google Sans Text"/>
              </a:rPr>
              <a:t>f_ode</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t = </a:t>
            </a:r>
            <a:r>
              <a:rPr lang="en-US" sz="1600" dirty="0" err="1">
                <a:solidFill>
                  <a:srgbClr val="000000"/>
                </a:solidFill>
                <a:effectLst/>
                <a:latin typeface="Times New Roman" panose="02020603050405020304" pitchFamily="18" charset="0"/>
                <a:ea typeface="Google Sans Text"/>
              </a:rPr>
              <a:t>obj.time_points</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h = t(2) - t(1);</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y = zeros(size(t));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y(1) = </a:t>
            </a:r>
            <a:r>
              <a:rPr lang="en-US" sz="1600" dirty="0" err="1">
                <a:solidFill>
                  <a:srgbClr val="000000"/>
                </a:solidFill>
                <a:effectLst/>
                <a:latin typeface="Times New Roman" panose="02020603050405020304" pitchFamily="18" charset="0"/>
                <a:ea typeface="Google Sans Text"/>
              </a:rPr>
              <a:t>obj.initial_data</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00FF"/>
                </a:solidFill>
                <a:effectLst/>
                <a:latin typeface="Times New Roman" panose="02020603050405020304" pitchFamily="18" charset="0"/>
                <a:ea typeface="Google Sans Text"/>
              </a:rPr>
              <a:t>for</a:t>
            </a: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i</a:t>
            </a:r>
            <a:r>
              <a:rPr lang="en-US" sz="1600" dirty="0">
                <a:solidFill>
                  <a:srgbClr val="000000"/>
                </a:solidFill>
                <a:effectLst/>
                <a:latin typeface="Times New Roman" panose="02020603050405020304" pitchFamily="18" charset="0"/>
                <a:ea typeface="Google Sans Text"/>
              </a:rPr>
              <a:t> = 1:length(t)-1</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y(i+1) = y(</a:t>
            </a:r>
            <a:r>
              <a:rPr lang="en-US" sz="1600" dirty="0" err="1">
                <a:solidFill>
                  <a:srgbClr val="000000"/>
                </a:solidFill>
                <a:effectLst/>
                <a:latin typeface="Times New Roman" panose="02020603050405020304" pitchFamily="18" charset="0"/>
                <a:ea typeface="Google Sans Text"/>
              </a:rPr>
              <a:t>i</a:t>
            </a:r>
            <a:r>
              <a:rPr lang="en-US" sz="1600" dirty="0">
                <a:solidFill>
                  <a:srgbClr val="000000"/>
                </a:solidFill>
                <a:effectLst/>
                <a:latin typeface="Times New Roman" panose="02020603050405020304" pitchFamily="18" charset="0"/>
                <a:ea typeface="Google Sans Text"/>
              </a:rPr>
              <a:t>) + h * </a:t>
            </a:r>
            <a:r>
              <a:rPr lang="en-US" sz="1600" dirty="0" err="1">
                <a:solidFill>
                  <a:srgbClr val="000000"/>
                </a:solidFill>
                <a:effectLst/>
                <a:latin typeface="Times New Roman" panose="02020603050405020304" pitchFamily="18" charset="0"/>
                <a:ea typeface="Google Sans Text"/>
              </a:rPr>
              <a:t>f_ode</a:t>
            </a:r>
            <a:r>
              <a:rPr lang="en-US" sz="1600" dirty="0">
                <a:solidFill>
                  <a:srgbClr val="000000"/>
                </a:solidFill>
                <a:effectLst/>
                <a:latin typeface="Times New Roman" panose="02020603050405020304" pitchFamily="18" charset="0"/>
                <a:ea typeface="Google Sans Text"/>
              </a:rPr>
              <a:t>(y(</a:t>
            </a:r>
            <a:r>
              <a:rPr lang="en-US" sz="1600" dirty="0" err="1">
                <a:solidFill>
                  <a:srgbClr val="000000"/>
                </a:solidFill>
                <a:effectLst/>
                <a:latin typeface="Times New Roman" panose="02020603050405020304" pitchFamily="18" charset="0"/>
                <a:ea typeface="Google Sans Text"/>
              </a:rPr>
              <a:t>i</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00FF"/>
                </a:solidFill>
                <a:effectLst/>
                <a:latin typeface="Times New Roman" panose="02020603050405020304" pitchFamily="18" charset="0"/>
                <a:ea typeface="Google Sans Text"/>
              </a:rPr>
              <a:t>end</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FF"/>
                </a:solidFill>
                <a:effectLst/>
                <a:latin typeface="Times New Roman" panose="02020603050405020304" pitchFamily="18" charset="0"/>
                <a:ea typeface="Google Sans Text"/>
              </a:rPr>
              <a:t>end</a:t>
            </a:r>
            <a:br>
              <a:rPr lang="en-US" sz="1600" dirty="0">
                <a:solidFill>
                  <a:srgbClr val="000000"/>
                </a:solidFill>
                <a:effectLst/>
                <a:latin typeface="Times New Roman" panose="02020603050405020304" pitchFamily="18" charset="0"/>
                <a:ea typeface="Google Sans Text"/>
              </a:rPr>
            </a:br>
            <a:endParaRPr lang="en-US" sz="1600" dirty="0"/>
          </a:p>
        </p:txBody>
      </p:sp>
      <p:sp>
        <p:nvSpPr>
          <p:cNvPr id="7" name="TextBox 6">
            <a:extLst>
              <a:ext uri="{FF2B5EF4-FFF2-40B4-BE49-F238E27FC236}">
                <a16:creationId xmlns:a16="http://schemas.microsoft.com/office/drawing/2014/main" id="{F2A10F6D-A011-7255-C663-F40F17AA1048}"/>
              </a:ext>
            </a:extLst>
          </p:cNvPr>
          <p:cNvSpPr txBox="1"/>
          <p:nvPr/>
        </p:nvSpPr>
        <p:spPr>
          <a:xfrm>
            <a:off x="5812972" y="328936"/>
            <a:ext cx="4655978" cy="6986528"/>
          </a:xfrm>
          <a:prstGeom prst="rect">
            <a:avLst/>
          </a:prstGeom>
          <a:noFill/>
        </p:spPr>
        <p:txBody>
          <a:bodyPr wrap="square" rtlCol="0">
            <a:spAutoFit/>
          </a:bodyPr>
          <a:lstStyle/>
          <a:p>
            <a:r>
              <a:rPr lang="en-US" sz="1600" dirty="0">
                <a:solidFill>
                  <a:srgbClr val="0000FF"/>
                </a:solidFill>
                <a:effectLst/>
                <a:latin typeface="Times New Roman" panose="02020603050405020304" pitchFamily="18" charset="0"/>
                <a:ea typeface="Google Sans Text"/>
              </a:rPr>
              <a:t>2. function</a:t>
            </a: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displayResults</a:t>
            </a:r>
            <a:r>
              <a:rPr lang="en-US" sz="1600" dirty="0">
                <a:solidFill>
                  <a:srgbClr val="000000"/>
                </a:solidFill>
                <a:effectLst/>
                <a:latin typeface="Times New Roman" panose="02020603050405020304" pitchFamily="18" charset="0"/>
                <a:ea typeface="Google Sans Text"/>
              </a:rPr>
              <a:t>(obj)</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8000"/>
                </a:solidFill>
                <a:effectLst/>
                <a:latin typeface="Times New Roman" panose="02020603050405020304" pitchFamily="18" charset="0"/>
                <a:ea typeface="Google Sans Text"/>
              </a:rPr>
              <a:t>% Polymorphism: Implements the abstract '</a:t>
            </a:r>
            <a:r>
              <a:rPr lang="en-US" sz="1600" dirty="0" err="1">
                <a:solidFill>
                  <a:srgbClr val="008000"/>
                </a:solidFill>
                <a:effectLst/>
                <a:latin typeface="Times New Roman" panose="02020603050405020304" pitchFamily="18" charset="0"/>
                <a:ea typeface="Google Sans Text"/>
              </a:rPr>
              <a:t>displayResults</a:t>
            </a:r>
            <a:r>
              <a:rPr lang="en-US" sz="1600" dirty="0">
                <a:solidFill>
                  <a:srgbClr val="008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fprintf</a:t>
            </a:r>
            <a:r>
              <a:rPr lang="en-US" sz="1600" dirty="0">
                <a:solidFill>
                  <a:srgbClr val="000000"/>
                </a:solidFill>
                <a:effectLst/>
                <a:latin typeface="Times New Roman" panose="02020603050405020304" pitchFamily="18" charset="0"/>
                <a:ea typeface="Google Sans Text"/>
              </a:rPr>
              <a:t>(</a:t>
            </a:r>
            <a:r>
              <a:rPr lang="en-US" sz="1600" dirty="0">
                <a:solidFill>
                  <a:srgbClr val="800000"/>
                </a:solidFill>
                <a:effectLst/>
                <a:latin typeface="Times New Roman" panose="02020603050405020304" pitchFamily="18" charset="0"/>
                <a:ea typeface="Google Sans Text"/>
              </a:rPr>
              <a:t>'\n </a:t>
            </a:r>
            <a:r>
              <a:rPr lang="en-US" sz="1600" dirty="0" err="1">
                <a:solidFill>
                  <a:srgbClr val="800000"/>
                </a:solidFill>
                <a:effectLst/>
                <a:latin typeface="Times New Roman" panose="02020603050405020304" pitchFamily="18" charset="0"/>
                <a:ea typeface="Google Sans Text"/>
              </a:rPr>
              <a:t>Intergral</a:t>
            </a:r>
            <a:r>
              <a:rPr lang="en-US" sz="1600" dirty="0">
                <a:solidFill>
                  <a:srgbClr val="800000"/>
                </a:solidFill>
                <a:effectLst/>
                <a:latin typeface="Times New Roman" panose="02020603050405020304" pitchFamily="18" charset="0"/>
                <a:ea typeface="Google Sans Text"/>
              </a:rPr>
              <a:t> Solver (%s) Results:\n'</a:t>
            </a:r>
            <a:r>
              <a:rPr lang="en-US" sz="1600" dirty="0">
                <a:solidFill>
                  <a:srgbClr val="000000"/>
                </a:solidFill>
                <a:effectLst/>
                <a:latin typeface="Times New Roman" panose="02020603050405020304" pitchFamily="18" charset="0"/>
                <a:ea typeface="Google Sans Text"/>
              </a:rPr>
              <a:t>, upper(</a:t>
            </a:r>
            <a:r>
              <a:rPr lang="en-US" sz="1600" dirty="0" err="1">
                <a:solidFill>
                  <a:srgbClr val="000000"/>
                </a:solidFill>
                <a:effectLst/>
                <a:latin typeface="Times New Roman" panose="02020603050405020304" pitchFamily="18" charset="0"/>
                <a:ea typeface="Google Sans Text"/>
              </a:rPr>
              <a:t>obj.method_used</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fprintf</a:t>
            </a:r>
            <a:r>
              <a:rPr lang="en-US" sz="1600" dirty="0">
                <a:solidFill>
                  <a:srgbClr val="000000"/>
                </a:solidFill>
                <a:effectLst/>
                <a:latin typeface="Times New Roman" panose="02020603050405020304" pitchFamily="18" charset="0"/>
                <a:ea typeface="Google Sans Text"/>
              </a:rPr>
              <a:t>(</a:t>
            </a:r>
            <a:r>
              <a:rPr lang="en-US" sz="1600" dirty="0">
                <a:solidFill>
                  <a:srgbClr val="800000"/>
                </a:solidFill>
                <a:effectLst/>
                <a:latin typeface="Times New Roman" panose="02020603050405020304" pitchFamily="18" charset="0"/>
                <a:ea typeface="Google Sans Text"/>
              </a:rPr>
              <a:t>'  Initial Population (P0): %g\n'</a:t>
            </a: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obj.initial_data</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fprintf</a:t>
            </a:r>
            <a:r>
              <a:rPr lang="en-US" sz="1600" dirty="0">
                <a:solidFill>
                  <a:srgbClr val="000000"/>
                </a:solidFill>
                <a:effectLst/>
                <a:latin typeface="Times New Roman" panose="02020603050405020304" pitchFamily="18" charset="0"/>
                <a:ea typeface="Google Sans Text"/>
              </a:rPr>
              <a:t>(</a:t>
            </a:r>
            <a:r>
              <a:rPr lang="en-US" sz="1600" dirty="0">
                <a:solidFill>
                  <a:srgbClr val="800000"/>
                </a:solidFill>
                <a:effectLst/>
                <a:latin typeface="Times New Roman" panose="02020603050405020304" pitchFamily="18" charset="0"/>
                <a:ea typeface="Google Sans Text"/>
              </a:rPr>
              <a:t>'  Parameters: r=%.1f, K=%g, Timespan=[%g, %g]\n'</a:t>
            </a: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obj.r</a:t>
            </a: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obj.k</a:t>
            </a: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obj.tspan</a:t>
            </a:r>
            <a:r>
              <a:rPr lang="en-US" sz="1600" dirty="0">
                <a:solidFill>
                  <a:srgbClr val="000000"/>
                </a:solidFill>
                <a:effectLst/>
                <a:latin typeface="Times New Roman" panose="02020603050405020304" pitchFamily="18" charset="0"/>
                <a:ea typeface="Google Sans Text"/>
              </a:rPr>
              <a:t>(1), </a:t>
            </a:r>
            <a:r>
              <a:rPr lang="en-US" sz="1600" dirty="0" err="1">
                <a:solidFill>
                  <a:srgbClr val="000000"/>
                </a:solidFill>
                <a:effectLst/>
                <a:latin typeface="Times New Roman" panose="02020603050405020304" pitchFamily="18" charset="0"/>
                <a:ea typeface="Google Sans Text"/>
              </a:rPr>
              <a:t>obj.tspan</a:t>
            </a:r>
            <a:r>
              <a:rPr lang="en-US" sz="1600" dirty="0">
                <a:solidFill>
                  <a:srgbClr val="000000"/>
                </a:solidFill>
                <a:effectLst/>
                <a:latin typeface="Times New Roman" panose="02020603050405020304" pitchFamily="18" charset="0"/>
                <a:ea typeface="Google Sans Text"/>
              </a:rPr>
              <a:t>(2));</a:t>
            </a:r>
            <a:br>
              <a:rPr lang="en-US" sz="1600" dirty="0">
                <a:solidFill>
                  <a:srgbClr val="000000"/>
                </a:solidFill>
                <a:effectLst/>
                <a:latin typeface="Times New Roman" panose="02020603050405020304" pitchFamily="18" charset="0"/>
                <a:ea typeface="Google Sans Text"/>
              </a:rPr>
            </a:b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00FF"/>
                </a:solidFill>
                <a:effectLst/>
                <a:latin typeface="Times New Roman" panose="02020603050405020304" pitchFamily="18" charset="0"/>
                <a:ea typeface="Google Sans Text"/>
              </a:rPr>
              <a:t>if</a:t>
            </a: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isempty</a:t>
            </a:r>
            <a:r>
              <a:rPr lang="en-US" sz="1600" dirty="0">
                <a:solidFill>
                  <a:srgbClr val="000000"/>
                </a:solidFill>
                <a:effectLst/>
                <a:latin typeface="Times New Roman" panose="02020603050405020304" pitchFamily="18" charset="0"/>
                <a:ea typeface="Google Sans Text"/>
              </a:rPr>
              <a:t>(</a:t>
            </a:r>
            <a:r>
              <a:rPr lang="en-US" sz="1600" dirty="0" err="1">
                <a:solidFill>
                  <a:srgbClr val="000000"/>
                </a:solidFill>
                <a:effectLst/>
                <a:latin typeface="Times New Roman" panose="02020603050405020304" pitchFamily="18" charset="0"/>
                <a:ea typeface="Google Sans Text"/>
              </a:rPr>
              <a:t>obj.solution_y</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idx_mid</a:t>
            </a:r>
            <a:r>
              <a:rPr lang="en-US" sz="1600" dirty="0">
                <a:solidFill>
                  <a:srgbClr val="000000"/>
                </a:solidFill>
                <a:effectLst/>
                <a:latin typeface="Times New Roman" panose="02020603050405020304" pitchFamily="18" charset="0"/>
                <a:ea typeface="Google Sans Text"/>
              </a:rPr>
              <a:t> = ceil(length(</a:t>
            </a:r>
            <a:r>
              <a:rPr lang="en-US" sz="1600" dirty="0" err="1">
                <a:solidFill>
                  <a:srgbClr val="000000"/>
                </a:solidFill>
                <a:effectLst/>
                <a:latin typeface="Times New Roman" panose="02020603050405020304" pitchFamily="18" charset="0"/>
                <a:ea typeface="Google Sans Text"/>
              </a:rPr>
              <a:t>obj.solution_y</a:t>
            </a:r>
            <a:r>
              <a:rPr lang="en-US" sz="1600" dirty="0">
                <a:solidFill>
                  <a:srgbClr val="000000"/>
                </a:solidFill>
                <a:effectLst/>
                <a:latin typeface="Times New Roman" panose="02020603050405020304" pitchFamily="18" charset="0"/>
                <a:ea typeface="Google Sans Text"/>
              </a:rPr>
              <a:t>) / 2);</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fprintf</a:t>
            </a:r>
            <a:r>
              <a:rPr lang="en-US" sz="1600" dirty="0">
                <a:solidFill>
                  <a:srgbClr val="000000"/>
                </a:solidFill>
                <a:effectLst/>
                <a:latin typeface="Times New Roman" panose="02020603050405020304" pitchFamily="18" charset="0"/>
                <a:ea typeface="Google Sans Text"/>
              </a:rPr>
              <a:t>(</a:t>
            </a:r>
            <a:r>
              <a:rPr lang="en-US" sz="1600" dirty="0">
                <a:solidFill>
                  <a:srgbClr val="800000"/>
                </a:solidFill>
                <a:effectLst/>
                <a:latin typeface="Times New Roman" panose="02020603050405020304" pitchFamily="18" charset="0"/>
                <a:ea typeface="Google Sans Text"/>
              </a:rPr>
              <a:t>'  Population (t=0): %.2f\n'</a:t>
            </a: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obj.solution_y</a:t>
            </a:r>
            <a:r>
              <a:rPr lang="en-US" sz="1600" dirty="0">
                <a:solidFill>
                  <a:srgbClr val="000000"/>
                </a:solidFill>
                <a:effectLst/>
                <a:latin typeface="Times New Roman" panose="02020603050405020304" pitchFamily="18" charset="0"/>
                <a:ea typeface="Google Sans Text"/>
              </a:rPr>
              <a:t>(1));</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fprintf</a:t>
            </a:r>
            <a:r>
              <a:rPr lang="en-US" sz="1600" dirty="0">
                <a:solidFill>
                  <a:srgbClr val="000000"/>
                </a:solidFill>
                <a:effectLst/>
                <a:latin typeface="Times New Roman" panose="02020603050405020304" pitchFamily="18" charset="0"/>
                <a:ea typeface="Google Sans Text"/>
              </a:rPr>
              <a:t>(</a:t>
            </a:r>
            <a:r>
              <a:rPr lang="en-US" sz="1600" dirty="0">
                <a:solidFill>
                  <a:srgbClr val="800000"/>
                </a:solidFill>
                <a:effectLst/>
                <a:latin typeface="Times New Roman" panose="02020603050405020304" pitchFamily="18" charset="0"/>
                <a:ea typeface="Google Sans Text"/>
              </a:rPr>
              <a:t>'  Population (t=%.2f): %.2f\n'</a:t>
            </a: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obj.time_points</a:t>
            </a:r>
            <a:r>
              <a:rPr lang="en-US" sz="1600" dirty="0">
                <a:solidFill>
                  <a:srgbClr val="000000"/>
                </a:solidFill>
                <a:effectLst/>
                <a:latin typeface="Times New Roman" panose="02020603050405020304" pitchFamily="18" charset="0"/>
                <a:ea typeface="Google Sans Text"/>
              </a:rPr>
              <a:t>(</a:t>
            </a:r>
            <a:r>
              <a:rPr lang="en-US" sz="1600" dirty="0" err="1">
                <a:solidFill>
                  <a:srgbClr val="000000"/>
                </a:solidFill>
                <a:effectLst/>
                <a:latin typeface="Times New Roman" panose="02020603050405020304" pitchFamily="18" charset="0"/>
                <a:ea typeface="Google Sans Text"/>
              </a:rPr>
              <a:t>idx_mid</a:t>
            </a: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obj.solution_y</a:t>
            </a:r>
            <a:r>
              <a:rPr lang="en-US" sz="1600" dirty="0">
                <a:solidFill>
                  <a:srgbClr val="000000"/>
                </a:solidFill>
                <a:effectLst/>
                <a:latin typeface="Times New Roman" panose="02020603050405020304" pitchFamily="18" charset="0"/>
                <a:ea typeface="Google Sans Text"/>
              </a:rPr>
              <a:t>(</a:t>
            </a:r>
            <a:r>
              <a:rPr lang="en-US" sz="1600" dirty="0" err="1">
                <a:solidFill>
                  <a:srgbClr val="000000"/>
                </a:solidFill>
                <a:effectLst/>
                <a:latin typeface="Times New Roman" panose="02020603050405020304" pitchFamily="18" charset="0"/>
                <a:ea typeface="Google Sans Text"/>
              </a:rPr>
              <a:t>idx_mid</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fprintf</a:t>
            </a:r>
            <a:r>
              <a:rPr lang="en-US" sz="1600" dirty="0">
                <a:solidFill>
                  <a:srgbClr val="000000"/>
                </a:solidFill>
                <a:effectLst/>
                <a:latin typeface="Times New Roman" panose="02020603050405020304" pitchFamily="18" charset="0"/>
                <a:ea typeface="Google Sans Text"/>
              </a:rPr>
              <a:t>(</a:t>
            </a:r>
            <a:r>
              <a:rPr lang="en-US" sz="1600" dirty="0">
                <a:solidFill>
                  <a:srgbClr val="800000"/>
                </a:solidFill>
                <a:effectLst/>
                <a:latin typeface="Times New Roman" panose="02020603050405020304" pitchFamily="18" charset="0"/>
                <a:ea typeface="Google Sans Text"/>
              </a:rPr>
              <a:t>'  Population (t=%.2f): **%.2f** (Final)\n'</a:t>
            </a: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obj.time_points</a:t>
            </a:r>
            <a:r>
              <a:rPr lang="en-US" sz="1600" dirty="0">
                <a:solidFill>
                  <a:srgbClr val="000000"/>
                </a:solidFill>
                <a:effectLst/>
                <a:latin typeface="Times New Roman" panose="02020603050405020304" pitchFamily="18" charset="0"/>
                <a:ea typeface="Google Sans Text"/>
              </a:rPr>
              <a:t>(end), </a:t>
            </a:r>
            <a:r>
              <a:rPr lang="en-US" sz="1600" dirty="0" err="1">
                <a:solidFill>
                  <a:srgbClr val="000000"/>
                </a:solidFill>
                <a:effectLst/>
                <a:latin typeface="Times New Roman" panose="02020603050405020304" pitchFamily="18" charset="0"/>
                <a:ea typeface="Google Sans Text"/>
              </a:rPr>
              <a:t>obj.solution_y</a:t>
            </a:r>
            <a:r>
              <a:rPr lang="en-US" sz="1600" dirty="0">
                <a:solidFill>
                  <a:srgbClr val="000000"/>
                </a:solidFill>
                <a:effectLst/>
                <a:latin typeface="Times New Roman" panose="02020603050405020304" pitchFamily="18" charset="0"/>
                <a:ea typeface="Google Sans Text"/>
              </a:rPr>
              <a:t>(end));</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00FF"/>
                </a:solidFill>
                <a:effectLst/>
                <a:latin typeface="Times New Roman" panose="02020603050405020304" pitchFamily="18" charset="0"/>
                <a:ea typeface="Google Sans Text"/>
              </a:rPr>
              <a:t>else</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fprintf</a:t>
            </a:r>
            <a:r>
              <a:rPr lang="en-US" sz="1600" dirty="0">
                <a:solidFill>
                  <a:srgbClr val="000000"/>
                </a:solidFill>
                <a:effectLst/>
                <a:latin typeface="Times New Roman" panose="02020603050405020304" pitchFamily="18" charset="0"/>
                <a:ea typeface="Google Sans Text"/>
              </a:rPr>
              <a:t>(</a:t>
            </a:r>
            <a:r>
              <a:rPr lang="en-US" sz="1600" dirty="0">
                <a:solidFill>
                  <a:srgbClr val="800000"/>
                </a:solidFill>
                <a:effectLst/>
                <a:latin typeface="Times New Roman" panose="02020603050405020304" pitchFamily="18" charset="0"/>
                <a:ea typeface="Google Sans Text"/>
              </a:rPr>
              <a:t>'  Failure: Solver was not executed.\n'</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00FF"/>
                </a:solidFill>
                <a:effectLst/>
                <a:latin typeface="Times New Roman" panose="02020603050405020304" pitchFamily="18" charset="0"/>
                <a:ea typeface="Google Sans Text"/>
              </a:rPr>
              <a:t>end</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err="1">
                <a:solidFill>
                  <a:srgbClr val="000000"/>
                </a:solidFill>
                <a:effectLst/>
                <a:latin typeface="Times New Roman" panose="02020603050405020304" pitchFamily="18" charset="0"/>
                <a:ea typeface="Google Sans Text"/>
              </a:rPr>
              <a:t>fprintf</a:t>
            </a:r>
            <a:r>
              <a:rPr lang="en-US" sz="1600" dirty="0">
                <a:solidFill>
                  <a:srgbClr val="000000"/>
                </a:solidFill>
                <a:effectLst/>
                <a:latin typeface="Times New Roman" panose="02020603050405020304" pitchFamily="18" charset="0"/>
                <a:ea typeface="Google Sans Text"/>
              </a:rPr>
              <a:t>(</a:t>
            </a:r>
            <a:r>
              <a:rPr lang="en-US" sz="1600" dirty="0">
                <a:solidFill>
                  <a:srgbClr val="800000"/>
                </a:solidFill>
                <a:effectLst/>
                <a:latin typeface="Times New Roman" panose="02020603050405020304" pitchFamily="18" charset="0"/>
                <a:ea typeface="Google Sans Text"/>
              </a:rPr>
              <a:t>'--------------------------------------------------\n'</a:t>
            </a:r>
            <a:r>
              <a:rPr lang="en-US" sz="1600" dirty="0">
                <a:solidFill>
                  <a:srgbClr val="000000"/>
                </a:solidFill>
                <a:effectLst/>
                <a:latin typeface="Times New Roman" panose="02020603050405020304" pitchFamily="18" charset="0"/>
                <a:ea typeface="Google Sans Text"/>
              </a:rPr>
              <a:t>);</a:t>
            </a:r>
            <a:br>
              <a:rPr lang="en-US" sz="1600" dirty="0">
                <a:solidFill>
                  <a:srgbClr val="000000"/>
                </a:solidFill>
                <a:effectLst/>
                <a:latin typeface="Times New Roman" panose="02020603050405020304" pitchFamily="18" charset="0"/>
                <a:ea typeface="Google Sans Text"/>
              </a:rPr>
            </a:br>
            <a:r>
              <a:rPr lang="en-US" sz="1600" dirty="0">
                <a:solidFill>
                  <a:srgbClr val="000000"/>
                </a:solidFill>
                <a:effectLst/>
                <a:latin typeface="Times New Roman" panose="02020603050405020304" pitchFamily="18" charset="0"/>
                <a:ea typeface="Google Sans Text"/>
              </a:rPr>
              <a:t>        </a:t>
            </a:r>
            <a:r>
              <a:rPr lang="en-US" sz="1600" dirty="0">
                <a:solidFill>
                  <a:srgbClr val="0000FF"/>
                </a:solidFill>
                <a:effectLst/>
                <a:latin typeface="Times New Roman" panose="02020603050405020304" pitchFamily="18" charset="0"/>
                <a:ea typeface="Google Sans Text"/>
              </a:rPr>
              <a:t>end </a:t>
            </a:r>
            <a:r>
              <a:rPr lang="en-US" sz="1800" dirty="0">
                <a:solidFill>
                  <a:srgbClr val="000000"/>
                </a:solidFill>
                <a:effectLst/>
                <a:latin typeface="Times New Roman" panose="02020603050405020304" pitchFamily="18" charset="0"/>
                <a:ea typeface="Google Sans Text"/>
              </a:rPr>
              <a:t> </a:t>
            </a:r>
            <a:r>
              <a:rPr lang="en-US" sz="1800" dirty="0" err="1">
                <a:solidFill>
                  <a:srgbClr val="0000FF"/>
                </a:solidFill>
                <a:effectLst/>
                <a:latin typeface="Times New Roman" panose="02020603050405020304" pitchFamily="18" charset="0"/>
                <a:ea typeface="Google Sans Text"/>
              </a:rPr>
              <a:t>end</a:t>
            </a:r>
            <a:endParaRPr lang="en-US" sz="1600" dirty="0">
              <a:solidFill>
                <a:srgbClr val="0000FF"/>
              </a:solidFill>
              <a:effectLst/>
              <a:latin typeface="Times New Roman" panose="02020603050405020304" pitchFamily="18" charset="0"/>
              <a:ea typeface="Google Sans Text"/>
            </a:endParaRPr>
          </a:p>
          <a:p>
            <a:br>
              <a:rPr lang="en-US" sz="1600" dirty="0">
                <a:solidFill>
                  <a:srgbClr val="000000"/>
                </a:solidFill>
                <a:effectLst/>
                <a:latin typeface="Times New Roman" panose="02020603050405020304" pitchFamily="18" charset="0"/>
                <a:ea typeface="Google Sans Text"/>
              </a:rPr>
            </a:br>
            <a:endParaRPr lang="en-US" sz="1600" dirty="0"/>
          </a:p>
        </p:txBody>
      </p:sp>
    </p:spTree>
    <p:extLst>
      <p:ext uri="{BB962C8B-B14F-4D97-AF65-F5344CB8AC3E}">
        <p14:creationId xmlns:p14="http://schemas.microsoft.com/office/powerpoint/2010/main" val="112880968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BA9AB3F-125C-FDD6-7489-43C9775D6FF4}"/>
              </a:ext>
            </a:extLst>
          </p:cNvPr>
          <p:cNvSpPr/>
          <p:nvPr/>
        </p:nvSpPr>
        <p:spPr>
          <a:xfrm>
            <a:off x="905069" y="326571"/>
            <a:ext cx="8742784" cy="620485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function</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 y] = rungeKutta4(obj,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f_ode</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obj.time_points</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h = t(2) - t(1);</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y = zeros(size(t));</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y(1)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obj.initial_data</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for</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1:length(t)-1</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y_i</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y(</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8000"/>
                </a:solidFill>
                <a:effectLst/>
                <a:latin typeface="Times New Roman" panose="02020603050405020304" pitchFamily="18" charset="0"/>
                <a:ea typeface="Calibri" panose="020F0502020204030204" pitchFamily="34" charset="0"/>
                <a:cs typeface="Times New Roman" panose="02020603050405020304" pitchFamily="18" charset="0"/>
              </a:rPr>
              <a:t>% RungeKutta4 steps</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k1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f_ode</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y_i</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k2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f_ode</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y_i</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h/2 * k1);</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k3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f_ode</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y_i</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h/2 * k2);</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k4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f_ode</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y_i</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h * k3);</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y(i+1)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y_i</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(h/6) * (k1 + 2*k2 + 2*k3 + k4);</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end</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end</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end</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err="1">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end</a:t>
            </a:r>
            <a:endParaRPr lang="en-US" dirty="0"/>
          </a:p>
        </p:txBody>
      </p:sp>
    </p:spTree>
    <p:extLst>
      <p:ext uri="{BB962C8B-B14F-4D97-AF65-F5344CB8AC3E}">
        <p14:creationId xmlns:p14="http://schemas.microsoft.com/office/powerpoint/2010/main" val="338739523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A7692-971C-D041-5F3E-ADD3D4BBF7A6}"/>
              </a:ext>
            </a:extLst>
          </p:cNvPr>
          <p:cNvSpPr>
            <a:spLocks noGrp="1"/>
          </p:cNvSpPr>
          <p:nvPr>
            <p:ph type="title"/>
          </p:nvPr>
        </p:nvSpPr>
        <p:spPr>
          <a:xfrm>
            <a:off x="677334" y="609600"/>
            <a:ext cx="8596668" cy="500743"/>
          </a:xfrm>
        </p:spPr>
        <p:txBody>
          <a:bodyPr>
            <a:normAutofit fontScale="90000"/>
          </a:bodyPr>
          <a:lstStyle/>
          <a:p>
            <a:pPr algn="ct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TESTS FOR THE FOR THE HIGHLEVEL BACKEND CODES</a:t>
            </a:r>
            <a:b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dirty="0"/>
          </a:p>
        </p:txBody>
      </p:sp>
      <p:sp>
        <p:nvSpPr>
          <p:cNvPr id="3" name="Rectangle: Rounded Corners 2">
            <a:extLst>
              <a:ext uri="{FF2B5EF4-FFF2-40B4-BE49-F238E27FC236}">
                <a16:creationId xmlns:a16="http://schemas.microsoft.com/office/drawing/2014/main" id="{5C597ECC-2277-CF27-4808-7A64FB4BBE35}"/>
              </a:ext>
            </a:extLst>
          </p:cNvPr>
          <p:cNvSpPr/>
          <p:nvPr/>
        </p:nvSpPr>
        <p:spPr>
          <a:xfrm>
            <a:off x="634482" y="1352939"/>
            <a:ext cx="4506685" cy="550506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F279716F-832C-6E7E-085A-5F5D675FD90D}"/>
              </a:ext>
            </a:extLst>
          </p:cNvPr>
          <p:cNvSpPr/>
          <p:nvPr/>
        </p:nvSpPr>
        <p:spPr>
          <a:xfrm>
            <a:off x="5467739" y="1352939"/>
            <a:ext cx="4590661" cy="550506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6EA6672-E06D-4DB3-98F0-A9C16B4C19F6}"/>
              </a:ext>
            </a:extLst>
          </p:cNvPr>
          <p:cNvSpPr txBox="1"/>
          <p:nvPr/>
        </p:nvSpPr>
        <p:spPr>
          <a:xfrm>
            <a:off x="933060" y="1539550"/>
            <a:ext cx="3909527" cy="5478423"/>
          </a:xfrm>
          <a:prstGeom prst="rect">
            <a:avLst/>
          </a:prstGeom>
          <a:noFill/>
        </p:spPr>
        <p:txBody>
          <a:bodyPr wrap="square" rtlCol="0">
            <a:spAutoFit/>
          </a:bodyPr>
          <a:lstStyle/>
          <a:p>
            <a:r>
              <a:rPr lang="en-US" sz="1400" dirty="0">
                <a:solidFill>
                  <a:srgbClr val="008000"/>
                </a:solidFill>
                <a:effectLst/>
                <a:latin typeface="Times New Roman" panose="02020603050405020304" pitchFamily="18" charset="0"/>
                <a:ea typeface="Google Sans Text"/>
              </a:rPr>
              <a:t>% A. Root-Finding Problem (NRM &amp; Secant)</a:t>
            </a:r>
            <a:br>
              <a:rPr lang="en-US" sz="1400" dirty="0">
                <a:solidFill>
                  <a:srgbClr val="000000"/>
                </a:solidFill>
                <a:effectLst/>
                <a:latin typeface="Times New Roman" panose="02020603050405020304" pitchFamily="18" charset="0"/>
                <a:ea typeface="Google Sans Text"/>
              </a:rPr>
            </a:br>
            <a:r>
              <a:rPr lang="en-US" sz="1400" dirty="0">
                <a:solidFill>
                  <a:srgbClr val="008000"/>
                </a:solidFill>
                <a:effectLst/>
                <a:latin typeface="Times New Roman" panose="02020603050405020304" pitchFamily="18" charset="0"/>
                <a:ea typeface="Google Sans Text"/>
              </a:rPr>
              <a:t>% Function: 10000000 * (1 + r).^12 - 15000000 = 0</a:t>
            </a:r>
            <a:br>
              <a:rPr lang="en-US" sz="1400" dirty="0">
                <a:solidFill>
                  <a:srgbClr val="1B1C1D"/>
                </a:solidFill>
                <a:effectLst/>
                <a:latin typeface="Lucida Console" panose="020B0609040504020204" pitchFamily="49" charset="0"/>
                <a:ea typeface="Calibri" panose="020F0502020204030204" pitchFamily="34" charset="0"/>
                <a:cs typeface="Times New Roman" panose="02020603050405020304" pitchFamily="18" charset="0"/>
              </a:rPr>
            </a:br>
            <a:r>
              <a:rPr lang="en-US" sz="1400" dirty="0" err="1">
                <a:solidFill>
                  <a:srgbClr val="1B1C1D"/>
                </a:solidFill>
                <a:effectLst/>
                <a:latin typeface="Lucida Console" panose="020B0609040504020204" pitchFamily="49" charset="0"/>
                <a:ea typeface="Calibri" panose="020F0502020204030204" pitchFamily="34" charset="0"/>
                <a:cs typeface="Times New Roman" panose="02020603050405020304" pitchFamily="18" charset="0"/>
              </a:rPr>
              <a:t>RootFunction</a:t>
            </a:r>
            <a:r>
              <a:rPr lang="en-US" sz="1400" dirty="0">
                <a:solidFill>
                  <a:srgbClr val="1B1C1D"/>
                </a:solidFill>
                <a:effectLst/>
                <a:latin typeface="Lucida Console" panose="020B0609040504020204" pitchFamily="49" charset="0"/>
                <a:ea typeface="Calibri" panose="020F0502020204030204" pitchFamily="34" charset="0"/>
                <a:cs typeface="Times New Roman" panose="02020603050405020304" pitchFamily="18" charset="0"/>
              </a:rPr>
              <a:t> = @(r) 10000000 * (1 + r).^12 - 15000000;</a:t>
            </a:r>
            <a:br>
              <a:rPr lang="en-US" sz="1400" dirty="0">
                <a:solidFill>
                  <a:srgbClr val="1B1C1D"/>
                </a:solidFill>
                <a:effectLst/>
                <a:latin typeface="Lucida Console" panose="020B0609040504020204" pitchFamily="49" charset="0"/>
                <a:ea typeface="Calibri" panose="020F0502020204030204" pitchFamily="34" charset="0"/>
                <a:cs typeface="Times New Roman" panose="02020603050405020304" pitchFamily="18" charset="0"/>
              </a:rPr>
            </a:br>
            <a:br>
              <a:rPr lang="en-US" sz="1400" dirty="0">
                <a:solidFill>
                  <a:srgbClr val="1B1C1D"/>
                </a:solidFill>
                <a:effectLst/>
                <a:latin typeface="Lucida Console" panose="020B0609040504020204" pitchFamily="49" charset="0"/>
                <a:ea typeface="Calibri" panose="020F0502020204030204" pitchFamily="34" charset="0"/>
                <a:cs typeface="Times New Roman" panose="02020603050405020304" pitchFamily="18" charset="0"/>
              </a:rPr>
            </a:br>
            <a:r>
              <a:rPr lang="en-US" sz="1400" dirty="0">
                <a:solidFill>
                  <a:srgbClr val="008000"/>
                </a:solidFill>
                <a:effectLst/>
                <a:latin typeface="Times New Roman" panose="02020603050405020304" pitchFamily="18" charset="0"/>
                <a:ea typeface="Google Sans Text"/>
              </a:rPr>
              <a:t>% 1. NRM Test: Needs one initial guess</a:t>
            </a:r>
            <a:br>
              <a:rPr lang="en-US" sz="1400" dirty="0">
                <a:solidFill>
                  <a:srgbClr val="000000"/>
                </a:solidFill>
                <a:effectLst/>
                <a:latin typeface="Times New Roman" panose="02020603050405020304" pitchFamily="18" charset="0"/>
                <a:ea typeface="Google Sans Text"/>
              </a:rPr>
            </a:br>
            <a:r>
              <a:rPr lang="en-US" sz="1400" dirty="0" err="1">
                <a:solidFill>
                  <a:srgbClr val="000000"/>
                </a:solidFill>
                <a:effectLst/>
                <a:latin typeface="Times New Roman" panose="02020603050405020304" pitchFamily="18" charset="0"/>
                <a:ea typeface="Google Sans Text"/>
              </a:rPr>
              <a:t>nrm_solver</a:t>
            </a:r>
            <a:r>
              <a:rPr lang="en-US" sz="1400" dirty="0">
                <a:solidFill>
                  <a:srgbClr val="000000"/>
                </a:solidFill>
                <a:effectLst/>
                <a:latin typeface="Times New Roman" panose="02020603050405020304" pitchFamily="18" charset="0"/>
                <a:ea typeface="Google Sans Text"/>
              </a:rPr>
              <a:t> = </a:t>
            </a:r>
            <a:r>
              <a:rPr lang="en-US" sz="1400" dirty="0" err="1">
                <a:solidFill>
                  <a:srgbClr val="000000"/>
                </a:solidFill>
                <a:effectLst/>
                <a:latin typeface="Times New Roman" panose="02020603050405020304" pitchFamily="18" charset="0"/>
                <a:ea typeface="Google Sans Text"/>
              </a:rPr>
              <a:t>DifferentialProblem</a:t>
            </a:r>
            <a:r>
              <a:rPr lang="en-US" sz="1400" dirty="0">
                <a:solidFill>
                  <a:srgbClr val="000000"/>
                </a:solidFill>
                <a:effectLst/>
                <a:latin typeface="Times New Roman" panose="02020603050405020304" pitchFamily="18" charset="0"/>
                <a:ea typeface="Google Sans Text"/>
              </a:rPr>
              <a:t>(</a:t>
            </a:r>
            <a:r>
              <a:rPr lang="en-US" sz="1400" dirty="0" err="1">
                <a:solidFill>
                  <a:srgbClr val="000000"/>
                </a:solidFill>
                <a:effectLst/>
                <a:latin typeface="Times New Roman" panose="02020603050405020304" pitchFamily="18" charset="0"/>
                <a:ea typeface="Google Sans Text"/>
              </a:rPr>
              <a:t>RootFunction</a:t>
            </a:r>
            <a:r>
              <a:rPr lang="en-US" sz="1400" dirty="0">
                <a:solidFill>
                  <a:srgbClr val="000000"/>
                </a:solidFill>
                <a:effectLst/>
                <a:latin typeface="Times New Roman" panose="02020603050405020304" pitchFamily="18" charset="0"/>
                <a:ea typeface="Google Sans Text"/>
              </a:rPr>
              <a:t>, 0.03);</a:t>
            </a:r>
            <a:br>
              <a:rPr lang="en-US" sz="1400" dirty="0">
                <a:solidFill>
                  <a:srgbClr val="000000"/>
                </a:solidFill>
                <a:effectLst/>
                <a:latin typeface="Times New Roman" panose="02020603050405020304" pitchFamily="18" charset="0"/>
                <a:ea typeface="Google Sans Text"/>
              </a:rPr>
            </a:br>
            <a:r>
              <a:rPr lang="en-US" sz="1400" dirty="0" err="1">
                <a:solidFill>
                  <a:srgbClr val="000000"/>
                </a:solidFill>
                <a:effectLst/>
                <a:latin typeface="Times New Roman" panose="02020603050405020304" pitchFamily="18" charset="0"/>
                <a:ea typeface="Google Sans Text"/>
              </a:rPr>
              <a:t>nrm_solver.solve</a:t>
            </a:r>
            <a:r>
              <a:rPr lang="en-US" sz="1400" dirty="0">
                <a:solidFill>
                  <a:srgbClr val="000000"/>
                </a:solidFill>
                <a:effectLst/>
                <a:latin typeface="Times New Roman" panose="02020603050405020304" pitchFamily="18" charset="0"/>
                <a:ea typeface="Google Sans Text"/>
              </a:rPr>
              <a:t>(</a:t>
            </a:r>
            <a:r>
              <a:rPr lang="en-US" sz="1400" dirty="0">
                <a:solidFill>
                  <a:srgbClr val="800000"/>
                </a:solidFill>
                <a:effectLst/>
                <a:latin typeface="Times New Roman" panose="02020603050405020304" pitchFamily="18" charset="0"/>
                <a:ea typeface="Google Sans Text"/>
              </a:rPr>
              <a:t>'NRM'</a:t>
            </a:r>
            <a:r>
              <a:rPr lang="en-US" sz="1400" dirty="0">
                <a:solidFill>
                  <a:srgbClr val="000000"/>
                </a:solidFill>
                <a:effectLst/>
                <a:latin typeface="Times New Roman" panose="02020603050405020304" pitchFamily="18" charset="0"/>
                <a:ea typeface="Google Sans Text"/>
              </a:rPr>
              <a:t>);</a:t>
            </a:r>
            <a:br>
              <a:rPr lang="en-US" sz="1400" dirty="0">
                <a:solidFill>
                  <a:srgbClr val="000000"/>
                </a:solidFill>
                <a:effectLst/>
                <a:latin typeface="Times New Roman" panose="02020603050405020304" pitchFamily="18" charset="0"/>
                <a:ea typeface="Google Sans Text"/>
              </a:rPr>
            </a:br>
            <a:r>
              <a:rPr lang="en-US" sz="1400" dirty="0" err="1">
                <a:solidFill>
                  <a:srgbClr val="000000"/>
                </a:solidFill>
                <a:effectLst/>
                <a:latin typeface="Times New Roman" panose="02020603050405020304" pitchFamily="18" charset="0"/>
                <a:ea typeface="Google Sans Text"/>
              </a:rPr>
              <a:t>nrm_solver.displayResults</a:t>
            </a:r>
            <a:r>
              <a:rPr lang="en-US" sz="1400" dirty="0">
                <a:solidFill>
                  <a:srgbClr val="000000"/>
                </a:solidFill>
                <a:effectLst/>
                <a:latin typeface="Times New Roman" panose="02020603050405020304" pitchFamily="18" charset="0"/>
                <a:ea typeface="Google Sans Text"/>
              </a:rPr>
              <a:t>();</a:t>
            </a:r>
            <a:br>
              <a:rPr lang="en-US" sz="1400" dirty="0">
                <a:solidFill>
                  <a:srgbClr val="000000"/>
                </a:solidFill>
                <a:effectLst/>
                <a:latin typeface="Times New Roman" panose="02020603050405020304" pitchFamily="18" charset="0"/>
                <a:ea typeface="Google Sans Text"/>
              </a:rPr>
            </a:br>
            <a:r>
              <a:rPr lang="en-US" sz="1400" dirty="0">
                <a:solidFill>
                  <a:srgbClr val="008000"/>
                </a:solidFill>
                <a:effectLst/>
                <a:latin typeface="Times New Roman" panose="02020603050405020304" pitchFamily="18" charset="0"/>
                <a:ea typeface="Google Sans Text"/>
              </a:rPr>
              <a:t>% Expected Root (r): ~0.034366 (or 3.4366% interest rate)</a:t>
            </a:r>
            <a:br>
              <a:rPr lang="en-US" sz="1400" dirty="0">
                <a:solidFill>
                  <a:srgbClr val="000000"/>
                </a:solidFill>
                <a:effectLst/>
                <a:latin typeface="Times New Roman" panose="02020603050405020304" pitchFamily="18" charset="0"/>
                <a:ea typeface="Google Sans Text"/>
              </a:rPr>
            </a:br>
            <a:br>
              <a:rPr lang="en-US" sz="1400" dirty="0">
                <a:solidFill>
                  <a:srgbClr val="000000"/>
                </a:solidFill>
                <a:effectLst/>
                <a:latin typeface="Times New Roman" panose="02020603050405020304" pitchFamily="18" charset="0"/>
                <a:ea typeface="Google Sans Text"/>
              </a:rPr>
            </a:br>
            <a:r>
              <a:rPr lang="en-US" sz="1400" dirty="0">
                <a:solidFill>
                  <a:srgbClr val="008000"/>
                </a:solidFill>
                <a:effectLst/>
                <a:latin typeface="Times New Roman" panose="02020603050405020304" pitchFamily="18" charset="0"/>
                <a:ea typeface="Google Sans Text"/>
              </a:rPr>
              <a:t>% 2. Secant Test: Needs two initial guesses</a:t>
            </a:r>
            <a:br>
              <a:rPr lang="en-US" sz="1400" dirty="0">
                <a:solidFill>
                  <a:srgbClr val="000000"/>
                </a:solidFill>
                <a:effectLst/>
                <a:latin typeface="Times New Roman" panose="02020603050405020304" pitchFamily="18" charset="0"/>
                <a:ea typeface="Google Sans Text"/>
              </a:rPr>
            </a:br>
            <a:r>
              <a:rPr lang="en-US" sz="1400" dirty="0" err="1">
                <a:solidFill>
                  <a:srgbClr val="000000"/>
                </a:solidFill>
                <a:effectLst/>
                <a:latin typeface="Times New Roman" panose="02020603050405020304" pitchFamily="18" charset="0"/>
                <a:ea typeface="Google Sans Text"/>
              </a:rPr>
              <a:t>secant_solver</a:t>
            </a:r>
            <a:r>
              <a:rPr lang="en-US" sz="1400" dirty="0">
                <a:solidFill>
                  <a:srgbClr val="000000"/>
                </a:solidFill>
                <a:effectLst/>
                <a:latin typeface="Times New Roman" panose="02020603050405020304" pitchFamily="18" charset="0"/>
                <a:ea typeface="Google Sans Text"/>
              </a:rPr>
              <a:t> = </a:t>
            </a:r>
            <a:r>
              <a:rPr lang="en-US" sz="1400" dirty="0" err="1">
                <a:solidFill>
                  <a:srgbClr val="000000"/>
                </a:solidFill>
                <a:effectLst/>
                <a:latin typeface="Times New Roman" panose="02020603050405020304" pitchFamily="18" charset="0"/>
                <a:ea typeface="Google Sans Text"/>
              </a:rPr>
              <a:t>DifferentialProblem</a:t>
            </a:r>
            <a:r>
              <a:rPr lang="en-US" sz="1400" dirty="0">
                <a:solidFill>
                  <a:srgbClr val="000000"/>
                </a:solidFill>
                <a:effectLst/>
                <a:latin typeface="Times New Roman" panose="02020603050405020304" pitchFamily="18" charset="0"/>
                <a:ea typeface="Google Sans Text"/>
              </a:rPr>
              <a:t>(</a:t>
            </a:r>
            <a:r>
              <a:rPr lang="en-US" sz="1400" dirty="0" err="1">
                <a:solidFill>
                  <a:srgbClr val="000000"/>
                </a:solidFill>
                <a:effectLst/>
                <a:latin typeface="Times New Roman" panose="02020603050405020304" pitchFamily="18" charset="0"/>
                <a:ea typeface="Google Sans Text"/>
              </a:rPr>
              <a:t>RootFunction</a:t>
            </a:r>
            <a:r>
              <a:rPr lang="en-US" sz="1400" dirty="0">
                <a:solidFill>
                  <a:srgbClr val="000000"/>
                </a:solidFill>
                <a:effectLst/>
                <a:latin typeface="Times New Roman" panose="02020603050405020304" pitchFamily="18" charset="0"/>
                <a:ea typeface="Google Sans Text"/>
              </a:rPr>
              <a:t>, [0.03, 0.04]);</a:t>
            </a:r>
            <a:br>
              <a:rPr lang="en-US" sz="1400" dirty="0">
                <a:solidFill>
                  <a:srgbClr val="000000"/>
                </a:solidFill>
                <a:effectLst/>
                <a:latin typeface="Times New Roman" panose="02020603050405020304" pitchFamily="18" charset="0"/>
                <a:ea typeface="Google Sans Text"/>
              </a:rPr>
            </a:br>
            <a:r>
              <a:rPr lang="en-US" sz="1400" dirty="0" err="1">
                <a:solidFill>
                  <a:srgbClr val="000000"/>
                </a:solidFill>
                <a:effectLst/>
                <a:latin typeface="Times New Roman" panose="02020603050405020304" pitchFamily="18" charset="0"/>
                <a:ea typeface="Google Sans Text"/>
              </a:rPr>
              <a:t>secant_solver.solve</a:t>
            </a:r>
            <a:r>
              <a:rPr lang="en-US" sz="1400" dirty="0">
                <a:solidFill>
                  <a:srgbClr val="000000"/>
                </a:solidFill>
                <a:effectLst/>
                <a:latin typeface="Times New Roman" panose="02020603050405020304" pitchFamily="18" charset="0"/>
                <a:ea typeface="Google Sans Text"/>
              </a:rPr>
              <a:t>(</a:t>
            </a:r>
            <a:r>
              <a:rPr lang="en-US" sz="1400" dirty="0">
                <a:solidFill>
                  <a:srgbClr val="800000"/>
                </a:solidFill>
                <a:effectLst/>
                <a:latin typeface="Times New Roman" panose="02020603050405020304" pitchFamily="18" charset="0"/>
                <a:ea typeface="Google Sans Text"/>
              </a:rPr>
              <a:t>'Secant'</a:t>
            </a:r>
            <a:r>
              <a:rPr lang="en-US" sz="1400" dirty="0">
                <a:solidFill>
                  <a:srgbClr val="000000"/>
                </a:solidFill>
                <a:effectLst/>
                <a:latin typeface="Times New Roman" panose="02020603050405020304" pitchFamily="18" charset="0"/>
                <a:ea typeface="Google Sans Text"/>
              </a:rPr>
              <a:t>);</a:t>
            </a:r>
            <a:br>
              <a:rPr lang="en-US" sz="1400" dirty="0">
                <a:solidFill>
                  <a:srgbClr val="000000"/>
                </a:solidFill>
                <a:effectLst/>
                <a:latin typeface="Times New Roman" panose="02020603050405020304" pitchFamily="18" charset="0"/>
                <a:ea typeface="Google Sans Text"/>
              </a:rPr>
            </a:br>
            <a:r>
              <a:rPr lang="en-US" sz="1400" dirty="0" err="1">
                <a:solidFill>
                  <a:srgbClr val="000000"/>
                </a:solidFill>
                <a:effectLst/>
                <a:latin typeface="Times New Roman" panose="02020603050405020304" pitchFamily="18" charset="0"/>
                <a:ea typeface="Google Sans Text"/>
              </a:rPr>
              <a:t>secant_solver.displayResults</a:t>
            </a:r>
            <a:r>
              <a:rPr lang="en-US" sz="1400" dirty="0">
                <a:solidFill>
                  <a:srgbClr val="000000"/>
                </a:solidFill>
                <a:effectLst/>
                <a:latin typeface="Times New Roman" panose="02020603050405020304" pitchFamily="18" charset="0"/>
                <a:ea typeface="Google Sans Text"/>
              </a:rPr>
              <a:t>();</a:t>
            </a:r>
            <a:br>
              <a:rPr lang="en-US" sz="1400" dirty="0">
                <a:solidFill>
                  <a:srgbClr val="000000"/>
                </a:solidFill>
                <a:effectLst/>
                <a:latin typeface="Times New Roman" panose="02020603050405020304" pitchFamily="18" charset="0"/>
                <a:ea typeface="Google Sans Text"/>
              </a:rPr>
            </a:br>
            <a:br>
              <a:rPr lang="en-US" sz="1400" dirty="0">
                <a:solidFill>
                  <a:srgbClr val="000000"/>
                </a:solidFill>
                <a:effectLst/>
                <a:latin typeface="Times New Roman" panose="02020603050405020304" pitchFamily="18" charset="0"/>
                <a:ea typeface="Google Sans Text"/>
              </a:rPr>
            </a:br>
            <a:br>
              <a:rPr lang="en-US" sz="1400" dirty="0">
                <a:solidFill>
                  <a:srgbClr val="000000"/>
                </a:solidFill>
                <a:effectLst/>
                <a:latin typeface="Times New Roman" panose="02020603050405020304" pitchFamily="18" charset="0"/>
                <a:ea typeface="Google Sans Text"/>
              </a:rPr>
            </a:br>
            <a:r>
              <a:rPr lang="en-US" sz="1400" dirty="0">
                <a:solidFill>
                  <a:srgbClr val="008000"/>
                </a:solidFill>
                <a:effectLst/>
                <a:latin typeface="Times New Roman" panose="02020603050405020304" pitchFamily="18" charset="0"/>
                <a:ea typeface="Google Sans Text"/>
              </a:rPr>
              <a:t>% B. Integral Problem (Euler &amp; Runge-</a:t>
            </a:r>
            <a:r>
              <a:rPr lang="en-US" sz="1400" dirty="0" err="1">
                <a:solidFill>
                  <a:srgbClr val="008000"/>
                </a:solidFill>
                <a:effectLst/>
                <a:latin typeface="Times New Roman" panose="02020603050405020304" pitchFamily="18" charset="0"/>
                <a:ea typeface="Google Sans Text"/>
              </a:rPr>
              <a:t>Kutta</a:t>
            </a:r>
            <a:r>
              <a:rPr lang="en-US" sz="1400" dirty="0">
                <a:solidFill>
                  <a:srgbClr val="008000"/>
                </a:solidFill>
                <a:effectLst/>
                <a:latin typeface="Times New Roman" panose="02020603050405020304" pitchFamily="18" charset="0"/>
                <a:ea typeface="Google Sans Text"/>
              </a:rPr>
              <a:t> 4)</a:t>
            </a:r>
            <a:br>
              <a:rPr lang="en-US" sz="1400" dirty="0">
                <a:solidFill>
                  <a:srgbClr val="000000"/>
                </a:solidFill>
                <a:effectLst/>
                <a:latin typeface="Times New Roman" panose="02020603050405020304" pitchFamily="18" charset="0"/>
                <a:ea typeface="Google Sans Text"/>
              </a:rPr>
            </a:br>
            <a:r>
              <a:rPr lang="en-US" sz="1400" dirty="0">
                <a:solidFill>
                  <a:srgbClr val="008000"/>
                </a:solidFill>
                <a:effectLst/>
                <a:latin typeface="Times New Roman" panose="02020603050405020304" pitchFamily="18" charset="0"/>
                <a:ea typeface="Google Sans Text"/>
              </a:rPr>
              <a:t>% The problem function is implicitly the Logistic Model: </a:t>
            </a:r>
            <a:r>
              <a:rPr lang="en-US" sz="1400" dirty="0" err="1">
                <a:solidFill>
                  <a:srgbClr val="008000"/>
                </a:solidFill>
                <a:effectLst/>
                <a:latin typeface="Times New Roman" panose="02020603050405020304" pitchFamily="18" charset="0"/>
                <a:ea typeface="Google Sans Text"/>
              </a:rPr>
              <a:t>dP</a:t>
            </a:r>
            <a:r>
              <a:rPr lang="en-US" sz="1400" dirty="0">
                <a:solidFill>
                  <a:srgbClr val="008000"/>
                </a:solidFill>
                <a:effectLst/>
                <a:latin typeface="Times New Roman" panose="02020603050405020304" pitchFamily="18" charset="0"/>
                <a:ea typeface="Google Sans Text"/>
              </a:rPr>
              <a:t>/dt = r*P*(1 - P/K)</a:t>
            </a:r>
            <a:br>
              <a:rPr lang="en-US" sz="1400" dirty="0">
                <a:solidFill>
                  <a:srgbClr val="000000"/>
                </a:solidFill>
                <a:effectLst/>
                <a:latin typeface="Times New Roman" panose="02020603050405020304" pitchFamily="18" charset="0"/>
                <a:ea typeface="Google Sans Text"/>
              </a:rPr>
            </a:br>
            <a:r>
              <a:rPr lang="en-US" sz="1400" dirty="0">
                <a:solidFill>
                  <a:srgbClr val="008000"/>
                </a:solidFill>
                <a:effectLst/>
                <a:latin typeface="Times New Roman" panose="02020603050405020304" pitchFamily="18" charset="0"/>
                <a:ea typeface="Google Sans Text"/>
              </a:rPr>
              <a:t>% Initial Population P0 = 100</a:t>
            </a:r>
            <a:br>
              <a:rPr lang="en-US" sz="1400" dirty="0">
                <a:solidFill>
                  <a:srgbClr val="000000"/>
                </a:solidFill>
                <a:effectLst/>
                <a:latin typeface="Times New Roman" panose="02020603050405020304" pitchFamily="18" charset="0"/>
                <a:ea typeface="Google Sans Text"/>
              </a:rPr>
            </a:br>
            <a:endParaRPr lang="en-US" sz="1400" dirty="0"/>
          </a:p>
        </p:txBody>
      </p:sp>
      <p:sp>
        <p:nvSpPr>
          <p:cNvPr id="6" name="TextBox 5">
            <a:extLst>
              <a:ext uri="{FF2B5EF4-FFF2-40B4-BE49-F238E27FC236}">
                <a16:creationId xmlns:a16="http://schemas.microsoft.com/office/drawing/2014/main" id="{A4A7C1CB-F261-4F56-8793-A529EA24B1A3}"/>
              </a:ext>
            </a:extLst>
          </p:cNvPr>
          <p:cNvSpPr txBox="1"/>
          <p:nvPr/>
        </p:nvSpPr>
        <p:spPr>
          <a:xfrm>
            <a:off x="5756988" y="1539550"/>
            <a:ext cx="3853543" cy="5355312"/>
          </a:xfrm>
          <a:prstGeom prst="rect">
            <a:avLst/>
          </a:prstGeom>
          <a:noFill/>
        </p:spPr>
        <p:txBody>
          <a:bodyPr wrap="square" rtlCol="0">
            <a:spAutoFit/>
          </a:bodyPr>
          <a:lstStyle/>
          <a:p>
            <a:r>
              <a:rPr lang="en-US" sz="1800" dirty="0">
                <a:solidFill>
                  <a:srgbClr val="008000"/>
                </a:solidFill>
                <a:effectLst/>
                <a:latin typeface="Times New Roman" panose="02020603050405020304" pitchFamily="18" charset="0"/>
                <a:ea typeface="Calibri" panose="020F0502020204030204" pitchFamily="34" charset="0"/>
                <a:cs typeface="Times New Roman" panose="02020603050405020304" pitchFamily="18" charset="0"/>
              </a:rPr>
              <a:t>% 3. Euler Method Test</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8000"/>
                </a:solidFill>
                <a:effectLst/>
                <a:latin typeface="Times New Roman" panose="02020603050405020304" pitchFamily="18" charset="0"/>
                <a:ea typeface="Calibri" panose="020F0502020204030204" pitchFamily="34" charset="0"/>
                <a:cs typeface="Times New Roman" panose="02020603050405020304" pitchFamily="18" charset="0"/>
              </a:rPr>
              <a:t>% Initial data is P0=100. (The first argument @(t,y)0 is a dummy function.)</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euler_solver</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IntergrationProblem</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(@(t,y)0, 100);</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euler_solver.solve</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a:solidFill>
                  <a:srgbClr val="800000"/>
                </a:solidFill>
                <a:effectLst/>
                <a:latin typeface="Times New Roman" panose="02020603050405020304" pitchFamily="18" charset="0"/>
                <a:ea typeface="Calibri" panose="020F0502020204030204" pitchFamily="34" charset="0"/>
                <a:cs typeface="Times New Roman" panose="02020603050405020304" pitchFamily="18" charset="0"/>
              </a:rPr>
              <a:t>'Euler'</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euler_solver.displayResults</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8000"/>
                </a:solidFill>
                <a:effectLst/>
                <a:latin typeface="Times New Roman" panose="02020603050405020304" pitchFamily="18" charset="0"/>
                <a:ea typeface="Calibri" panose="020F0502020204030204" pitchFamily="34" charset="0"/>
                <a:cs typeface="Times New Roman" panose="02020603050405020304" pitchFamily="18" charset="0"/>
              </a:rPr>
              <a:t>% 4. Runge-</a:t>
            </a:r>
            <a:r>
              <a:rPr lang="en-US" sz="1800" dirty="0" err="1">
                <a:solidFill>
                  <a:srgbClr val="008000"/>
                </a:solidFill>
                <a:effectLst/>
                <a:latin typeface="Times New Roman" panose="02020603050405020304" pitchFamily="18" charset="0"/>
                <a:ea typeface="Calibri" panose="020F0502020204030204" pitchFamily="34" charset="0"/>
                <a:cs typeface="Times New Roman" panose="02020603050405020304" pitchFamily="18" charset="0"/>
              </a:rPr>
              <a:t>Kutta</a:t>
            </a:r>
            <a:r>
              <a:rPr lang="en-US" sz="1800" dirty="0">
                <a:solidFill>
                  <a:srgbClr val="008000"/>
                </a:solidFill>
                <a:effectLst/>
                <a:latin typeface="Times New Roman" panose="02020603050405020304" pitchFamily="18" charset="0"/>
                <a:ea typeface="Calibri" panose="020F0502020204030204" pitchFamily="34" charset="0"/>
                <a:cs typeface="Times New Roman" panose="02020603050405020304" pitchFamily="18" charset="0"/>
              </a:rPr>
              <a:t> 4 Test</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rk4_solver =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IntergrationProblem</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(@(t,y)0, 100);</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rk4_solver.solve(</a:t>
            </a:r>
            <a:r>
              <a:rPr lang="en-US" sz="1800" dirty="0">
                <a:solidFill>
                  <a:srgbClr val="8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solidFill>
                  <a:srgbClr val="800000"/>
                </a:solidFill>
                <a:effectLst/>
                <a:latin typeface="Times New Roman" panose="02020603050405020304" pitchFamily="18" charset="0"/>
                <a:ea typeface="Calibri" panose="020F0502020204030204" pitchFamily="34" charset="0"/>
                <a:cs typeface="Times New Roman" panose="02020603050405020304" pitchFamily="18" charset="0"/>
              </a:rPr>
              <a:t>RungeKutta</a:t>
            </a:r>
            <a:r>
              <a:rPr lang="en-US" sz="1800" dirty="0">
                <a:solidFill>
                  <a:srgbClr val="8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rk4_solver.displayResults();</a:t>
            </a:r>
            <a:b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rgbClr val="008000"/>
                </a:solidFill>
                <a:effectLst/>
                <a:latin typeface="Times New Roman" panose="02020603050405020304" pitchFamily="18" charset="0"/>
                <a:ea typeface="Calibri" panose="020F0502020204030204" pitchFamily="34" charset="0"/>
                <a:cs typeface="Times New Roman" panose="02020603050405020304" pitchFamily="18" charset="0"/>
              </a:rPr>
              <a:t>% Final Population (t=50) should be very close to the carrying capacity K=1000.</a:t>
            </a:r>
            <a:endParaRPr lang="en-US" sz="1800" dirty="0">
              <a:effectLst/>
              <a:latin typeface="Lucida Console" panose="020B0609040504020204" pitchFamily="49"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66709261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9EA97B1-5990-D4D7-FF1E-8B32E00424AE}"/>
              </a:ext>
            </a:extLst>
          </p:cNvPr>
          <p:cNvSpPr/>
          <p:nvPr/>
        </p:nvSpPr>
        <p:spPr>
          <a:xfrm>
            <a:off x="345234" y="233265"/>
            <a:ext cx="4450702" cy="654075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957248F7-032C-0B4D-5C55-EE852EFDEBC6}"/>
              </a:ext>
            </a:extLst>
          </p:cNvPr>
          <p:cNvSpPr/>
          <p:nvPr/>
        </p:nvSpPr>
        <p:spPr>
          <a:xfrm>
            <a:off x="5010539" y="298579"/>
            <a:ext cx="4450702" cy="654075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10293F58-7894-2FF2-90FE-4E54D4806B66}"/>
              </a:ext>
            </a:extLst>
          </p:cNvPr>
          <p:cNvSpPr txBox="1"/>
          <p:nvPr/>
        </p:nvSpPr>
        <p:spPr>
          <a:xfrm>
            <a:off x="681134" y="1166841"/>
            <a:ext cx="3956180" cy="4524315"/>
          </a:xfrm>
          <a:prstGeom prst="rect">
            <a:avLst/>
          </a:prstGeom>
          <a:noFill/>
        </p:spPr>
        <p:txBody>
          <a:bodyPr wrap="square" rtlCol="0">
            <a:spAutoFit/>
          </a:bodyPr>
          <a:lstStyle/>
          <a:p>
            <a:r>
              <a:rPr lang="en-US" sz="1800" dirty="0">
                <a:solidFill>
                  <a:srgbClr val="1B1C1D"/>
                </a:solidFill>
                <a:effectLst/>
                <a:latin typeface="Times New Roman" panose="02020603050405020304" pitchFamily="18" charset="0"/>
                <a:ea typeface="Google Sans Text"/>
              </a:rPr>
              <a:t> Root-Finder (NRM) Results:</a:t>
            </a:r>
            <a:br>
              <a:rPr lang="en-US" sz="1800" dirty="0">
                <a:solidFill>
                  <a:srgbClr val="1B1C1D"/>
                </a:solidFill>
                <a:effectLst/>
                <a:latin typeface="Times New Roman" panose="02020603050405020304" pitchFamily="18" charset="0"/>
                <a:ea typeface="Google Sans Text"/>
              </a:rPr>
            </a:br>
            <a:r>
              <a:rPr lang="en-US" sz="1800" dirty="0">
                <a:solidFill>
                  <a:srgbClr val="1B1C1D"/>
                </a:solidFill>
                <a:effectLst/>
                <a:latin typeface="Times New Roman" panose="02020603050405020304" pitchFamily="18" charset="0"/>
                <a:ea typeface="Google Sans Text"/>
              </a:rPr>
              <a:t>  Initial Guess(es): [0.03]</a:t>
            </a:r>
            <a:br>
              <a:rPr lang="en-US" sz="1800" dirty="0">
                <a:solidFill>
                  <a:srgbClr val="1B1C1D"/>
                </a:solidFill>
                <a:effectLst/>
                <a:latin typeface="Times New Roman" panose="02020603050405020304" pitchFamily="18" charset="0"/>
                <a:ea typeface="Google Sans Text"/>
              </a:rPr>
            </a:br>
            <a:r>
              <a:rPr lang="en-US" sz="1800" dirty="0">
                <a:solidFill>
                  <a:srgbClr val="1B1C1D"/>
                </a:solidFill>
                <a:effectLst/>
                <a:latin typeface="Times New Roman" panose="02020603050405020304" pitchFamily="18" charset="0"/>
                <a:ea typeface="Google Sans Text"/>
              </a:rPr>
              <a:t>  Calculated Root (r): **0.034366**</a:t>
            </a:r>
            <a:br>
              <a:rPr lang="en-US" sz="1800" dirty="0">
                <a:solidFill>
                  <a:srgbClr val="1B1C1D"/>
                </a:solidFill>
                <a:effectLst/>
                <a:latin typeface="Times New Roman" panose="02020603050405020304" pitchFamily="18" charset="0"/>
                <a:ea typeface="Google Sans Text"/>
              </a:rPr>
            </a:br>
            <a:r>
              <a:rPr lang="en-US" sz="1800" dirty="0">
                <a:solidFill>
                  <a:srgbClr val="1B1C1D"/>
                </a:solidFill>
                <a:effectLst/>
                <a:latin typeface="Times New Roman" panose="02020603050405020304" pitchFamily="18" charset="0"/>
                <a:ea typeface="Google Sans Text"/>
              </a:rPr>
              <a:t>  Function Value at Root: **4.019588e-06**</a:t>
            </a:r>
            <a:br>
              <a:rPr lang="en-US" sz="1800" dirty="0">
                <a:solidFill>
                  <a:srgbClr val="1B1C1D"/>
                </a:solidFill>
                <a:effectLst/>
                <a:latin typeface="Times New Roman" panose="02020603050405020304" pitchFamily="18" charset="0"/>
                <a:ea typeface="Google Sans Text"/>
              </a:rPr>
            </a:br>
            <a:r>
              <a:rPr lang="en-US" sz="1800" dirty="0">
                <a:solidFill>
                  <a:srgbClr val="1B1C1D"/>
                </a:solidFill>
                <a:effectLst/>
                <a:latin typeface="Times New Roman" panose="02020603050405020304" pitchFamily="18" charset="0"/>
                <a:ea typeface="Google Sans Text"/>
              </a:rPr>
              <a:t>-------------------------------------------------</a:t>
            </a:r>
            <a:br>
              <a:rPr lang="en-US" sz="1800" dirty="0">
                <a:solidFill>
                  <a:srgbClr val="1B1C1D"/>
                </a:solidFill>
                <a:effectLst/>
                <a:latin typeface="Times New Roman" panose="02020603050405020304" pitchFamily="18" charset="0"/>
                <a:ea typeface="Google Sans Text"/>
              </a:rPr>
            </a:br>
            <a:br>
              <a:rPr lang="en-US" sz="1800" dirty="0">
                <a:solidFill>
                  <a:srgbClr val="1B1C1D"/>
                </a:solidFill>
                <a:effectLst/>
                <a:latin typeface="Times New Roman" panose="02020603050405020304" pitchFamily="18" charset="0"/>
                <a:ea typeface="Google Sans Text"/>
              </a:rPr>
            </a:br>
            <a:r>
              <a:rPr lang="en-US" sz="1800" dirty="0">
                <a:solidFill>
                  <a:srgbClr val="1B1C1D"/>
                </a:solidFill>
                <a:effectLst/>
                <a:latin typeface="Times New Roman" panose="02020603050405020304" pitchFamily="18" charset="0"/>
                <a:ea typeface="Google Sans Text"/>
              </a:rPr>
              <a:t> Root-Finder (SECANT) Results:</a:t>
            </a:r>
            <a:br>
              <a:rPr lang="en-US" sz="1800" dirty="0">
                <a:solidFill>
                  <a:srgbClr val="1B1C1D"/>
                </a:solidFill>
                <a:effectLst/>
                <a:latin typeface="Times New Roman" panose="02020603050405020304" pitchFamily="18" charset="0"/>
                <a:ea typeface="Google Sans Text"/>
              </a:rPr>
            </a:br>
            <a:r>
              <a:rPr lang="en-US" sz="1800" dirty="0">
                <a:solidFill>
                  <a:srgbClr val="1B1C1D"/>
                </a:solidFill>
                <a:effectLst/>
                <a:latin typeface="Times New Roman" panose="02020603050405020304" pitchFamily="18" charset="0"/>
                <a:ea typeface="Google Sans Text"/>
              </a:rPr>
              <a:t>  Initial Guess(es): [0.03        0.04]</a:t>
            </a:r>
            <a:br>
              <a:rPr lang="en-US" sz="1800" dirty="0">
                <a:solidFill>
                  <a:srgbClr val="1B1C1D"/>
                </a:solidFill>
                <a:effectLst/>
                <a:latin typeface="Times New Roman" panose="02020603050405020304" pitchFamily="18" charset="0"/>
                <a:ea typeface="Google Sans Text"/>
              </a:rPr>
            </a:br>
            <a:r>
              <a:rPr lang="en-US" sz="1800" dirty="0">
                <a:solidFill>
                  <a:srgbClr val="1B1C1D"/>
                </a:solidFill>
                <a:effectLst/>
                <a:latin typeface="Times New Roman" panose="02020603050405020304" pitchFamily="18" charset="0"/>
                <a:ea typeface="Google Sans Text"/>
              </a:rPr>
              <a:t>  Calculated Root (r): **0.034366**</a:t>
            </a:r>
            <a:br>
              <a:rPr lang="en-US" sz="1800" dirty="0">
                <a:solidFill>
                  <a:srgbClr val="1B1C1D"/>
                </a:solidFill>
                <a:effectLst/>
                <a:latin typeface="Times New Roman" panose="02020603050405020304" pitchFamily="18" charset="0"/>
                <a:ea typeface="Google Sans Text"/>
              </a:rPr>
            </a:br>
            <a:r>
              <a:rPr lang="en-US" sz="1800" dirty="0">
                <a:solidFill>
                  <a:srgbClr val="1B1C1D"/>
                </a:solidFill>
                <a:effectLst/>
                <a:latin typeface="Times New Roman" panose="02020603050405020304" pitchFamily="18" charset="0"/>
                <a:ea typeface="Google Sans Text"/>
              </a:rPr>
              <a:t>  Function Value at Root: **-9.581447e-06**</a:t>
            </a:r>
            <a:br>
              <a:rPr lang="en-US" sz="1800" dirty="0">
                <a:solidFill>
                  <a:srgbClr val="1B1C1D"/>
                </a:solidFill>
                <a:effectLst/>
                <a:latin typeface="Times New Roman" panose="02020603050405020304" pitchFamily="18" charset="0"/>
                <a:ea typeface="Google Sans Text"/>
              </a:rPr>
            </a:br>
            <a:r>
              <a:rPr lang="en-US" sz="1800" dirty="0">
                <a:solidFill>
                  <a:srgbClr val="1B1C1D"/>
                </a:solidFill>
                <a:effectLst/>
                <a:latin typeface="Times New Roman" panose="02020603050405020304" pitchFamily="18" charset="0"/>
                <a:ea typeface="Google Sans Text"/>
              </a:rPr>
              <a:t>-------------------------------------------------</a:t>
            </a:r>
            <a:br>
              <a:rPr lang="en-US" sz="1800" dirty="0">
                <a:solidFill>
                  <a:srgbClr val="1B1C1D"/>
                </a:solidFill>
                <a:effectLst/>
                <a:latin typeface="Times New Roman" panose="02020603050405020304" pitchFamily="18" charset="0"/>
                <a:ea typeface="Google Sans Text"/>
              </a:rPr>
            </a:br>
            <a:br>
              <a:rPr lang="en-US" sz="1800" dirty="0">
                <a:solidFill>
                  <a:srgbClr val="1B1C1D"/>
                </a:solidFill>
                <a:effectLst/>
                <a:latin typeface="Times New Roman" panose="02020603050405020304" pitchFamily="18" charset="0"/>
                <a:ea typeface="Google Sans Text"/>
              </a:rPr>
            </a:br>
            <a:r>
              <a:rPr lang="en-US" sz="1800" dirty="0">
                <a:solidFill>
                  <a:srgbClr val="1B1C1D"/>
                </a:solidFill>
                <a:effectLst/>
                <a:latin typeface="Times New Roman" panose="02020603050405020304" pitchFamily="18" charset="0"/>
                <a:ea typeface="Google Sans Text"/>
              </a:rPr>
              <a:t> </a:t>
            </a:r>
            <a:r>
              <a:rPr lang="en-US" sz="1800" dirty="0" err="1">
                <a:solidFill>
                  <a:srgbClr val="1B1C1D"/>
                </a:solidFill>
                <a:effectLst/>
                <a:latin typeface="Times New Roman" panose="02020603050405020304" pitchFamily="18" charset="0"/>
                <a:ea typeface="Google Sans Text"/>
              </a:rPr>
              <a:t>Intergral</a:t>
            </a:r>
            <a:r>
              <a:rPr lang="en-US" sz="1800" dirty="0">
                <a:solidFill>
                  <a:srgbClr val="1B1C1D"/>
                </a:solidFill>
                <a:effectLst/>
                <a:latin typeface="Times New Roman" panose="02020603050405020304" pitchFamily="18" charset="0"/>
                <a:ea typeface="Google Sans Text"/>
              </a:rPr>
              <a:t> Solver (EULER) Results:</a:t>
            </a:r>
            <a:br>
              <a:rPr lang="en-US" sz="1800" dirty="0">
                <a:solidFill>
                  <a:srgbClr val="1B1C1D"/>
                </a:solidFill>
                <a:effectLst/>
                <a:latin typeface="Times New Roman" panose="02020603050405020304" pitchFamily="18" charset="0"/>
                <a:ea typeface="Google Sans Text"/>
              </a:rPr>
            </a:br>
            <a:endParaRPr lang="en-US" dirty="0"/>
          </a:p>
        </p:txBody>
      </p:sp>
      <p:sp>
        <p:nvSpPr>
          <p:cNvPr id="5" name="TextBox 4">
            <a:extLst>
              <a:ext uri="{FF2B5EF4-FFF2-40B4-BE49-F238E27FC236}">
                <a16:creationId xmlns:a16="http://schemas.microsoft.com/office/drawing/2014/main" id="{DB95A2BC-DF4A-C15C-C51B-E3E47BA4FD66}"/>
              </a:ext>
            </a:extLst>
          </p:cNvPr>
          <p:cNvSpPr txBox="1"/>
          <p:nvPr/>
        </p:nvSpPr>
        <p:spPr>
          <a:xfrm>
            <a:off x="5551714" y="864714"/>
            <a:ext cx="3909527" cy="5909310"/>
          </a:xfrm>
          <a:prstGeom prst="rect">
            <a:avLst/>
          </a:prstGeom>
          <a:noFill/>
        </p:spPr>
        <p:txBody>
          <a:bodyPr wrap="square" rtlCol="0">
            <a:spAutoFit/>
          </a:bodyPr>
          <a:lstStyle/>
          <a:p>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Initial Population (P0): 100</a:t>
            </a:r>
            <a:br>
              <a:rPr lang="en-US" sz="1800" dirty="0">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Parameters: r=0.1, K=1000, Timespan=[0, 50]</a:t>
            </a:r>
            <a:br>
              <a:rPr lang="en-US" sz="1800" dirty="0">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Population (t=0): 100.00</a:t>
            </a:r>
            <a:br>
              <a:rPr lang="en-US" sz="1800" dirty="0">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Population (t=24.95): 572.67</a:t>
            </a:r>
            <a:br>
              <a:rPr lang="en-US" sz="1800" dirty="0">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Population (t=50.00): **942.96** (Final)</a:t>
            </a:r>
            <a:br>
              <a:rPr lang="en-US" sz="1800" dirty="0">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br>
              <a:rPr lang="en-US" sz="1800" dirty="0">
                <a:effectLst/>
                <a:latin typeface="Times New Roman" panose="02020603050405020304" pitchFamily="18" charset="0"/>
                <a:ea typeface="Calibri" panose="020F0502020204030204" pitchFamily="34" charset="0"/>
                <a:cs typeface="Times New Roman" panose="02020603050405020304" pitchFamily="18" charset="0"/>
              </a:rPr>
            </a:br>
            <a:br>
              <a:rPr lang="en-US" sz="1800" dirty="0">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Intergral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Solver (RUNGEKUTTA) Results:</a:t>
            </a:r>
            <a:br>
              <a:rPr lang="en-US" sz="1800" dirty="0">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Initial Population (P0): 100</a:t>
            </a:r>
            <a:br>
              <a:rPr lang="en-US" sz="1800" dirty="0">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Parameters: r=0.1, K=1000, Timespan=[0, 50]</a:t>
            </a:r>
            <a:br>
              <a:rPr lang="en-US" sz="1800" dirty="0">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Population (t=0): 100.00</a:t>
            </a:r>
            <a:br>
              <a:rPr lang="en-US" sz="1800" dirty="0">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Population (t=24.95): 573.90</a:t>
            </a:r>
            <a:br>
              <a:rPr lang="en-US" sz="1800" dirty="0">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Population (t=50.00): **942.83** (Final)</a:t>
            </a:r>
            <a:br>
              <a:rPr lang="en-US" sz="1800" dirty="0">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dirty="0"/>
          </a:p>
        </p:txBody>
      </p:sp>
    </p:spTree>
    <p:extLst>
      <p:ext uri="{BB962C8B-B14F-4D97-AF65-F5344CB8AC3E}">
        <p14:creationId xmlns:p14="http://schemas.microsoft.com/office/powerpoint/2010/main" val="359816485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CC317-83AC-0E4D-5968-E2980DF7BAE1}"/>
              </a:ext>
            </a:extLst>
          </p:cNvPr>
          <p:cNvSpPr>
            <a:spLocks noGrp="1"/>
          </p:cNvSpPr>
          <p:nvPr>
            <p:ph type="title"/>
          </p:nvPr>
        </p:nvSpPr>
        <p:spPr/>
        <p:txBody>
          <a:bodyPr/>
          <a:lstStyle/>
          <a:p>
            <a:r>
              <a:rPr lang="en-US" dirty="0"/>
              <a:t>CONCLUSION AND LEARNING EXPERIENCE</a:t>
            </a:r>
          </a:p>
        </p:txBody>
      </p:sp>
      <p:sp>
        <p:nvSpPr>
          <p:cNvPr id="3" name="Content Placeholder 2">
            <a:extLst>
              <a:ext uri="{FF2B5EF4-FFF2-40B4-BE49-F238E27FC236}">
                <a16:creationId xmlns:a16="http://schemas.microsoft.com/office/drawing/2014/main" id="{C9A29EA2-0BBF-E368-3B64-8517467802F9}"/>
              </a:ext>
            </a:extLst>
          </p:cNvPr>
          <p:cNvSpPr>
            <a:spLocks noGrp="1"/>
          </p:cNvSpPr>
          <p:nvPr>
            <p:ph idx="1"/>
          </p:nvPr>
        </p:nvSpPr>
        <p:spPr>
          <a:xfrm>
            <a:off x="677334" y="1371601"/>
            <a:ext cx="8596668" cy="4669762"/>
          </a:xfrm>
        </p:spPr>
        <p:txBody>
          <a:bodyPr>
            <a:normAutofit/>
          </a:bodyPr>
          <a:lstStyle/>
          <a:p>
            <a:pPr marR="0">
              <a:lnSpc>
                <a:spcPct val="114000"/>
              </a:lnSpc>
              <a:spcBef>
                <a:spcPts val="200"/>
              </a:spcBef>
              <a:spcAft>
                <a:spcPts val="0"/>
              </a:spcAft>
              <a:buFont typeface="+mj-lt"/>
              <a:buAutoNum type="alphaLcParenR"/>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Learning Experience</a:t>
            </a:r>
          </a:p>
          <a:p>
            <a:pPr marL="0" marR="0" indent="0">
              <a:lnSpc>
                <a:spcPct val="150000"/>
              </a:lnSpc>
              <a:spcBef>
                <a:spcPts val="0"/>
              </a:spcBef>
              <a:spcAft>
                <a:spcPts val="1200"/>
              </a:spcAft>
              <a:buNone/>
              <a:tabLst>
                <a:tab pos="1295400" algn="l"/>
              </a:tabLst>
            </a:pPr>
            <a:r>
              <a:rPr lang="en-US" sz="1800" dirty="0">
                <a:solidFill>
                  <a:srgbClr val="1B1C1D"/>
                </a:solidFill>
                <a:effectLst/>
                <a:latin typeface="Times New Roman" panose="02020603050405020304" pitchFamily="18" charset="0"/>
                <a:ea typeface="Google Sans Text"/>
              </a:rPr>
              <a:t>This assignment has helped us to acquire knowledge and experience that helped us understand MATLAB programming concepts and gave us experience with the foundations we had acquired from Modules 5.1. </a:t>
            </a:r>
          </a:p>
          <a:p>
            <a:pPr>
              <a:lnSpc>
                <a:spcPct val="150000"/>
              </a:lnSpc>
              <a:spcBef>
                <a:spcPts val="0"/>
              </a:spcBef>
              <a:spcAft>
                <a:spcPts val="1200"/>
              </a:spcAft>
              <a:tabLst>
                <a:tab pos="12954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Conclusion</a:t>
            </a:r>
          </a:p>
          <a:p>
            <a:pPr marL="0" marR="0" indent="0">
              <a:lnSpc>
                <a:spcPct val="150000"/>
              </a:lnSpc>
              <a:buNone/>
            </a:pPr>
            <a:r>
              <a:rPr lang="en-US" sz="1800" dirty="0">
                <a:effectLst/>
                <a:latin typeface="Times New Roman" panose="02020603050405020304" pitchFamily="18" charset="0"/>
                <a:ea typeface="Times New Roman" panose="02020603050405020304" pitchFamily="18" charset="0"/>
              </a:rPr>
              <a:t>OOP transforms complex systems into </a:t>
            </a:r>
            <a:r>
              <a:rPr lang="en-US" sz="1800" b="1" dirty="0">
                <a:effectLst/>
                <a:latin typeface="Times New Roman" panose="02020603050405020304" pitchFamily="18" charset="0"/>
                <a:ea typeface="Times New Roman" panose="02020603050405020304" pitchFamily="18" charset="0"/>
              </a:rPr>
              <a:t>manageable, reusable, and scalable</a:t>
            </a:r>
            <a:r>
              <a:rPr lang="en-US" sz="1800" dirty="0">
                <a:effectLst/>
                <a:latin typeface="Times New Roman" panose="02020603050405020304" pitchFamily="18" charset="0"/>
                <a:ea typeface="Times New Roman" panose="02020603050405020304" pitchFamily="18" charset="0"/>
              </a:rPr>
              <a:t> modules. While not perfect for every task, its principles—especially when paired with SOLID and design patterns—</a:t>
            </a:r>
            <a:r>
              <a:rPr lang="en-US" sz="1800" b="1" dirty="0">
                <a:effectLst/>
                <a:latin typeface="Times New Roman" panose="02020603050405020304" pitchFamily="18" charset="0"/>
                <a:ea typeface="Times New Roman" panose="02020603050405020304" pitchFamily="18" charset="0"/>
              </a:rPr>
              <a:t>fulfill the core goals of modern software engineering</a:t>
            </a:r>
            <a:r>
              <a:rPr lang="en-US" sz="1800" dirty="0">
                <a:effectLst/>
                <a:latin typeface="Times New Roman" panose="02020603050405020304" pitchFamily="18" charset="0"/>
                <a:ea typeface="Times New Roman" panose="02020603050405020304" pitchFamily="18" charset="0"/>
              </a:rPr>
              <a:t>: clarity, flexibility, and long-term maintainability.</a:t>
            </a:r>
          </a:p>
          <a:p>
            <a:endParaRPr lang="en-US" dirty="0"/>
          </a:p>
        </p:txBody>
      </p:sp>
    </p:spTree>
    <p:extLst>
      <p:ext uri="{BB962C8B-B14F-4D97-AF65-F5344CB8AC3E}">
        <p14:creationId xmlns:p14="http://schemas.microsoft.com/office/powerpoint/2010/main" val="271989214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8DEEF7-CD7C-899E-3B9C-0AD6FC872FC8}"/>
              </a:ext>
            </a:extLst>
          </p:cNvPr>
          <p:cNvSpPr txBox="1"/>
          <p:nvPr/>
        </p:nvSpPr>
        <p:spPr>
          <a:xfrm>
            <a:off x="382555" y="690446"/>
            <a:ext cx="8770775" cy="5209439"/>
          </a:xfrm>
          <a:prstGeom prst="rect">
            <a:avLst/>
          </a:prstGeom>
          <a:noFill/>
        </p:spPr>
        <p:txBody>
          <a:bodyPr wrap="square">
            <a:spAutoFit/>
          </a:bodyPr>
          <a:lstStyle/>
          <a:p>
            <a:pPr marL="0" marR="0">
              <a:lnSpc>
                <a:spcPct val="114000"/>
              </a:lnSpc>
              <a:spcBef>
                <a:spcPts val="200"/>
              </a:spcBef>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References and Resources </a:t>
            </a:r>
          </a:p>
          <a:p>
            <a:pPr marL="342900" marR="0" lvl="0" indent="-342900">
              <a:lnSpc>
                <a:spcPct val="150000"/>
              </a:lnSpc>
              <a:spcBef>
                <a:spcPts val="0"/>
              </a:spcBef>
              <a:spcAft>
                <a:spcPts val="1200"/>
              </a:spcAft>
              <a:buFont typeface="Symbol" panose="05050102010706020507" pitchFamily="18" charset="2"/>
              <a:buChar char=""/>
              <a:tabLst>
                <a:tab pos="1295400" algn="l"/>
              </a:tabLst>
            </a:pPr>
            <a:r>
              <a:rPr lang="en-US" sz="1800" dirty="0">
                <a:solidFill>
                  <a:srgbClr val="1B1C1D"/>
                </a:solidFill>
                <a:effectLst/>
                <a:latin typeface="Times New Roman" panose="02020603050405020304" pitchFamily="18" charset="0"/>
                <a:ea typeface="Google Sans Text"/>
              </a:rPr>
              <a:t>MATLAB Documentation - Used for syntax and function guidance on legend (), </a:t>
            </a:r>
            <a:r>
              <a:rPr lang="en-US" sz="1800" dirty="0" err="1">
                <a:solidFill>
                  <a:srgbClr val="1B1C1D"/>
                </a:solidFill>
                <a:effectLst/>
                <a:latin typeface="Times New Roman" panose="02020603050405020304" pitchFamily="18" charset="0"/>
                <a:ea typeface="Google Sans Text"/>
              </a:rPr>
              <a:t>fprintf</a:t>
            </a:r>
            <a:r>
              <a:rPr lang="en-US" sz="1800" dirty="0">
                <a:solidFill>
                  <a:srgbClr val="1B1C1D"/>
                </a:solidFill>
                <a:effectLst/>
                <a:latin typeface="Times New Roman" panose="02020603050405020304" pitchFamily="18" charset="0"/>
                <a:ea typeface="Google Sans Text"/>
              </a:rPr>
              <a:t> ().</a:t>
            </a:r>
          </a:p>
          <a:p>
            <a:pPr marL="342900" marR="0" lvl="0" indent="-342900">
              <a:lnSpc>
                <a:spcPct val="150000"/>
              </a:lnSpc>
              <a:spcBef>
                <a:spcPts val="0"/>
              </a:spcBef>
              <a:spcAft>
                <a:spcPts val="1200"/>
              </a:spcAft>
              <a:buFont typeface="Symbol" panose="05050102010706020507" pitchFamily="18" charset="2"/>
              <a:buChar char=""/>
              <a:tabLst>
                <a:tab pos="1295400" algn="l"/>
              </a:tabLst>
            </a:pPr>
            <a:r>
              <a:rPr lang="en-US" sz="1800" dirty="0">
                <a:solidFill>
                  <a:srgbClr val="1B1C1D"/>
                </a:solidFill>
                <a:effectLst/>
                <a:latin typeface="Times New Roman" panose="02020603050405020304" pitchFamily="18" charset="0"/>
                <a:ea typeface="Google Sans Text"/>
              </a:rPr>
              <a:t> Computer programming lecture notes. </a:t>
            </a:r>
          </a:p>
          <a:p>
            <a:pPr marL="342900" marR="0" lvl="0" indent="-342900">
              <a:lnSpc>
                <a:spcPct val="150000"/>
              </a:lnSpc>
              <a:spcBef>
                <a:spcPts val="0"/>
              </a:spcBef>
              <a:spcAft>
                <a:spcPts val="1200"/>
              </a:spcAft>
              <a:buFont typeface="Symbol" panose="05050102010706020507" pitchFamily="18" charset="2"/>
              <a:buChar char=""/>
            </a:pPr>
            <a:r>
              <a:rPr lang="en-US" sz="1800" dirty="0">
                <a:solidFill>
                  <a:srgbClr val="1B1C1D"/>
                </a:solidFill>
                <a:effectLst/>
                <a:latin typeface="Times New Roman" panose="02020603050405020304" pitchFamily="18" charset="0"/>
                <a:ea typeface="Google Sans Text"/>
              </a:rPr>
              <a:t>Gamma, E., et al. </a:t>
            </a:r>
            <a:r>
              <a:rPr lang="en-US" sz="1800" i="1" dirty="0">
                <a:solidFill>
                  <a:srgbClr val="1B1C1D"/>
                </a:solidFill>
                <a:effectLst/>
                <a:latin typeface="Times New Roman" panose="02020603050405020304" pitchFamily="18" charset="0"/>
                <a:ea typeface="Google Sans Text"/>
              </a:rPr>
              <a:t>Design Patterns: Elements of Reusable OOP Software</a:t>
            </a:r>
            <a:r>
              <a:rPr lang="en-US" sz="1800" dirty="0">
                <a:solidFill>
                  <a:srgbClr val="1B1C1D"/>
                </a:solidFill>
                <a:effectLst/>
                <a:latin typeface="Times New Roman" panose="02020603050405020304" pitchFamily="18" charset="0"/>
                <a:ea typeface="Google Sans Text"/>
              </a:rPr>
              <a:t>. Addison-Wesley, 1994.</a:t>
            </a:r>
          </a:p>
          <a:p>
            <a:pPr marL="342900" marR="0" lvl="0" indent="-342900">
              <a:lnSpc>
                <a:spcPct val="150000"/>
              </a:lnSpc>
              <a:spcBef>
                <a:spcPts val="0"/>
              </a:spcBef>
              <a:spcAft>
                <a:spcPts val="1200"/>
              </a:spcAft>
              <a:buFont typeface="Symbol" panose="05050102010706020507" pitchFamily="18" charset="2"/>
              <a:buChar char=""/>
            </a:pPr>
            <a:r>
              <a:rPr lang="en-US" sz="1800" dirty="0">
                <a:solidFill>
                  <a:srgbClr val="1B1C1D"/>
                </a:solidFill>
                <a:effectLst/>
                <a:latin typeface="Times New Roman" panose="02020603050405020304" pitchFamily="18" charset="0"/>
                <a:ea typeface="Google Sans Text"/>
              </a:rPr>
              <a:t>Fowler, M. </a:t>
            </a:r>
            <a:r>
              <a:rPr lang="en-US" sz="1800" i="1" dirty="0">
                <a:solidFill>
                  <a:srgbClr val="1B1C1D"/>
                </a:solidFill>
                <a:effectLst/>
                <a:latin typeface="Times New Roman" panose="02020603050405020304" pitchFamily="18" charset="0"/>
                <a:ea typeface="Google Sans Text"/>
              </a:rPr>
              <a:t>UML Distilled</a:t>
            </a:r>
            <a:r>
              <a:rPr lang="en-US" sz="1800" dirty="0">
                <a:solidFill>
                  <a:srgbClr val="1B1C1D"/>
                </a:solidFill>
                <a:effectLst/>
                <a:latin typeface="Times New Roman" panose="02020603050405020304" pitchFamily="18" charset="0"/>
                <a:ea typeface="Google Sans Text"/>
              </a:rPr>
              <a:t>. 3rd Ed.</a:t>
            </a:r>
          </a:p>
          <a:p>
            <a:pPr marL="342900" marR="0" lvl="0" indent="-342900">
              <a:lnSpc>
                <a:spcPct val="150000"/>
              </a:lnSpc>
              <a:spcBef>
                <a:spcPts val="0"/>
              </a:spcBef>
              <a:spcAft>
                <a:spcPts val="1200"/>
              </a:spcAft>
              <a:buFont typeface="Symbol" panose="05050102010706020507" pitchFamily="18" charset="2"/>
              <a:buChar char=""/>
            </a:pPr>
            <a:r>
              <a:rPr lang="en-US" sz="1800" dirty="0">
                <a:solidFill>
                  <a:srgbClr val="1B1C1D"/>
                </a:solidFill>
                <a:effectLst/>
                <a:latin typeface="Times New Roman" panose="02020603050405020304" pitchFamily="18" charset="0"/>
                <a:ea typeface="Google Sans Text"/>
              </a:rPr>
              <a:t>Oracle Java Documentation – </a:t>
            </a:r>
            <a:r>
              <a:rPr lang="en-US" sz="1800" u="sng" dirty="0">
                <a:solidFill>
                  <a:srgbClr val="1B1C1D"/>
                </a:solidFill>
                <a:effectLst/>
                <a:latin typeface="Times New Roman" panose="02020603050405020304" pitchFamily="18" charset="0"/>
                <a:ea typeface="Google Sans Text"/>
                <a:hlinkClick r:id="rId2"/>
              </a:rPr>
              <a:t>docs.oracle.com</a:t>
            </a:r>
            <a:endParaRPr lang="en-US" sz="1800" dirty="0">
              <a:solidFill>
                <a:srgbClr val="1B1C1D"/>
              </a:solidFill>
              <a:effectLst/>
              <a:latin typeface="Times New Roman" panose="02020603050405020304" pitchFamily="18" charset="0"/>
              <a:ea typeface="Google Sans Text"/>
            </a:endParaRPr>
          </a:p>
          <a:p>
            <a:pPr marL="342900" marR="0" lvl="0" indent="-342900">
              <a:lnSpc>
                <a:spcPct val="150000"/>
              </a:lnSpc>
              <a:spcBef>
                <a:spcPts val="0"/>
              </a:spcBef>
              <a:spcAft>
                <a:spcPts val="1200"/>
              </a:spcAft>
              <a:buFont typeface="Symbol" panose="05050102010706020507" pitchFamily="18" charset="2"/>
              <a:buChar char=""/>
            </a:pPr>
            <a:r>
              <a:rPr lang="en-US" sz="1800" dirty="0">
                <a:solidFill>
                  <a:srgbClr val="1B1C1D"/>
                </a:solidFill>
                <a:effectLst/>
                <a:latin typeface="Times New Roman" panose="02020603050405020304" pitchFamily="18" charset="0"/>
                <a:ea typeface="Google Sans Text"/>
              </a:rPr>
              <a:t>Python Official Tutorial – MATLAB.org</a:t>
            </a:r>
          </a:p>
          <a:p>
            <a:r>
              <a:rPr lang="en-US" sz="1800" dirty="0">
                <a:solidFill>
                  <a:srgbClr val="1B1C1D"/>
                </a:solidFill>
                <a:effectLst/>
                <a:latin typeface="Times New Roman" panose="02020603050405020304" pitchFamily="18" charset="0"/>
                <a:ea typeface="Google Sans Text"/>
              </a:rPr>
              <a:t>YouTube videos on Fibonacci sequence, recursive functions, dynamic programming, control structures and object-oriented programming.</a:t>
            </a:r>
            <a:endParaRPr lang="en-US" dirty="0"/>
          </a:p>
        </p:txBody>
      </p:sp>
    </p:spTree>
    <p:extLst>
      <p:ext uri="{BB962C8B-B14F-4D97-AF65-F5344CB8AC3E}">
        <p14:creationId xmlns:p14="http://schemas.microsoft.com/office/powerpoint/2010/main" val="3017160176"/>
      </p:ext>
    </p:ext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116</TotalTime>
  <Words>3218</Words>
  <Application>Microsoft Office PowerPoint</Application>
  <PresentationFormat>Widescreen</PresentationFormat>
  <Paragraphs>107</Paragraphs>
  <Slides>19</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19</vt:i4>
      </vt:variant>
    </vt:vector>
  </HeadingPairs>
  <TitlesOfParts>
    <vt:vector size="33" baseType="lpstr">
      <vt:lpstr>Arial</vt:lpstr>
      <vt:lpstr>Bahnschrift SemiBold SemiConden</vt:lpstr>
      <vt:lpstr>Copperplate Gothic Bold</vt:lpstr>
      <vt:lpstr>Helvetica</vt:lpstr>
      <vt:lpstr>Lucida Console</vt:lpstr>
      <vt:lpstr>Monospac821 BT</vt:lpstr>
      <vt:lpstr>Segoe Script</vt:lpstr>
      <vt:lpstr>Segoe UI</vt:lpstr>
      <vt:lpstr>Segoe UI Semibold</vt:lpstr>
      <vt:lpstr>Symbol</vt:lpstr>
      <vt:lpstr>Times New Roman</vt:lpstr>
      <vt:lpstr>Trebuchet MS</vt:lpstr>
      <vt:lpstr>Wingdings 3</vt:lpstr>
      <vt:lpstr>Facet</vt:lpstr>
      <vt:lpstr>Faculty of Engineering and Technology</vt:lpstr>
      <vt:lpstr>Group 17 Members</vt:lpstr>
      <vt:lpstr>QUESTION 1</vt:lpstr>
      <vt:lpstr>INTRODUCTION</vt:lpstr>
      <vt:lpstr>PowerPoint Presentation</vt:lpstr>
      <vt:lpstr>PowerPoint Presentation</vt:lpstr>
      <vt:lpstr>METHODOLOGY</vt:lpstr>
      <vt:lpstr>Making equivalent code based on implementation of numerical methods</vt:lpstr>
      <vt:lpstr>PowerPoint Presentation</vt:lpstr>
      <vt:lpstr>With the inheritance from the numerical methods the following subclasses are created for solving computational problems   DIFFERENTIAL SOLVER BY INHERITING FROM NUMERICAL SOLVER</vt:lpstr>
      <vt:lpstr>PowerPoint Presentation</vt:lpstr>
      <vt:lpstr>PowerPoint Presentation</vt:lpstr>
      <vt:lpstr>INHERITS FROM NUMERICAL SOLVER AND IMPLEMENTS ODE INTEGRATION METHOD</vt:lpstr>
      <vt:lpstr>PowerPoint Presentation</vt:lpstr>
      <vt:lpstr>PowerPoint Presentation</vt:lpstr>
      <vt:lpstr>TESTS FOR THE FOR THE HIGHLEVEL BACKEND CODES </vt:lpstr>
      <vt:lpstr>PowerPoint Presentation</vt:lpstr>
      <vt:lpstr>CONCLUSION AND LEARNING EXPERIENCE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Posh Ian</dc:creator>
  <cp:lastModifiedBy>Posh Ian</cp:lastModifiedBy>
  <cp:revision>2</cp:revision>
  <dcterms:created xsi:type="dcterms:W3CDTF">2025-10-28T10:44:24Z</dcterms:created>
  <dcterms:modified xsi:type="dcterms:W3CDTF">2025-10-28T12:40:25Z</dcterms:modified>
</cp:coreProperties>
</file>